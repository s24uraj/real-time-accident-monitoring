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7"/>
  </p:notesMasterIdLst>
  <p:sldIdLst>
    <p:sldId id="256" r:id="rId2"/>
    <p:sldId id="257" r:id="rId3"/>
    <p:sldId id="279" r:id="rId4"/>
    <p:sldId id="258" r:id="rId5"/>
    <p:sldId id="264" r:id="rId6"/>
    <p:sldId id="265" r:id="rId7"/>
    <p:sldId id="268" r:id="rId8"/>
    <p:sldId id="269" r:id="rId9"/>
    <p:sldId id="270" r:id="rId10"/>
    <p:sldId id="259" r:id="rId11"/>
    <p:sldId id="303" r:id="rId12"/>
    <p:sldId id="262" r:id="rId13"/>
    <p:sldId id="263" r:id="rId14"/>
    <p:sldId id="271" r:id="rId15"/>
    <p:sldId id="267" r:id="rId16"/>
    <p:sldId id="272" r:id="rId17"/>
    <p:sldId id="273" r:id="rId18"/>
    <p:sldId id="274" r:id="rId19"/>
    <p:sldId id="275" r:id="rId20"/>
    <p:sldId id="276" r:id="rId21"/>
    <p:sldId id="277" r:id="rId22"/>
    <p:sldId id="278" r:id="rId23"/>
    <p:sldId id="280" r:id="rId24"/>
    <p:sldId id="302" r:id="rId25"/>
    <p:sldId id="281" r:id="rId26"/>
    <p:sldId id="282" r:id="rId27"/>
    <p:sldId id="283" r:id="rId28"/>
    <p:sldId id="284" r:id="rId29"/>
    <p:sldId id="285" r:id="rId30"/>
    <p:sldId id="304" r:id="rId31"/>
    <p:sldId id="286" r:id="rId32"/>
    <p:sldId id="306" r:id="rId33"/>
    <p:sldId id="307" r:id="rId34"/>
    <p:sldId id="308" r:id="rId35"/>
    <p:sldId id="309" r:id="rId36"/>
    <p:sldId id="298" r:id="rId37"/>
    <p:sldId id="310" r:id="rId38"/>
    <p:sldId id="311" r:id="rId39"/>
    <p:sldId id="312" r:id="rId40"/>
    <p:sldId id="313" r:id="rId41"/>
    <p:sldId id="314" r:id="rId42"/>
    <p:sldId id="261" r:id="rId43"/>
    <p:sldId id="266" r:id="rId44"/>
    <p:sldId id="305" r:id="rId45"/>
    <p:sldId id="299" r:id="rId46"/>
  </p:sldIdLst>
  <p:sldSz cx="14630400" cy="8229600"/>
  <p:notesSz cx="8229600" cy="14630400"/>
  <p:embeddedFontLst>
    <p:embeddedFont>
      <p:font typeface="Overlock" panose="020B0604020202020204" charset="0"/>
      <p:regular r:id="rId48"/>
      <p:bold r:id="rId49"/>
      <p:italic r:id="rId50"/>
      <p:boldItalic r:id="rId5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9" roundtripDataSignature="AMtx7mjzOB1EBP4pXF/k3el8r9VI5Wedl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54A973-C30C-44A7-9D05-04DAE3180441}" v="6" dt="2026-04-15T05:12:30.48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8" d="100"/>
          <a:sy n="58" d="100"/>
        </p:scale>
        <p:origin x="52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font" Target="fonts/font3.fntdata"/><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1.fntdata"/><Relationship Id="rId64"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font" Target="fonts/font4.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customschemas.google.com/relationships/presentationmetadata" Target="metadata"/><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2.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6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371850" y="1097275"/>
            <a:ext cx="5486650" cy="54864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822950" y="6949425"/>
            <a:ext cx="6583675" cy="6583675"/>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1" name="Google Shape;71;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72" name="Google Shape;72;p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IN" sz="1800">
                <a:solidFill>
                  <a:schemeClr val="dk1"/>
                </a:solidFill>
                <a:latin typeface="Calibri"/>
                <a:ea typeface="Calibri"/>
                <a:cs typeface="Calibri"/>
                <a:sym typeface="Calibri"/>
              </a:rPr>
              <a:t>1</a:t>
            </a:fld>
            <a:endParaRPr sz="18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0" name="Google Shape;80;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81" name="Google Shape;81;p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IN" sz="1800">
                <a:solidFill>
                  <a:schemeClr val="dk1"/>
                </a:solidFill>
                <a:latin typeface="Calibri"/>
                <a:ea typeface="Calibri"/>
                <a:cs typeface="Calibri"/>
                <a:sym typeface="Calibri"/>
              </a:rPr>
              <a:t>2</a:t>
            </a:fld>
            <a:endParaRPr sz="18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3897cc42a62_0_3:notes"/>
          <p:cNvSpPr>
            <a:spLocks noGrp="1" noRot="1" noChangeAspect="1"/>
          </p:cNvSpPr>
          <p:nvPr>
            <p:ph type="sldImg" idx="2"/>
          </p:nvPr>
        </p:nvSpPr>
        <p:spPr>
          <a:xfrm>
            <a:off x="-762000" y="1096963"/>
            <a:ext cx="9753600" cy="54864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3897cc42a62_0_3:notes"/>
          <p:cNvSpPr txBox="1">
            <a:spLocks noGrp="1"/>
          </p:cNvSpPr>
          <p:nvPr>
            <p:ph type="body" idx="1"/>
          </p:nvPr>
        </p:nvSpPr>
        <p:spPr>
          <a:xfrm>
            <a:off x="822950" y="6949425"/>
            <a:ext cx="6583800" cy="6583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3" name="Google Shape;93;p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94" name="Google Shape;94;p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IN" sz="1800">
                <a:solidFill>
                  <a:schemeClr val="dk1"/>
                </a:solidFill>
                <a:latin typeface="Calibri"/>
                <a:ea typeface="Calibri"/>
                <a:cs typeface="Calibri"/>
                <a:sym typeface="Calibri"/>
              </a:rPr>
              <a:t>10</a:t>
            </a:fld>
            <a:endParaRPr sz="1800">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7" name="Google Shape;107;p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08" name="Google Shape;108;p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IN" sz="1800">
                <a:solidFill>
                  <a:schemeClr val="dk1"/>
                </a:solidFill>
                <a:latin typeface="Calibri"/>
                <a:ea typeface="Calibri"/>
                <a:cs typeface="Calibri"/>
                <a:sym typeface="Calibri"/>
              </a:rPr>
              <a:t>42</a:t>
            </a:fld>
            <a:endParaRPr sz="180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lide 1 master">
  <p:cSld name="Slide 1 master">
    <p:spTree>
      <p:nvGrpSpPr>
        <p:cNvPr id="1" name="Shape 8"/>
        <p:cNvGrpSpPr/>
        <p:nvPr/>
      </p:nvGrpSpPr>
      <p:grpSpPr>
        <a:xfrm>
          <a:off x="0" y="0"/>
          <a:ext cx="0" cy="0"/>
          <a:chOff x="0" y="0"/>
          <a:chExt cx="0" cy="0"/>
        </a:xfrm>
      </p:grpSpPr>
      <p:pic>
        <p:nvPicPr>
          <p:cNvPr id="9" name="Google Shape;9;p7" descr="preencoded.png"/>
          <p:cNvPicPr preferRelativeResize="0"/>
          <p:nvPr/>
        </p:nvPicPr>
        <p:blipFill rotWithShape="1">
          <a:blip r:embed="rId2">
            <a:alphaModFix/>
          </a:blip>
          <a:srcRect/>
          <a:stretch/>
        </p:blipFill>
        <p:spPr>
          <a:xfrm>
            <a:off x="0" y="0"/>
            <a:ext cx="14630400" cy="8229600"/>
          </a:xfrm>
          <a:prstGeom prst="rect">
            <a:avLst/>
          </a:prstGeom>
          <a:noFill/>
          <a:ln>
            <a:noFill/>
          </a:ln>
        </p:spPr>
      </p:pic>
      <p:sp>
        <p:nvSpPr>
          <p:cNvPr id="10" name="Google Shape;10;p7"/>
          <p:cNvSpPr/>
          <p:nvPr/>
        </p:nvSpPr>
        <p:spPr>
          <a:xfrm>
            <a:off x="0" y="0"/>
            <a:ext cx="14630400" cy="8229600"/>
          </a:xfrm>
          <a:prstGeom prst="rect">
            <a:avLst/>
          </a:prstGeom>
          <a:solidFill>
            <a:srgbClr val="FAF5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 name="Google Shape;11;p7"/>
          <p:cNvPicPr preferRelativeResize="0"/>
          <p:nvPr/>
        </p:nvPicPr>
        <p:blipFill rotWithShape="1">
          <a:blip r:embed="rId3">
            <a:alphaModFix/>
          </a:blip>
          <a:srcRect/>
          <a:stretch/>
        </p:blipFill>
        <p:spPr>
          <a:xfrm>
            <a:off x="0" y="0"/>
            <a:ext cx="14630399" cy="8229600"/>
          </a:xfrm>
          <a:prstGeom prst="rect">
            <a:avLst/>
          </a:prstGeom>
          <a:noFill/>
          <a:ln>
            <a:noFill/>
          </a:ln>
        </p:spPr>
      </p:pic>
      <p:pic>
        <p:nvPicPr>
          <p:cNvPr id="12" name="Google Shape;12;p7"/>
          <p:cNvPicPr preferRelativeResize="0"/>
          <p:nvPr/>
        </p:nvPicPr>
        <p:blipFill rotWithShape="1">
          <a:blip r:embed="rId4">
            <a:alphaModFix/>
          </a:blip>
          <a:srcRect/>
          <a:stretch/>
        </p:blipFill>
        <p:spPr>
          <a:xfrm>
            <a:off x="-1" y="0"/>
            <a:ext cx="14630400" cy="73342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lide 2 master">
  <p:cSld name="Slide 2 master">
    <p:spTree>
      <p:nvGrpSpPr>
        <p:cNvPr id="1" name="Shape 13"/>
        <p:cNvGrpSpPr/>
        <p:nvPr/>
      </p:nvGrpSpPr>
      <p:grpSpPr>
        <a:xfrm>
          <a:off x="0" y="0"/>
          <a:ext cx="0" cy="0"/>
          <a:chOff x="0" y="0"/>
          <a:chExt cx="0" cy="0"/>
        </a:xfrm>
      </p:grpSpPr>
      <p:pic>
        <p:nvPicPr>
          <p:cNvPr id="14" name="Google Shape;14;p8" descr="preencoded.png"/>
          <p:cNvPicPr preferRelativeResize="0"/>
          <p:nvPr/>
        </p:nvPicPr>
        <p:blipFill rotWithShape="1">
          <a:blip r:embed="rId2">
            <a:alphaModFix/>
          </a:blip>
          <a:srcRect/>
          <a:stretch/>
        </p:blipFill>
        <p:spPr>
          <a:xfrm>
            <a:off x="0" y="0"/>
            <a:ext cx="14630400" cy="8229600"/>
          </a:xfrm>
          <a:prstGeom prst="rect">
            <a:avLst/>
          </a:prstGeom>
          <a:noFill/>
          <a:ln>
            <a:noFill/>
          </a:ln>
        </p:spPr>
      </p:pic>
      <p:sp>
        <p:nvSpPr>
          <p:cNvPr id="15" name="Google Shape;15;p8"/>
          <p:cNvSpPr/>
          <p:nvPr/>
        </p:nvSpPr>
        <p:spPr>
          <a:xfrm>
            <a:off x="0" y="0"/>
            <a:ext cx="14630400" cy="8229600"/>
          </a:xfrm>
          <a:prstGeom prst="rect">
            <a:avLst/>
          </a:prstGeom>
          <a:solidFill>
            <a:srgbClr val="FAF5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6" name="Google Shape;16;p8"/>
          <p:cNvPicPr preferRelativeResize="0"/>
          <p:nvPr/>
        </p:nvPicPr>
        <p:blipFill rotWithShape="1">
          <a:blip r:embed="rId3">
            <a:alphaModFix/>
          </a:blip>
          <a:srcRect/>
          <a:stretch/>
        </p:blipFill>
        <p:spPr>
          <a:xfrm>
            <a:off x="0" y="0"/>
            <a:ext cx="14630399" cy="8229600"/>
          </a:xfrm>
          <a:prstGeom prst="rect">
            <a:avLst/>
          </a:prstGeom>
          <a:noFill/>
          <a:ln>
            <a:noFill/>
          </a:ln>
        </p:spPr>
      </p:pic>
      <p:pic>
        <p:nvPicPr>
          <p:cNvPr id="17" name="Google Shape;17;p8"/>
          <p:cNvPicPr preferRelativeResize="0"/>
          <p:nvPr/>
        </p:nvPicPr>
        <p:blipFill rotWithShape="1">
          <a:blip r:embed="rId4">
            <a:alphaModFix/>
          </a:blip>
          <a:srcRect/>
          <a:stretch/>
        </p:blipFill>
        <p:spPr>
          <a:xfrm>
            <a:off x="-1" y="0"/>
            <a:ext cx="14630400" cy="73152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lide 12 master">
  <p:cSld name="Slide 12 master">
    <p:spTree>
      <p:nvGrpSpPr>
        <p:cNvPr id="1" name="Shape 23"/>
        <p:cNvGrpSpPr/>
        <p:nvPr/>
      </p:nvGrpSpPr>
      <p:grpSpPr>
        <a:xfrm>
          <a:off x="0" y="0"/>
          <a:ext cx="0" cy="0"/>
          <a:chOff x="0" y="0"/>
          <a:chExt cx="0" cy="0"/>
        </a:xfrm>
      </p:grpSpPr>
      <p:pic>
        <p:nvPicPr>
          <p:cNvPr id="24" name="Google Shape;24;p10" descr="preencoded.png"/>
          <p:cNvPicPr preferRelativeResize="0"/>
          <p:nvPr/>
        </p:nvPicPr>
        <p:blipFill rotWithShape="1">
          <a:blip r:embed="rId2">
            <a:alphaModFix/>
          </a:blip>
          <a:srcRect/>
          <a:stretch/>
        </p:blipFill>
        <p:spPr>
          <a:xfrm>
            <a:off x="0" y="0"/>
            <a:ext cx="14630400" cy="8229600"/>
          </a:xfrm>
          <a:prstGeom prst="rect">
            <a:avLst/>
          </a:prstGeom>
          <a:noFill/>
          <a:ln>
            <a:noFill/>
          </a:ln>
        </p:spPr>
      </p:pic>
      <p:sp>
        <p:nvSpPr>
          <p:cNvPr id="25" name="Google Shape;25;p10"/>
          <p:cNvSpPr/>
          <p:nvPr/>
        </p:nvSpPr>
        <p:spPr>
          <a:xfrm>
            <a:off x="0" y="0"/>
            <a:ext cx="14630400" cy="8229600"/>
          </a:xfrm>
          <a:prstGeom prst="rect">
            <a:avLst/>
          </a:prstGeom>
          <a:solidFill>
            <a:srgbClr val="FAF5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6" name="Google Shape;26;p10"/>
          <p:cNvPicPr preferRelativeResize="0"/>
          <p:nvPr/>
        </p:nvPicPr>
        <p:blipFill rotWithShape="1">
          <a:blip r:embed="rId3">
            <a:alphaModFix/>
          </a:blip>
          <a:srcRect/>
          <a:stretch/>
        </p:blipFill>
        <p:spPr>
          <a:xfrm>
            <a:off x="0" y="0"/>
            <a:ext cx="14630399" cy="8229599"/>
          </a:xfrm>
          <a:prstGeom prst="rect">
            <a:avLst/>
          </a:prstGeom>
          <a:noFill/>
          <a:ln>
            <a:noFill/>
          </a:ln>
        </p:spPr>
      </p:pic>
      <p:pic>
        <p:nvPicPr>
          <p:cNvPr id="27" name="Google Shape;27;p10"/>
          <p:cNvPicPr preferRelativeResize="0"/>
          <p:nvPr/>
        </p:nvPicPr>
        <p:blipFill rotWithShape="1">
          <a:blip r:embed="rId4">
            <a:alphaModFix/>
          </a:blip>
          <a:srcRect/>
          <a:stretch/>
        </p:blipFill>
        <p:spPr>
          <a:xfrm>
            <a:off x="0" y="0"/>
            <a:ext cx="14630400" cy="73533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28"/>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lide 3 master">
  <p:cSld name="Slide 3 master">
    <p:spTree>
      <p:nvGrpSpPr>
        <p:cNvPr id="1" name="Shape 29"/>
        <p:cNvGrpSpPr/>
        <p:nvPr/>
      </p:nvGrpSpPr>
      <p:grpSpPr>
        <a:xfrm>
          <a:off x="0" y="0"/>
          <a:ext cx="0" cy="0"/>
          <a:chOff x="0" y="0"/>
          <a:chExt cx="0" cy="0"/>
        </a:xfrm>
      </p:grpSpPr>
      <p:pic>
        <p:nvPicPr>
          <p:cNvPr id="30" name="Google Shape;30;p12" descr="preencoded.png"/>
          <p:cNvPicPr preferRelativeResize="0"/>
          <p:nvPr/>
        </p:nvPicPr>
        <p:blipFill rotWithShape="1">
          <a:blip r:embed="rId2">
            <a:alphaModFix/>
          </a:blip>
          <a:srcRect/>
          <a:stretch/>
        </p:blipFill>
        <p:spPr>
          <a:xfrm>
            <a:off x="0" y="0"/>
            <a:ext cx="14630400" cy="8229600"/>
          </a:xfrm>
          <a:prstGeom prst="rect">
            <a:avLst/>
          </a:prstGeom>
          <a:noFill/>
          <a:ln>
            <a:noFill/>
          </a:ln>
        </p:spPr>
      </p:pic>
      <p:sp>
        <p:nvSpPr>
          <p:cNvPr id="31" name="Google Shape;31;p12"/>
          <p:cNvSpPr/>
          <p:nvPr/>
        </p:nvSpPr>
        <p:spPr>
          <a:xfrm>
            <a:off x="0" y="0"/>
            <a:ext cx="14630400" cy="8229600"/>
          </a:xfrm>
          <a:prstGeom prst="rect">
            <a:avLst/>
          </a:prstGeom>
          <a:solidFill>
            <a:srgbClr val="FAF5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2" name="Google Shape;32;p12"/>
          <p:cNvPicPr preferRelativeResize="0"/>
          <p:nvPr/>
        </p:nvPicPr>
        <p:blipFill rotWithShape="1">
          <a:blip r:embed="rId3">
            <a:alphaModFix/>
          </a:blip>
          <a:srcRect/>
          <a:stretch/>
        </p:blipFill>
        <p:spPr>
          <a:xfrm>
            <a:off x="0" y="0"/>
            <a:ext cx="14630399" cy="8229599"/>
          </a:xfrm>
          <a:prstGeom prst="rect">
            <a:avLst/>
          </a:prstGeom>
          <a:noFill/>
          <a:ln>
            <a:noFill/>
          </a:ln>
        </p:spPr>
      </p:pic>
      <p:pic>
        <p:nvPicPr>
          <p:cNvPr id="33" name="Google Shape;33;p12"/>
          <p:cNvPicPr preferRelativeResize="0"/>
          <p:nvPr/>
        </p:nvPicPr>
        <p:blipFill rotWithShape="1">
          <a:blip r:embed="rId4">
            <a:alphaModFix/>
          </a:blip>
          <a:srcRect/>
          <a:stretch/>
        </p:blipFill>
        <p:spPr>
          <a:xfrm>
            <a:off x="-1" y="0"/>
            <a:ext cx="14630400" cy="73152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lide 4 master">
  <p:cSld name="Slide 4 master">
    <p:spTree>
      <p:nvGrpSpPr>
        <p:cNvPr id="1" name="Shape 34"/>
        <p:cNvGrpSpPr/>
        <p:nvPr/>
      </p:nvGrpSpPr>
      <p:grpSpPr>
        <a:xfrm>
          <a:off x="0" y="0"/>
          <a:ext cx="0" cy="0"/>
          <a:chOff x="0" y="0"/>
          <a:chExt cx="0" cy="0"/>
        </a:xfrm>
      </p:grpSpPr>
      <p:pic>
        <p:nvPicPr>
          <p:cNvPr id="35" name="Google Shape;35;p13" descr="preencoded.png"/>
          <p:cNvPicPr preferRelativeResize="0"/>
          <p:nvPr/>
        </p:nvPicPr>
        <p:blipFill rotWithShape="1">
          <a:blip r:embed="rId2">
            <a:alphaModFix/>
          </a:blip>
          <a:srcRect/>
          <a:stretch/>
        </p:blipFill>
        <p:spPr>
          <a:xfrm>
            <a:off x="0" y="0"/>
            <a:ext cx="14630400" cy="8229600"/>
          </a:xfrm>
          <a:prstGeom prst="rect">
            <a:avLst/>
          </a:prstGeom>
          <a:noFill/>
          <a:ln>
            <a:noFill/>
          </a:ln>
        </p:spPr>
      </p:pic>
      <p:sp>
        <p:nvSpPr>
          <p:cNvPr id="36" name="Google Shape;36;p13"/>
          <p:cNvSpPr/>
          <p:nvPr/>
        </p:nvSpPr>
        <p:spPr>
          <a:xfrm>
            <a:off x="0" y="0"/>
            <a:ext cx="14630400" cy="8229600"/>
          </a:xfrm>
          <a:prstGeom prst="rect">
            <a:avLst/>
          </a:prstGeom>
          <a:solidFill>
            <a:srgbClr val="FAF5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7" name="Google Shape;37;p13"/>
          <p:cNvPicPr preferRelativeResize="0"/>
          <p:nvPr/>
        </p:nvPicPr>
        <p:blipFill rotWithShape="1">
          <a:blip r:embed="rId3">
            <a:alphaModFix/>
          </a:blip>
          <a:srcRect/>
          <a:stretch/>
        </p:blipFill>
        <p:spPr>
          <a:xfrm>
            <a:off x="0" y="0"/>
            <a:ext cx="14630399" cy="8229599"/>
          </a:xfrm>
          <a:prstGeom prst="rect">
            <a:avLst/>
          </a:prstGeom>
          <a:noFill/>
          <a:ln>
            <a:noFill/>
          </a:ln>
        </p:spPr>
      </p:pic>
      <p:pic>
        <p:nvPicPr>
          <p:cNvPr id="38" name="Google Shape;38;p13"/>
          <p:cNvPicPr preferRelativeResize="0"/>
          <p:nvPr/>
        </p:nvPicPr>
        <p:blipFill rotWithShape="1">
          <a:blip r:embed="rId4">
            <a:alphaModFix/>
          </a:blip>
          <a:srcRect/>
          <a:stretch/>
        </p:blipFill>
        <p:spPr>
          <a:xfrm>
            <a:off x="0" y="-2"/>
            <a:ext cx="14630400" cy="7353301"/>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lide 5 master">
  <p:cSld name="Slide 5 master">
    <p:spTree>
      <p:nvGrpSpPr>
        <p:cNvPr id="1" name="Shape 39"/>
        <p:cNvGrpSpPr/>
        <p:nvPr/>
      </p:nvGrpSpPr>
      <p:grpSpPr>
        <a:xfrm>
          <a:off x="0" y="0"/>
          <a:ext cx="0" cy="0"/>
          <a:chOff x="0" y="0"/>
          <a:chExt cx="0" cy="0"/>
        </a:xfrm>
      </p:grpSpPr>
      <p:pic>
        <p:nvPicPr>
          <p:cNvPr id="40" name="Google Shape;40;p14" descr="preencoded.png"/>
          <p:cNvPicPr preferRelativeResize="0"/>
          <p:nvPr/>
        </p:nvPicPr>
        <p:blipFill rotWithShape="1">
          <a:blip r:embed="rId2">
            <a:alphaModFix/>
          </a:blip>
          <a:srcRect/>
          <a:stretch/>
        </p:blipFill>
        <p:spPr>
          <a:xfrm>
            <a:off x="0" y="0"/>
            <a:ext cx="14630400" cy="8229600"/>
          </a:xfrm>
          <a:prstGeom prst="rect">
            <a:avLst/>
          </a:prstGeom>
          <a:noFill/>
          <a:ln>
            <a:noFill/>
          </a:ln>
        </p:spPr>
      </p:pic>
      <p:sp>
        <p:nvSpPr>
          <p:cNvPr id="41" name="Google Shape;41;p14"/>
          <p:cNvSpPr/>
          <p:nvPr/>
        </p:nvSpPr>
        <p:spPr>
          <a:xfrm>
            <a:off x="0" y="0"/>
            <a:ext cx="14630400" cy="8229600"/>
          </a:xfrm>
          <a:prstGeom prst="rect">
            <a:avLst/>
          </a:prstGeom>
          <a:solidFill>
            <a:srgbClr val="FAF5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2" name="Google Shape;42;p14"/>
          <p:cNvPicPr preferRelativeResize="0"/>
          <p:nvPr/>
        </p:nvPicPr>
        <p:blipFill rotWithShape="1">
          <a:blip r:embed="rId3">
            <a:alphaModFix/>
          </a:blip>
          <a:srcRect/>
          <a:stretch/>
        </p:blipFill>
        <p:spPr>
          <a:xfrm>
            <a:off x="0" y="0"/>
            <a:ext cx="14630399" cy="8229599"/>
          </a:xfrm>
          <a:prstGeom prst="rect">
            <a:avLst/>
          </a:prstGeom>
          <a:noFill/>
          <a:ln>
            <a:noFill/>
          </a:ln>
        </p:spPr>
      </p:pic>
      <p:pic>
        <p:nvPicPr>
          <p:cNvPr id="43" name="Google Shape;43;p14"/>
          <p:cNvPicPr preferRelativeResize="0"/>
          <p:nvPr/>
        </p:nvPicPr>
        <p:blipFill rotWithShape="1">
          <a:blip r:embed="rId4">
            <a:alphaModFix/>
          </a:blip>
          <a:srcRect/>
          <a:stretch/>
        </p:blipFill>
        <p:spPr>
          <a:xfrm>
            <a:off x="-1" y="-1"/>
            <a:ext cx="14630400" cy="7356297"/>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lide 6 master">
  <p:cSld name="Slide 6 master">
    <p:spTree>
      <p:nvGrpSpPr>
        <p:cNvPr id="1" name="Shape 44"/>
        <p:cNvGrpSpPr/>
        <p:nvPr/>
      </p:nvGrpSpPr>
      <p:grpSpPr>
        <a:xfrm>
          <a:off x="0" y="0"/>
          <a:ext cx="0" cy="0"/>
          <a:chOff x="0" y="0"/>
          <a:chExt cx="0" cy="0"/>
        </a:xfrm>
      </p:grpSpPr>
      <p:pic>
        <p:nvPicPr>
          <p:cNvPr id="45" name="Google Shape;45;p15" descr="preencoded.png"/>
          <p:cNvPicPr preferRelativeResize="0"/>
          <p:nvPr/>
        </p:nvPicPr>
        <p:blipFill rotWithShape="1">
          <a:blip r:embed="rId2">
            <a:alphaModFix/>
          </a:blip>
          <a:srcRect/>
          <a:stretch/>
        </p:blipFill>
        <p:spPr>
          <a:xfrm>
            <a:off x="0" y="0"/>
            <a:ext cx="14630400" cy="8229600"/>
          </a:xfrm>
          <a:prstGeom prst="rect">
            <a:avLst/>
          </a:prstGeom>
          <a:noFill/>
          <a:ln>
            <a:noFill/>
          </a:ln>
        </p:spPr>
      </p:pic>
      <p:sp>
        <p:nvSpPr>
          <p:cNvPr id="46" name="Google Shape;46;p15"/>
          <p:cNvSpPr/>
          <p:nvPr/>
        </p:nvSpPr>
        <p:spPr>
          <a:xfrm>
            <a:off x="0" y="0"/>
            <a:ext cx="14630400" cy="8229600"/>
          </a:xfrm>
          <a:prstGeom prst="rect">
            <a:avLst/>
          </a:prstGeom>
          <a:solidFill>
            <a:srgbClr val="FAF5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7" name="Google Shape;47;p15"/>
          <p:cNvPicPr preferRelativeResize="0"/>
          <p:nvPr/>
        </p:nvPicPr>
        <p:blipFill rotWithShape="1">
          <a:blip r:embed="rId3">
            <a:alphaModFix/>
          </a:blip>
          <a:srcRect/>
          <a:stretch/>
        </p:blipFill>
        <p:spPr>
          <a:xfrm>
            <a:off x="0" y="0"/>
            <a:ext cx="14630399" cy="8229600"/>
          </a:xfrm>
          <a:prstGeom prst="rect">
            <a:avLst/>
          </a:prstGeom>
          <a:noFill/>
          <a:ln>
            <a:noFill/>
          </a:ln>
        </p:spPr>
      </p:pic>
      <p:pic>
        <p:nvPicPr>
          <p:cNvPr id="48" name="Google Shape;48;p15"/>
          <p:cNvPicPr preferRelativeResize="0"/>
          <p:nvPr/>
        </p:nvPicPr>
        <p:blipFill rotWithShape="1">
          <a:blip r:embed="rId4">
            <a:alphaModFix/>
          </a:blip>
          <a:srcRect/>
          <a:stretch/>
        </p:blipFill>
        <p:spPr>
          <a:xfrm>
            <a:off x="0" y="0"/>
            <a:ext cx="14630400" cy="737235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lide 7 master">
  <p:cSld name="Slide 7 master">
    <p:spTree>
      <p:nvGrpSpPr>
        <p:cNvPr id="1" name="Shape 49"/>
        <p:cNvGrpSpPr/>
        <p:nvPr/>
      </p:nvGrpSpPr>
      <p:grpSpPr>
        <a:xfrm>
          <a:off x="0" y="0"/>
          <a:ext cx="0" cy="0"/>
          <a:chOff x="0" y="0"/>
          <a:chExt cx="0" cy="0"/>
        </a:xfrm>
      </p:grpSpPr>
      <p:pic>
        <p:nvPicPr>
          <p:cNvPr id="50" name="Google Shape;50;p16" descr="preencoded.png"/>
          <p:cNvPicPr preferRelativeResize="0"/>
          <p:nvPr/>
        </p:nvPicPr>
        <p:blipFill rotWithShape="1">
          <a:blip r:embed="rId2">
            <a:alphaModFix/>
          </a:blip>
          <a:srcRect/>
          <a:stretch/>
        </p:blipFill>
        <p:spPr>
          <a:xfrm>
            <a:off x="0" y="0"/>
            <a:ext cx="14630400" cy="8229600"/>
          </a:xfrm>
          <a:prstGeom prst="rect">
            <a:avLst/>
          </a:prstGeom>
          <a:noFill/>
          <a:ln>
            <a:noFill/>
          </a:ln>
        </p:spPr>
      </p:pic>
      <p:sp>
        <p:nvSpPr>
          <p:cNvPr id="51" name="Google Shape;51;p16"/>
          <p:cNvSpPr/>
          <p:nvPr/>
        </p:nvSpPr>
        <p:spPr>
          <a:xfrm>
            <a:off x="0" y="0"/>
            <a:ext cx="14630400" cy="8229600"/>
          </a:xfrm>
          <a:prstGeom prst="rect">
            <a:avLst/>
          </a:prstGeom>
          <a:solidFill>
            <a:srgbClr val="FAF5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2" name="Google Shape;52;p16"/>
          <p:cNvPicPr preferRelativeResize="0"/>
          <p:nvPr/>
        </p:nvPicPr>
        <p:blipFill rotWithShape="1">
          <a:blip r:embed="rId3">
            <a:alphaModFix/>
          </a:blip>
          <a:srcRect/>
          <a:stretch/>
        </p:blipFill>
        <p:spPr>
          <a:xfrm>
            <a:off x="0" y="0"/>
            <a:ext cx="14630399" cy="8229599"/>
          </a:xfrm>
          <a:prstGeom prst="rect">
            <a:avLst/>
          </a:prstGeom>
          <a:noFill/>
          <a:ln>
            <a:noFill/>
          </a:ln>
        </p:spPr>
      </p:pic>
      <p:pic>
        <p:nvPicPr>
          <p:cNvPr id="53" name="Google Shape;53;p16"/>
          <p:cNvPicPr preferRelativeResize="0"/>
          <p:nvPr/>
        </p:nvPicPr>
        <p:blipFill rotWithShape="1">
          <a:blip r:embed="rId4">
            <a:alphaModFix/>
          </a:blip>
          <a:srcRect/>
          <a:stretch/>
        </p:blipFill>
        <p:spPr>
          <a:xfrm>
            <a:off x="0" y="-2"/>
            <a:ext cx="14630400" cy="7315201"/>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lide 9 master">
  <p:cSld name="Slide 9 master">
    <p:spTree>
      <p:nvGrpSpPr>
        <p:cNvPr id="1" name="Shape 54"/>
        <p:cNvGrpSpPr/>
        <p:nvPr/>
      </p:nvGrpSpPr>
      <p:grpSpPr>
        <a:xfrm>
          <a:off x="0" y="0"/>
          <a:ext cx="0" cy="0"/>
          <a:chOff x="0" y="0"/>
          <a:chExt cx="0" cy="0"/>
        </a:xfrm>
      </p:grpSpPr>
      <p:pic>
        <p:nvPicPr>
          <p:cNvPr id="55" name="Google Shape;55;p17" descr="preencoded.png"/>
          <p:cNvPicPr preferRelativeResize="0"/>
          <p:nvPr/>
        </p:nvPicPr>
        <p:blipFill rotWithShape="1">
          <a:blip r:embed="rId2">
            <a:alphaModFix/>
          </a:blip>
          <a:srcRect/>
          <a:stretch/>
        </p:blipFill>
        <p:spPr>
          <a:xfrm>
            <a:off x="0" y="0"/>
            <a:ext cx="14630400" cy="8229600"/>
          </a:xfrm>
          <a:prstGeom prst="rect">
            <a:avLst/>
          </a:prstGeom>
          <a:noFill/>
          <a:ln>
            <a:noFill/>
          </a:ln>
        </p:spPr>
      </p:pic>
      <p:sp>
        <p:nvSpPr>
          <p:cNvPr id="56" name="Google Shape;56;p17"/>
          <p:cNvSpPr/>
          <p:nvPr/>
        </p:nvSpPr>
        <p:spPr>
          <a:xfrm>
            <a:off x="0" y="0"/>
            <a:ext cx="14630400" cy="8229600"/>
          </a:xfrm>
          <a:prstGeom prst="rect">
            <a:avLst/>
          </a:prstGeom>
          <a:solidFill>
            <a:srgbClr val="FAF5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7" name="Google Shape;57;p17"/>
          <p:cNvPicPr preferRelativeResize="0"/>
          <p:nvPr/>
        </p:nvPicPr>
        <p:blipFill rotWithShape="1">
          <a:blip r:embed="rId3">
            <a:alphaModFix/>
          </a:blip>
          <a:srcRect/>
          <a:stretch/>
        </p:blipFill>
        <p:spPr>
          <a:xfrm>
            <a:off x="0" y="0"/>
            <a:ext cx="14630399" cy="8229601"/>
          </a:xfrm>
          <a:prstGeom prst="rect">
            <a:avLst/>
          </a:prstGeom>
          <a:noFill/>
          <a:ln>
            <a:noFill/>
          </a:ln>
        </p:spPr>
      </p:pic>
      <p:pic>
        <p:nvPicPr>
          <p:cNvPr id="58" name="Google Shape;58;p17"/>
          <p:cNvPicPr preferRelativeResize="0"/>
          <p:nvPr/>
        </p:nvPicPr>
        <p:blipFill rotWithShape="1">
          <a:blip r:embed="rId4">
            <a:alphaModFix/>
          </a:blip>
          <a:srcRect/>
          <a:stretch/>
        </p:blipFill>
        <p:spPr>
          <a:xfrm>
            <a:off x="38100" y="0"/>
            <a:ext cx="14630400" cy="735330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lide 10 master">
  <p:cSld name="Slide 10 master">
    <p:spTree>
      <p:nvGrpSpPr>
        <p:cNvPr id="1" name="Shape 59"/>
        <p:cNvGrpSpPr/>
        <p:nvPr/>
      </p:nvGrpSpPr>
      <p:grpSpPr>
        <a:xfrm>
          <a:off x="0" y="0"/>
          <a:ext cx="0" cy="0"/>
          <a:chOff x="0" y="0"/>
          <a:chExt cx="0" cy="0"/>
        </a:xfrm>
      </p:grpSpPr>
      <p:pic>
        <p:nvPicPr>
          <p:cNvPr id="60" name="Google Shape;60;p18" descr="preencoded.png"/>
          <p:cNvPicPr preferRelativeResize="0"/>
          <p:nvPr/>
        </p:nvPicPr>
        <p:blipFill rotWithShape="1">
          <a:blip r:embed="rId2">
            <a:alphaModFix/>
          </a:blip>
          <a:srcRect/>
          <a:stretch/>
        </p:blipFill>
        <p:spPr>
          <a:xfrm>
            <a:off x="0" y="0"/>
            <a:ext cx="14630400" cy="8229600"/>
          </a:xfrm>
          <a:prstGeom prst="rect">
            <a:avLst/>
          </a:prstGeom>
          <a:noFill/>
          <a:ln>
            <a:noFill/>
          </a:ln>
        </p:spPr>
      </p:pic>
      <p:sp>
        <p:nvSpPr>
          <p:cNvPr id="61" name="Google Shape;61;p18"/>
          <p:cNvSpPr/>
          <p:nvPr/>
        </p:nvSpPr>
        <p:spPr>
          <a:xfrm>
            <a:off x="0" y="0"/>
            <a:ext cx="14630400" cy="8229600"/>
          </a:xfrm>
          <a:prstGeom prst="rect">
            <a:avLst/>
          </a:prstGeom>
          <a:solidFill>
            <a:srgbClr val="FAF5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2" name="Google Shape;62;p18"/>
          <p:cNvPicPr preferRelativeResize="0"/>
          <p:nvPr/>
        </p:nvPicPr>
        <p:blipFill rotWithShape="1">
          <a:blip r:embed="rId3">
            <a:alphaModFix/>
          </a:blip>
          <a:srcRect/>
          <a:stretch/>
        </p:blipFill>
        <p:spPr>
          <a:xfrm>
            <a:off x="0" y="0"/>
            <a:ext cx="14630399" cy="8229599"/>
          </a:xfrm>
          <a:prstGeom prst="rect">
            <a:avLst/>
          </a:prstGeom>
          <a:noFill/>
          <a:ln>
            <a:noFill/>
          </a:ln>
        </p:spPr>
      </p:pic>
      <p:pic>
        <p:nvPicPr>
          <p:cNvPr id="63" name="Google Shape;63;p18"/>
          <p:cNvPicPr preferRelativeResize="0"/>
          <p:nvPr/>
        </p:nvPicPr>
        <p:blipFill rotWithShape="1">
          <a:blip r:embed="rId4">
            <a:alphaModFix/>
          </a:blip>
          <a:srcRect/>
          <a:stretch/>
        </p:blipFill>
        <p:spPr>
          <a:xfrm>
            <a:off x="0" y="-2"/>
            <a:ext cx="14630400" cy="7334251"/>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lide 11 master">
  <p:cSld name="Slide 11 master">
    <p:spTree>
      <p:nvGrpSpPr>
        <p:cNvPr id="1" name="Shape 64"/>
        <p:cNvGrpSpPr/>
        <p:nvPr/>
      </p:nvGrpSpPr>
      <p:grpSpPr>
        <a:xfrm>
          <a:off x="0" y="0"/>
          <a:ext cx="0" cy="0"/>
          <a:chOff x="0" y="0"/>
          <a:chExt cx="0" cy="0"/>
        </a:xfrm>
      </p:grpSpPr>
      <p:pic>
        <p:nvPicPr>
          <p:cNvPr id="65" name="Google Shape;65;p19" descr="preencoded.png"/>
          <p:cNvPicPr preferRelativeResize="0"/>
          <p:nvPr/>
        </p:nvPicPr>
        <p:blipFill rotWithShape="1">
          <a:blip r:embed="rId2">
            <a:alphaModFix/>
          </a:blip>
          <a:srcRect/>
          <a:stretch/>
        </p:blipFill>
        <p:spPr>
          <a:xfrm>
            <a:off x="0" y="0"/>
            <a:ext cx="14630400" cy="8229600"/>
          </a:xfrm>
          <a:prstGeom prst="rect">
            <a:avLst/>
          </a:prstGeom>
          <a:noFill/>
          <a:ln>
            <a:noFill/>
          </a:ln>
        </p:spPr>
      </p:pic>
      <p:sp>
        <p:nvSpPr>
          <p:cNvPr id="66" name="Google Shape;66;p19"/>
          <p:cNvSpPr/>
          <p:nvPr/>
        </p:nvSpPr>
        <p:spPr>
          <a:xfrm>
            <a:off x="0" y="0"/>
            <a:ext cx="14630400" cy="8229600"/>
          </a:xfrm>
          <a:prstGeom prst="rect">
            <a:avLst/>
          </a:prstGeom>
          <a:solidFill>
            <a:srgbClr val="FAF5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7" name="Google Shape;67;p19"/>
          <p:cNvPicPr preferRelativeResize="0"/>
          <p:nvPr/>
        </p:nvPicPr>
        <p:blipFill rotWithShape="1">
          <a:blip r:embed="rId3">
            <a:alphaModFix/>
          </a:blip>
          <a:srcRect/>
          <a:stretch/>
        </p:blipFill>
        <p:spPr>
          <a:xfrm>
            <a:off x="0" y="1"/>
            <a:ext cx="14630399" cy="8229599"/>
          </a:xfrm>
          <a:prstGeom prst="rect">
            <a:avLst/>
          </a:prstGeom>
          <a:noFill/>
          <a:ln>
            <a:noFill/>
          </a:ln>
        </p:spPr>
      </p:pic>
      <p:pic>
        <p:nvPicPr>
          <p:cNvPr id="68" name="Google Shape;68;p19"/>
          <p:cNvPicPr preferRelativeResize="0"/>
          <p:nvPr/>
        </p:nvPicPr>
        <p:blipFill rotWithShape="1">
          <a:blip r:embed="rId4">
            <a:alphaModFix/>
          </a:blip>
          <a:srcRect/>
          <a:stretch/>
        </p:blipFill>
        <p:spPr>
          <a:xfrm>
            <a:off x="0" y="-2"/>
            <a:ext cx="14630400" cy="7372351"/>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pic>
        <p:nvPicPr>
          <p:cNvPr id="6" name="Google Shape;6;p6"/>
          <p:cNvPicPr preferRelativeResize="0"/>
          <p:nvPr/>
        </p:nvPicPr>
        <p:blipFill rotWithShape="1">
          <a:blip r:embed="rId14">
            <a:alphaModFix/>
          </a:blip>
          <a:srcRect/>
          <a:stretch/>
        </p:blipFill>
        <p:spPr>
          <a:xfrm>
            <a:off x="0" y="0"/>
            <a:ext cx="14630399" cy="8229599"/>
          </a:xfrm>
          <a:prstGeom prst="rect">
            <a:avLst/>
          </a:prstGeom>
          <a:noFill/>
          <a:ln>
            <a:noFill/>
          </a:ln>
        </p:spPr>
      </p:pic>
      <p:pic>
        <p:nvPicPr>
          <p:cNvPr id="7" name="Google Shape;7;p6"/>
          <p:cNvPicPr preferRelativeResize="0"/>
          <p:nvPr/>
        </p:nvPicPr>
        <p:blipFill rotWithShape="1">
          <a:blip r:embed="rId15">
            <a:alphaModFix/>
          </a:blip>
          <a:srcRect/>
          <a:stretch/>
        </p:blipFill>
        <p:spPr>
          <a:xfrm>
            <a:off x="0" y="0"/>
            <a:ext cx="14630400" cy="73533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xml"/><Relationship Id="rId4" Type="http://schemas.openxmlformats.org/officeDocument/2006/relationships/image" Target="../media/image20.jpeg"/></Relationships>
</file>

<file path=ppt/slides/_rels/slide4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
          <p:cNvSpPr/>
          <p:nvPr/>
        </p:nvSpPr>
        <p:spPr>
          <a:xfrm>
            <a:off x="2740073" y="1489339"/>
            <a:ext cx="8522660" cy="1627918"/>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None/>
            </a:pPr>
            <a:r>
              <a:rPr lang="en-IN" sz="4400" b="1" i="0" u="none" strike="noStrike" cap="none">
                <a:solidFill>
                  <a:schemeClr val="dk1"/>
                </a:solidFill>
                <a:latin typeface="Overlock"/>
                <a:ea typeface="Overlock"/>
                <a:cs typeface="Overlock"/>
                <a:sym typeface="Overlock"/>
              </a:rPr>
              <a:t>REAL TIME ACCIDENT MONITORING </a:t>
            </a:r>
            <a:endParaRPr/>
          </a:p>
          <a:p>
            <a:pPr marL="0" marR="0" lvl="0" indent="0" algn="l" rtl="0">
              <a:lnSpc>
                <a:spcPct val="125000"/>
              </a:lnSpc>
              <a:spcBef>
                <a:spcPts val="0"/>
              </a:spcBef>
              <a:spcAft>
                <a:spcPts val="0"/>
              </a:spcAft>
              <a:buNone/>
            </a:pPr>
            <a:r>
              <a:rPr lang="en-IN" sz="4400" b="1" i="0" u="none" strike="noStrike" cap="none">
                <a:solidFill>
                  <a:schemeClr val="dk1"/>
                </a:solidFill>
                <a:latin typeface="Overlock"/>
                <a:ea typeface="Overlock"/>
                <a:cs typeface="Overlock"/>
                <a:sym typeface="Overlock"/>
              </a:rPr>
              <a:t>AND RISK PREDICTION</a:t>
            </a:r>
            <a:endParaRPr sz="4400" b="1" i="0" u="none" strike="noStrike" cap="none">
              <a:solidFill>
                <a:srgbClr val="2B3541"/>
              </a:solidFill>
              <a:latin typeface="Overlock"/>
              <a:ea typeface="Overlock"/>
              <a:cs typeface="Overlock"/>
              <a:sym typeface="Overlock"/>
            </a:endParaRPr>
          </a:p>
        </p:txBody>
      </p:sp>
      <p:sp>
        <p:nvSpPr>
          <p:cNvPr id="75" name="Google Shape;75;p1"/>
          <p:cNvSpPr/>
          <p:nvPr/>
        </p:nvSpPr>
        <p:spPr>
          <a:xfrm>
            <a:off x="-437629" y="5319950"/>
            <a:ext cx="5411074" cy="38302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2B3541"/>
              </a:buClr>
              <a:buSzPts val="2400"/>
              <a:buFont typeface="Times New Roman"/>
              <a:buNone/>
            </a:pPr>
            <a:r>
              <a:rPr lang="en-IN" sz="2400" b="0" i="0" u="none" strike="noStrike" cap="none">
                <a:solidFill>
                  <a:srgbClr val="2B3541"/>
                </a:solidFill>
                <a:latin typeface="Times New Roman"/>
                <a:ea typeface="Times New Roman"/>
                <a:cs typeface="Times New Roman"/>
                <a:sym typeface="Times New Roman"/>
              </a:rPr>
              <a:t>Presented by: Batch A4</a:t>
            </a:r>
            <a:endParaRPr sz="2400" b="0" i="0" u="none" strike="noStrike" cap="none">
              <a:solidFill>
                <a:schemeClr val="dk1"/>
              </a:solidFill>
              <a:latin typeface="Times New Roman"/>
              <a:ea typeface="Times New Roman"/>
              <a:cs typeface="Times New Roman"/>
              <a:sym typeface="Times New Roman"/>
            </a:endParaRPr>
          </a:p>
        </p:txBody>
      </p:sp>
      <p:sp>
        <p:nvSpPr>
          <p:cNvPr id="76" name="Google Shape;76;p1"/>
          <p:cNvSpPr txBox="1"/>
          <p:nvPr/>
        </p:nvSpPr>
        <p:spPr>
          <a:xfrm>
            <a:off x="9489688" y="5172820"/>
            <a:ext cx="5007000" cy="17542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1800" b="1" i="0" u="sng" strike="noStrike" cap="none" dirty="0">
                <a:solidFill>
                  <a:schemeClr val="dk1"/>
                </a:solidFill>
                <a:latin typeface="Calibri"/>
                <a:ea typeface="Calibri"/>
                <a:cs typeface="Calibri"/>
                <a:sym typeface="Calibri"/>
              </a:rPr>
              <a:t>TEAM MEMBERS:</a:t>
            </a:r>
            <a:endParaRPr dirty="0"/>
          </a:p>
          <a:p>
            <a:pPr marL="0" marR="0" lvl="0" indent="0" algn="l" rtl="0">
              <a:spcBef>
                <a:spcPts val="0"/>
              </a:spcBef>
              <a:spcAft>
                <a:spcPts val="0"/>
              </a:spcAft>
              <a:buNone/>
            </a:pPr>
            <a:r>
              <a:rPr lang="en-IN" sz="1800" b="0" i="0" u="none" strike="noStrike" cap="none" dirty="0" err="1">
                <a:solidFill>
                  <a:schemeClr val="dk1"/>
                </a:solidFill>
                <a:latin typeface="Calibri"/>
                <a:ea typeface="Calibri"/>
                <a:cs typeface="Calibri"/>
                <a:sym typeface="Calibri"/>
              </a:rPr>
              <a:t>Bejjupuramu</a:t>
            </a:r>
            <a:r>
              <a:rPr lang="en-IN" sz="1800" b="0" i="0" u="none" strike="noStrike" cap="none" dirty="0">
                <a:solidFill>
                  <a:schemeClr val="dk1"/>
                </a:solidFill>
                <a:latin typeface="Calibri"/>
                <a:ea typeface="Calibri"/>
                <a:cs typeface="Calibri"/>
                <a:sym typeface="Calibri"/>
              </a:rPr>
              <a:t> Suseela 	            228T1A0516 </a:t>
            </a:r>
          </a:p>
          <a:p>
            <a:pPr marL="0" marR="0" lvl="0" indent="0" algn="l" rtl="0">
              <a:spcBef>
                <a:spcPts val="0"/>
              </a:spcBef>
              <a:spcAft>
                <a:spcPts val="0"/>
              </a:spcAft>
              <a:buNone/>
            </a:pPr>
            <a:r>
              <a:rPr lang="en-IN" sz="1800" b="0" i="0" u="none" strike="noStrike" cap="none" dirty="0" err="1">
                <a:solidFill>
                  <a:schemeClr val="dk1"/>
                </a:solidFill>
                <a:latin typeface="Calibri"/>
                <a:ea typeface="Calibri"/>
                <a:cs typeface="Calibri"/>
                <a:sym typeface="Calibri"/>
              </a:rPr>
              <a:t>Boggavarapu</a:t>
            </a:r>
            <a:r>
              <a:rPr lang="en-IN" sz="1800" b="0" i="0" u="none" strike="noStrike" cap="none" dirty="0">
                <a:solidFill>
                  <a:schemeClr val="dk1"/>
                </a:solidFill>
                <a:latin typeface="Calibri"/>
                <a:ea typeface="Calibri"/>
                <a:cs typeface="Calibri"/>
                <a:sym typeface="Calibri"/>
              </a:rPr>
              <a:t> Manasa Lavanya           228T1A0519</a:t>
            </a:r>
            <a:endParaRPr dirty="0"/>
          </a:p>
          <a:p>
            <a:pPr marL="0" marR="0" lvl="0" indent="0" algn="l" rtl="0">
              <a:spcBef>
                <a:spcPts val="0"/>
              </a:spcBef>
              <a:spcAft>
                <a:spcPts val="0"/>
              </a:spcAft>
              <a:buNone/>
            </a:pPr>
            <a:r>
              <a:rPr lang="en-IN" sz="1800" b="0" i="0" u="none" strike="noStrike" cap="none" dirty="0">
                <a:solidFill>
                  <a:schemeClr val="dk1"/>
                </a:solidFill>
                <a:latin typeface="Calibri"/>
                <a:ea typeface="Calibri"/>
                <a:cs typeface="Calibri"/>
                <a:sym typeface="Calibri"/>
              </a:rPr>
              <a:t>Maddali Venkata Raga Nandini          228T1A0566 </a:t>
            </a:r>
            <a:r>
              <a:rPr lang="en-IN" sz="1800" b="0" i="0" u="none" strike="noStrike" cap="none" dirty="0" err="1">
                <a:solidFill>
                  <a:schemeClr val="dk1"/>
                </a:solidFill>
                <a:latin typeface="Calibri"/>
                <a:ea typeface="Calibri"/>
                <a:cs typeface="Calibri"/>
                <a:sym typeface="Calibri"/>
              </a:rPr>
              <a:t>Beesabathuni</a:t>
            </a:r>
            <a:r>
              <a:rPr lang="en-IN" sz="1800" b="0" i="0" u="none" strike="noStrike" cap="none" dirty="0">
                <a:solidFill>
                  <a:schemeClr val="dk1"/>
                </a:solidFill>
                <a:latin typeface="Calibri"/>
                <a:ea typeface="Calibri"/>
                <a:cs typeface="Calibri"/>
                <a:sym typeface="Calibri"/>
              </a:rPr>
              <a:t> S N Manjunath           </a:t>
            </a:r>
            <a:r>
              <a:rPr lang="en-IN" sz="1800" dirty="0">
                <a:solidFill>
                  <a:schemeClr val="dk1"/>
                </a:solidFill>
                <a:latin typeface="Calibri"/>
                <a:ea typeface="Calibri"/>
                <a:cs typeface="Calibri"/>
                <a:sym typeface="Calibri"/>
              </a:rPr>
              <a:t>  </a:t>
            </a:r>
            <a:r>
              <a:rPr lang="en-IN" sz="1800" b="0" i="0" u="none" strike="noStrike" cap="none" dirty="0">
                <a:solidFill>
                  <a:schemeClr val="dk1"/>
                </a:solidFill>
                <a:latin typeface="Calibri"/>
                <a:ea typeface="Calibri"/>
                <a:cs typeface="Calibri"/>
                <a:sym typeface="Calibri"/>
              </a:rPr>
              <a:t>228T1A0514</a:t>
            </a:r>
            <a:endParaRPr dirty="0"/>
          </a:p>
          <a:p>
            <a:pPr marL="0" marR="0" lvl="0" indent="0" algn="l" rtl="0">
              <a:spcBef>
                <a:spcPts val="0"/>
              </a:spcBef>
              <a:spcAft>
                <a:spcPts val="0"/>
              </a:spcAft>
              <a:buNone/>
            </a:pPr>
            <a:r>
              <a:rPr lang="en-IN" sz="1800" b="0" i="0" u="none" strike="noStrike" cap="none" dirty="0">
                <a:solidFill>
                  <a:schemeClr val="dk1"/>
                </a:solidFill>
                <a:latin typeface="Calibri"/>
                <a:ea typeface="Calibri"/>
                <a:cs typeface="Calibri"/>
                <a:sym typeface="Calibri"/>
              </a:rPr>
              <a:t>Boyapati Venkata Suraj                        228T1A0522</a:t>
            </a:r>
            <a:endParaRPr sz="1800" b="0" i="0" u="none" strike="noStrike" cap="none" dirty="0">
              <a:solidFill>
                <a:srgbClr val="2B3541"/>
              </a:solidFill>
              <a:latin typeface="Calibri"/>
              <a:ea typeface="Calibri"/>
              <a:cs typeface="Calibri"/>
              <a:sym typeface="Calibri"/>
            </a:endParaRPr>
          </a:p>
        </p:txBody>
      </p:sp>
      <p:sp>
        <p:nvSpPr>
          <p:cNvPr id="77" name="Google Shape;77;p1"/>
          <p:cNvSpPr txBox="1"/>
          <p:nvPr/>
        </p:nvSpPr>
        <p:spPr>
          <a:xfrm>
            <a:off x="727751" y="5588318"/>
            <a:ext cx="7167312"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400" b="0" i="0" u="none" strike="noStrike" cap="none">
                <a:solidFill>
                  <a:srgbClr val="2B3541"/>
                </a:solidFill>
                <a:latin typeface="Times New Roman"/>
                <a:ea typeface="Times New Roman"/>
                <a:cs typeface="Times New Roman"/>
                <a:sym typeface="Times New Roman"/>
              </a:rPr>
              <a:t>Mentor: </a:t>
            </a:r>
            <a:endParaRPr/>
          </a:p>
          <a:p>
            <a:pPr marL="0" marR="0" lvl="0" indent="0" algn="l" rtl="0">
              <a:spcBef>
                <a:spcPts val="0"/>
              </a:spcBef>
              <a:spcAft>
                <a:spcPts val="0"/>
              </a:spcAft>
              <a:buNone/>
            </a:pPr>
            <a:r>
              <a:rPr lang="en-IN" sz="2400">
                <a:solidFill>
                  <a:srgbClr val="2B3541"/>
                </a:solidFill>
                <a:latin typeface="Times New Roman"/>
                <a:ea typeface="Times New Roman"/>
                <a:cs typeface="Times New Roman"/>
                <a:sym typeface="Times New Roman"/>
              </a:rPr>
              <a:t>Dr. G. Krishna Kishore, Professor, Dept of CSE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2"/>
          <p:cNvSpPr/>
          <p:nvPr/>
        </p:nvSpPr>
        <p:spPr>
          <a:xfrm>
            <a:off x="738725" y="306238"/>
            <a:ext cx="5632490" cy="704017"/>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2B3541"/>
              </a:buClr>
              <a:buSzPts val="4400"/>
              <a:buFont typeface="Times New Roman"/>
              <a:buNone/>
            </a:pPr>
            <a:r>
              <a:rPr lang="en-IN" sz="4000" b="1" dirty="0">
                <a:solidFill>
                  <a:srgbClr val="2B3541"/>
                </a:solidFill>
                <a:latin typeface="Times New Roman"/>
                <a:ea typeface="Times New Roman"/>
                <a:cs typeface="Times New Roman"/>
                <a:sym typeface="Times New Roman"/>
              </a:rPr>
              <a:t>Abstract</a:t>
            </a:r>
            <a:endParaRPr sz="4000" b="1" dirty="0"/>
          </a:p>
        </p:txBody>
      </p:sp>
      <p:sp>
        <p:nvSpPr>
          <p:cNvPr id="84" name="Google Shape;84;p2"/>
          <p:cNvSpPr txBox="1"/>
          <p:nvPr/>
        </p:nvSpPr>
        <p:spPr>
          <a:xfrm>
            <a:off x="292955" y="1267887"/>
            <a:ext cx="12954900" cy="4832052"/>
          </a:xfrm>
          <a:prstGeom prst="rect">
            <a:avLst/>
          </a:prstGeom>
          <a:noFill/>
          <a:ln>
            <a:noFill/>
          </a:ln>
        </p:spPr>
        <p:txBody>
          <a:bodyPr spcFirstLastPara="1" wrap="square" lIns="91425" tIns="45700" rIns="91425" bIns="45700" anchor="t" anchorCtr="0">
            <a:spAutoFit/>
          </a:bodyPr>
          <a:lstStyle/>
          <a:p>
            <a:pPr marL="457200" lvl="0" indent="-457200" algn="just">
              <a:buClr>
                <a:schemeClr val="dk1"/>
              </a:buClr>
              <a:buSzPts val="1100"/>
              <a:buFont typeface="Arial" panose="020B0604020202020204" pitchFamily="34" charset="0"/>
              <a:buChar char="•"/>
            </a:pPr>
            <a:r>
              <a:rPr lang="en-US" sz="2800" dirty="0">
                <a:solidFill>
                  <a:schemeClr val="dk1"/>
                </a:solidFill>
                <a:latin typeface="Calibri"/>
                <a:ea typeface="Calibri"/>
                <a:cs typeface="Calibri"/>
                <a:sym typeface="Calibri"/>
              </a:rPr>
              <a:t>Road accidents are one of the leading causes of death worldwide, often due to delayed detection and response times. Traditional surveillance systems detect accidents only after they occur, resulting in late medical assistance. To address this, this project proposes a Real-Time Accident Monitoring and Risk Prediction System that integrates Artificial Intelligence (AI) with Internet of Things (IoT) technologies to both detect and predict accidents before or as they occur.</a:t>
            </a:r>
          </a:p>
          <a:p>
            <a:pPr marL="457200" indent="-457200" algn="just">
              <a:buSzPts val="110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The system uses an LSTM-based sequence model to analyze temporal vehicle motion/scene patterns and assess accident </a:t>
            </a:r>
            <a:r>
              <a:rPr lang="en-US" sz="2800" dirty="0" err="1">
                <a:latin typeface="Calibri" panose="020F0502020204030204" pitchFamily="34" charset="0"/>
                <a:ea typeface="Calibri" panose="020F0502020204030204" pitchFamily="34" charset="0"/>
                <a:cs typeface="Calibri" panose="020F0502020204030204" pitchFamily="34" charset="0"/>
              </a:rPr>
              <a:t>risk.</a:t>
            </a:r>
            <a:r>
              <a:rPr lang="en-US" sz="2800" dirty="0" err="1">
                <a:solidFill>
                  <a:schemeClr val="dk1"/>
                </a:solidFill>
                <a:latin typeface="Calibri"/>
                <a:ea typeface="Calibri"/>
                <a:cs typeface="Calibri"/>
                <a:sym typeface="Calibri"/>
              </a:rPr>
              <a:t>The</a:t>
            </a:r>
            <a:r>
              <a:rPr lang="en-US" sz="2800" dirty="0">
                <a:solidFill>
                  <a:schemeClr val="dk1"/>
                </a:solidFill>
                <a:latin typeface="Calibri"/>
                <a:ea typeface="Calibri"/>
                <a:cs typeface="Calibri"/>
                <a:sym typeface="Calibri"/>
              </a:rPr>
              <a:t> TAD: A Large-Scale Benchmark for Traffic Accidents Detection from Video Surveillance (IEEE Access, 2024) serves as the base reference dataset and inspiration for model training and evaluation.</a:t>
            </a:r>
          </a:p>
          <a:p>
            <a:pPr lvl="0" algn="just"/>
            <a:endParaRPr sz="2800" dirty="0">
              <a:solidFill>
                <a:schemeClr val="dk1"/>
              </a:solidFill>
              <a:latin typeface="Calibri"/>
              <a:ea typeface="Calibri"/>
              <a:cs typeface="Calibri"/>
              <a:sym typeface="Calibri"/>
            </a:endParaRPr>
          </a:p>
        </p:txBody>
      </p:sp>
      <p:sp>
        <p:nvSpPr>
          <p:cNvPr id="85" name="Google Shape;85;p2"/>
          <p:cNvSpPr txBox="1"/>
          <p:nvPr/>
        </p:nvSpPr>
        <p:spPr>
          <a:xfrm>
            <a:off x="13693625" y="10323925"/>
            <a:ext cx="7732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2DF27D-EE42-A466-306C-68CF9C5AA1A2}"/>
              </a:ext>
            </a:extLst>
          </p:cNvPr>
          <p:cNvSpPr txBox="1"/>
          <p:nvPr/>
        </p:nvSpPr>
        <p:spPr>
          <a:xfrm>
            <a:off x="561860" y="418641"/>
            <a:ext cx="13539730" cy="4185761"/>
          </a:xfrm>
          <a:prstGeom prst="rect">
            <a:avLst/>
          </a:prstGeom>
          <a:noFill/>
        </p:spPr>
        <p:txBody>
          <a:bodyPr wrap="square" rtlCol="0">
            <a:spAutoFit/>
          </a:bodyPr>
          <a:lstStyle/>
          <a:p>
            <a:pPr lvl="0" algn="just"/>
            <a:r>
              <a:rPr lang="en-US" sz="28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In addition to prediction, an IoT module featuring ESP32,</a:t>
            </a:r>
            <a:r>
              <a:rPr lang="en-US" sz="2800" b="1" dirty="0"/>
              <a:t> </a:t>
            </a:r>
            <a:r>
              <a:rPr lang="en-US" sz="2800" dirty="0">
                <a:latin typeface="Calibri" panose="020F0502020204030204" pitchFamily="34" charset="0"/>
                <a:ea typeface="Calibri" panose="020F0502020204030204" pitchFamily="34" charset="0"/>
                <a:cs typeface="Calibri" panose="020F0502020204030204" pitchFamily="34" charset="0"/>
              </a:rPr>
              <a:t>MPU6050</a:t>
            </a:r>
            <a:r>
              <a:rPr lang="en-US" sz="2800" b="1" dirty="0">
                <a:latin typeface="Calibri" panose="020F0502020204030204" pitchFamily="34" charset="0"/>
                <a:ea typeface="Calibri" panose="020F0502020204030204" pitchFamily="34" charset="0"/>
                <a:cs typeface="Calibri" panose="020F0502020204030204" pitchFamily="34" charset="0"/>
              </a:rPr>
              <a:t> </a:t>
            </a:r>
            <a:r>
              <a:rPr lang="en-US" sz="2800" dirty="0">
                <a:latin typeface="Calibri" panose="020F0502020204030204" pitchFamily="34" charset="0"/>
                <a:ea typeface="Calibri" panose="020F0502020204030204" pitchFamily="34" charset="0"/>
                <a:cs typeface="Calibri" panose="020F0502020204030204" pitchFamily="34" charset="0"/>
              </a:rPr>
              <a:t>accelerometer,</a:t>
            </a:r>
            <a:r>
              <a:rPr lang="en-US" sz="28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 GPS, and buzzer modules provides real-time alerts.</a:t>
            </a:r>
            <a:r>
              <a:rPr lang="en-US" dirty="0"/>
              <a:t> </a:t>
            </a:r>
            <a:r>
              <a:rPr lang="en-US" sz="2800" dirty="0">
                <a:latin typeface="Calibri" panose="020F0502020204030204" pitchFamily="34" charset="0"/>
                <a:ea typeface="Calibri" panose="020F0502020204030204" pitchFamily="34" charset="0"/>
                <a:cs typeface="Calibri" panose="020F0502020204030204" pitchFamily="34" charset="0"/>
              </a:rPr>
              <a:t>When a high-risk or accident event is detected, the system sends SOS alerts to pre-configured emergency contacts via Telegram, including severity and Google Maps location</a:t>
            </a:r>
            <a:r>
              <a:rPr lang="en-US" sz="28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 This hybrid model bridges the gap between software-based risk prediction and hardware-based real-time response, improving accident prevention and reducing emergency response time.</a:t>
            </a:r>
          </a:p>
          <a:p>
            <a:pPr lvl="0" algn="just"/>
            <a:endParaRPr lang="en-US" sz="28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a:p>
            <a:pPr lvl="0" algn="just"/>
            <a:r>
              <a:rPr lang="en-US" sz="28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Keywords: Accident Detection, IoT, Real-Time Monitoring, Deep </a:t>
            </a:r>
            <a:r>
              <a:rPr lang="en-US" sz="2800" dirty="0" err="1">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Learning,LSTM</a:t>
            </a:r>
            <a:r>
              <a:rPr lang="en-US" sz="28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 Risk Prediction, Smart Transportation.</a:t>
            </a:r>
          </a:p>
          <a:p>
            <a:endParaRPr lang="en-US" dirty="0"/>
          </a:p>
        </p:txBody>
      </p:sp>
    </p:spTree>
    <p:extLst>
      <p:ext uri="{BB962C8B-B14F-4D97-AF65-F5344CB8AC3E}">
        <p14:creationId xmlns:p14="http://schemas.microsoft.com/office/powerpoint/2010/main" val="20178010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g3897cc42a62_0_3"/>
          <p:cNvSpPr txBox="1"/>
          <p:nvPr/>
        </p:nvSpPr>
        <p:spPr>
          <a:xfrm>
            <a:off x="188056" y="229433"/>
            <a:ext cx="13489200" cy="7448163"/>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US" sz="4000" dirty="0">
                <a:solidFill>
                  <a:schemeClr val="dk1"/>
                </a:solidFill>
                <a:latin typeface="Times New Roman" panose="02020603050405020304" pitchFamily="18" charset="0"/>
                <a:ea typeface="Calibri"/>
                <a:cs typeface="Times New Roman" panose="02020603050405020304" pitchFamily="18" charset="0"/>
                <a:sym typeface="Calibri"/>
              </a:rPr>
              <a:t>Introduction:</a:t>
            </a:r>
          </a:p>
          <a:p>
            <a:pPr algn="just"/>
            <a:r>
              <a:rPr lang="en-US" sz="2800" dirty="0">
                <a:latin typeface="Calibri" panose="020F0502020204030204" pitchFamily="34" charset="0"/>
                <a:ea typeface="Calibri" panose="020F0502020204030204" pitchFamily="34" charset="0"/>
                <a:cs typeface="Calibri" panose="020F0502020204030204" pitchFamily="34" charset="0"/>
              </a:rPr>
              <a:t>Road safety is a critical global issue, with millions of accidents occurring every year due to factors such as over-speeding, driver negligence, poor road conditions, and delayed emergency assistance. Traditional accident detection systems are reactive and depend heavily on human reporting or post-event analysis. With the advancement of </a:t>
            </a:r>
            <a:r>
              <a:rPr lang="en-US" sz="2800" b="1" dirty="0">
                <a:latin typeface="Calibri" panose="020F0502020204030204" pitchFamily="34" charset="0"/>
                <a:ea typeface="Calibri" panose="020F0502020204030204" pitchFamily="34" charset="0"/>
                <a:cs typeface="Calibri" panose="020F0502020204030204" pitchFamily="34" charset="0"/>
              </a:rPr>
              <a:t>AI, IoT, and cloud technologies</a:t>
            </a:r>
            <a:r>
              <a:rPr lang="en-US" sz="2800" dirty="0">
                <a:latin typeface="Calibri" panose="020F0502020204030204" pitchFamily="34" charset="0"/>
                <a:ea typeface="Calibri" panose="020F0502020204030204" pitchFamily="34" charset="0"/>
                <a:cs typeface="Calibri" panose="020F0502020204030204" pitchFamily="34" charset="0"/>
              </a:rPr>
              <a:t>, intelligent transportation systems can now predict and respond to accidents proactively.</a:t>
            </a:r>
          </a:p>
          <a:p>
            <a:pPr algn="just"/>
            <a:endParaRPr lang="en-US" sz="2800" dirty="0">
              <a:latin typeface="Calibri" panose="020F0502020204030204" pitchFamily="34" charset="0"/>
              <a:ea typeface="Calibri" panose="020F0502020204030204" pitchFamily="34" charset="0"/>
              <a:cs typeface="Calibri" panose="020F0502020204030204" pitchFamily="34" charset="0"/>
            </a:endParaRPr>
          </a:p>
          <a:p>
            <a:pPr lvl="0" algn="just"/>
            <a:r>
              <a:rPr lang="en-US" sz="2800" dirty="0">
                <a:latin typeface="Calibri" panose="020F0502020204030204" pitchFamily="34" charset="0"/>
                <a:ea typeface="Calibri" panose="020F0502020204030204" pitchFamily="34" charset="0"/>
                <a:cs typeface="Calibri" panose="020F0502020204030204" pitchFamily="34" charset="0"/>
              </a:rPr>
              <a:t>This project integrates AI-assisted accident risk prediction with IoT-based real-time accident detection. The prediction module estimates the probability of an accident by combining vehicle motion behavior (MPU6050 data) with live weather conditions such as rain, wind speed, and visibility. This enables early warning before a crash occurs. The IoT module detects physical crash events using onboard sensors and immediately sends alerts with severity and GPS location. By combining prediction and detection, the system improves response efficiency and overall road safety.</a:t>
            </a:r>
            <a:endParaRPr lang="en-US" sz="28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a:p>
            <a:pPr marL="0" lvl="0" indent="0" algn="just" rtl="0">
              <a:spcBef>
                <a:spcPts val="0"/>
              </a:spcBef>
              <a:spcAft>
                <a:spcPts val="0"/>
              </a:spcAft>
              <a:buNone/>
            </a:pPr>
            <a:endParaRPr sz="4000" dirty="0">
              <a:solidFill>
                <a:schemeClr val="dk1"/>
              </a:solidFill>
              <a:latin typeface="Times New Roman" panose="02020603050405020304" pitchFamily="18" charset="0"/>
              <a:ea typeface="Calibri"/>
              <a:cs typeface="Times New Roman" panose="02020603050405020304" pitchFamily="18" charset="0"/>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EF96EC-D8DF-F444-3892-EAC1F8E67704}"/>
              </a:ext>
            </a:extLst>
          </p:cNvPr>
          <p:cNvSpPr txBox="1"/>
          <p:nvPr/>
        </p:nvSpPr>
        <p:spPr>
          <a:xfrm>
            <a:off x="440675" y="264405"/>
            <a:ext cx="4913522" cy="1077218"/>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Problem Statement:</a:t>
            </a:r>
            <a:br>
              <a:rPr lang="en-US" sz="3200" b="1" dirty="0">
                <a:latin typeface="Times New Roman" panose="02020603050405020304" pitchFamily="18" charset="0"/>
                <a:cs typeface="Times New Roman" panose="02020603050405020304" pitchFamily="18" charset="0"/>
              </a:rPr>
            </a:br>
            <a:endParaRPr lang="en-US" sz="32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4A547AF-B3C0-172E-8976-DCF10A807FB7}"/>
              </a:ext>
            </a:extLst>
          </p:cNvPr>
          <p:cNvSpPr txBox="1"/>
          <p:nvPr/>
        </p:nvSpPr>
        <p:spPr>
          <a:xfrm>
            <a:off x="440675" y="1002535"/>
            <a:ext cx="13936337" cy="3754874"/>
          </a:xfrm>
          <a:prstGeom prst="rect">
            <a:avLst/>
          </a:prstGeom>
          <a:noFill/>
        </p:spPr>
        <p:txBody>
          <a:bodyPr wrap="square" rtlCol="0">
            <a:spAutoFit/>
          </a:bodyPr>
          <a:lstStyle/>
          <a:p>
            <a:pPr algn="just"/>
            <a:r>
              <a:rPr lang="en-US" sz="2800" dirty="0">
                <a:latin typeface="Calibri" panose="020F0502020204030204" pitchFamily="34" charset="0"/>
                <a:ea typeface="Calibri" panose="020F0502020204030204" pitchFamily="34" charset="0"/>
                <a:cs typeface="Calibri" panose="020F0502020204030204" pitchFamily="34" charset="0"/>
              </a:rPr>
              <a:t>Road accidents often go undetected for several minutes or hours, especially in remote areas.</a:t>
            </a:r>
          </a:p>
          <a:p>
            <a:pPr algn="just"/>
            <a:r>
              <a:rPr lang="en-US" sz="2800" dirty="0">
                <a:latin typeface="Calibri" panose="020F0502020204030204" pitchFamily="34" charset="0"/>
                <a:ea typeface="Calibri" panose="020F0502020204030204" pitchFamily="34" charset="0"/>
                <a:cs typeface="Calibri" panose="020F0502020204030204" pitchFamily="34" charset="0"/>
              </a:rPr>
              <a:t>Traditional systems lack </a:t>
            </a:r>
            <a:r>
              <a:rPr lang="en-US" sz="2800" b="1" dirty="0">
                <a:latin typeface="Calibri" panose="020F0502020204030204" pitchFamily="34" charset="0"/>
                <a:ea typeface="Calibri" panose="020F0502020204030204" pitchFamily="34" charset="0"/>
                <a:cs typeface="Calibri" panose="020F0502020204030204" pitchFamily="34" charset="0"/>
              </a:rPr>
              <a:t>real-time monitoring and prediction capabilities</a:t>
            </a:r>
            <a:r>
              <a:rPr lang="en-US" sz="2800" dirty="0">
                <a:latin typeface="Calibri" panose="020F0502020204030204" pitchFamily="34" charset="0"/>
                <a:ea typeface="Calibri" panose="020F0502020204030204" pitchFamily="34" charset="0"/>
                <a:cs typeface="Calibri" panose="020F0502020204030204" pitchFamily="34" charset="0"/>
              </a:rPr>
              <a:t>.</a:t>
            </a:r>
          </a:p>
          <a:p>
            <a:pPr algn="just"/>
            <a:r>
              <a:rPr lang="en-US" sz="2800" dirty="0">
                <a:latin typeface="Calibri" panose="020F0502020204030204" pitchFamily="34" charset="0"/>
                <a:ea typeface="Calibri" panose="020F0502020204030204" pitchFamily="34" charset="0"/>
                <a:cs typeface="Calibri" panose="020F0502020204030204" pitchFamily="34" charset="0"/>
              </a:rPr>
              <a:t>Emergency response is delayed due to lack of immediate accident alerts and precise location data.</a:t>
            </a:r>
          </a:p>
          <a:p>
            <a:pPr algn="just"/>
            <a:r>
              <a:rPr lang="en-US" sz="2800" dirty="0">
                <a:latin typeface="Calibri" panose="020F0502020204030204" pitchFamily="34" charset="0"/>
                <a:ea typeface="Calibri" panose="020F0502020204030204" pitchFamily="34" charset="0"/>
                <a:cs typeface="Calibri" panose="020F0502020204030204" pitchFamily="34" charset="0"/>
              </a:rPr>
              <a:t>Existing solutions focus either on </a:t>
            </a:r>
            <a:r>
              <a:rPr lang="en-US" sz="2800" b="1" dirty="0">
                <a:latin typeface="Calibri" panose="020F0502020204030204" pitchFamily="34" charset="0"/>
                <a:ea typeface="Calibri" panose="020F0502020204030204" pitchFamily="34" charset="0"/>
                <a:cs typeface="Calibri" panose="020F0502020204030204" pitchFamily="34" charset="0"/>
              </a:rPr>
              <a:t>software-based analysis</a:t>
            </a:r>
            <a:r>
              <a:rPr lang="en-US" sz="2800" dirty="0">
                <a:latin typeface="Calibri" panose="020F0502020204030204" pitchFamily="34" charset="0"/>
                <a:ea typeface="Calibri" panose="020F0502020204030204" pitchFamily="34" charset="0"/>
                <a:cs typeface="Calibri" panose="020F0502020204030204" pitchFamily="34" charset="0"/>
              </a:rPr>
              <a:t> or </a:t>
            </a:r>
            <a:r>
              <a:rPr lang="en-US" sz="2800" b="1" dirty="0">
                <a:latin typeface="Calibri" panose="020F0502020204030204" pitchFamily="34" charset="0"/>
                <a:ea typeface="Calibri" panose="020F0502020204030204" pitchFamily="34" charset="0"/>
                <a:cs typeface="Calibri" panose="020F0502020204030204" pitchFamily="34" charset="0"/>
              </a:rPr>
              <a:t>hardware-based detection</a:t>
            </a:r>
            <a:r>
              <a:rPr lang="en-US" sz="2800" dirty="0">
                <a:latin typeface="Calibri" panose="020F0502020204030204" pitchFamily="34" charset="0"/>
                <a:ea typeface="Calibri" panose="020F0502020204030204" pitchFamily="34" charset="0"/>
                <a:cs typeface="Calibri" panose="020F0502020204030204" pitchFamily="34" charset="0"/>
              </a:rPr>
              <a:t>, but not both.</a:t>
            </a:r>
          </a:p>
          <a:p>
            <a:pPr algn="just"/>
            <a:r>
              <a:rPr lang="en-US" sz="2800" dirty="0">
                <a:latin typeface="Calibri" panose="020F0502020204030204" pitchFamily="34" charset="0"/>
                <a:ea typeface="Calibri" panose="020F0502020204030204" pitchFamily="34" charset="0"/>
                <a:cs typeface="Calibri" panose="020F0502020204030204" pitchFamily="34" charset="0"/>
              </a:rPr>
              <a:t>There is a need for an </a:t>
            </a:r>
            <a:r>
              <a:rPr lang="en-US" sz="2800" b="1" dirty="0">
                <a:latin typeface="Calibri" panose="020F0502020204030204" pitchFamily="34" charset="0"/>
                <a:ea typeface="Calibri" panose="020F0502020204030204" pitchFamily="34" charset="0"/>
                <a:cs typeface="Calibri" panose="020F0502020204030204" pitchFamily="34" charset="0"/>
              </a:rPr>
              <a:t>integrated system</a:t>
            </a:r>
            <a:r>
              <a:rPr lang="en-US" sz="2800" dirty="0">
                <a:latin typeface="Calibri" panose="020F0502020204030204" pitchFamily="34" charset="0"/>
                <a:ea typeface="Calibri" panose="020F0502020204030204" pitchFamily="34" charset="0"/>
                <a:cs typeface="Calibri" panose="020F0502020204030204" pitchFamily="34" charset="0"/>
              </a:rPr>
              <a:t> that can predict accident risk in advance and detect accidents instantly when they occur</a:t>
            </a:r>
            <a:r>
              <a:rPr lang="en-US" dirty="0"/>
              <a:t>.</a:t>
            </a:r>
          </a:p>
          <a:p>
            <a:endParaRPr lang="en-US" dirty="0"/>
          </a:p>
        </p:txBody>
      </p:sp>
    </p:spTree>
    <p:extLst>
      <p:ext uri="{BB962C8B-B14F-4D97-AF65-F5344CB8AC3E}">
        <p14:creationId xmlns:p14="http://schemas.microsoft.com/office/powerpoint/2010/main" val="32518105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CEC7F00-3133-0396-ADC8-F6E851880BB3}"/>
              </a:ext>
            </a:extLst>
          </p:cNvPr>
          <p:cNvSpPr txBox="1"/>
          <p:nvPr/>
        </p:nvSpPr>
        <p:spPr>
          <a:xfrm>
            <a:off x="297456" y="192354"/>
            <a:ext cx="3657600"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Existing System</a:t>
            </a:r>
            <a:endParaRPr lang="en-US" sz="32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B520E9B-834B-154B-D60D-9241941FCF06}"/>
              </a:ext>
            </a:extLst>
          </p:cNvPr>
          <p:cNvSpPr txBox="1"/>
          <p:nvPr/>
        </p:nvSpPr>
        <p:spPr>
          <a:xfrm>
            <a:off x="550843" y="1057619"/>
            <a:ext cx="13704983" cy="3970318"/>
          </a:xfrm>
          <a:prstGeom prst="rect">
            <a:avLst/>
          </a:prstGeom>
          <a:noFill/>
        </p:spPr>
        <p:txBody>
          <a:bodyPr wrap="square" rtlCol="0">
            <a:spAutoFit/>
          </a:bodyPr>
          <a:lstStyle/>
          <a:p>
            <a:pPr marL="457200" indent="-457200" algn="just">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CCTV-based surveillance systems detect accidents after occurrence.</a:t>
            </a:r>
          </a:p>
          <a:p>
            <a:endParaRPr lang="en-US" sz="2800" dirty="0">
              <a:latin typeface="Calibri" panose="020F0502020204030204" pitchFamily="34" charset="0"/>
              <a:ea typeface="Calibri" panose="020F0502020204030204" pitchFamily="34" charset="0"/>
              <a:cs typeface="Calibri" panose="020F0502020204030204" pitchFamily="34" charset="0"/>
            </a:endParaRPr>
          </a:p>
          <a:p>
            <a:pPr marL="457200" indent="-45720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Manual reporting by eyewitnesses or drivers causes delays.</a:t>
            </a:r>
          </a:p>
          <a:p>
            <a:endParaRPr lang="en-US" sz="2800" dirty="0">
              <a:latin typeface="Calibri" panose="020F0502020204030204" pitchFamily="34" charset="0"/>
              <a:ea typeface="Calibri" panose="020F0502020204030204" pitchFamily="34" charset="0"/>
              <a:cs typeface="Calibri" panose="020F0502020204030204" pitchFamily="34" charset="0"/>
            </a:endParaRPr>
          </a:p>
          <a:p>
            <a:pPr marL="457200" indent="-45720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Some vehicles use basic crash sensors without cloud connectivity.</a:t>
            </a:r>
          </a:p>
          <a:p>
            <a:endParaRPr lang="en-US" sz="2800" dirty="0">
              <a:latin typeface="Calibri" panose="020F0502020204030204" pitchFamily="34" charset="0"/>
              <a:ea typeface="Calibri" panose="020F0502020204030204" pitchFamily="34" charset="0"/>
              <a:cs typeface="Calibri" panose="020F0502020204030204" pitchFamily="34" charset="0"/>
            </a:endParaRPr>
          </a:p>
          <a:p>
            <a:pPr marL="457200" indent="-45720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GPS-based tracking systems only provide location data, not accident prediction.</a:t>
            </a:r>
          </a:p>
          <a:p>
            <a:endParaRPr lang="en-US" sz="2800" dirty="0">
              <a:latin typeface="Calibri" panose="020F0502020204030204" pitchFamily="34" charset="0"/>
              <a:ea typeface="Calibri" panose="020F0502020204030204" pitchFamily="34" charset="0"/>
              <a:cs typeface="Calibri" panose="020F0502020204030204" pitchFamily="34" charset="0"/>
            </a:endParaRPr>
          </a:p>
          <a:p>
            <a:endParaRPr lang="en-US" sz="2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509966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BBF6AC-C6A7-C6BE-9026-EC20279A991A}"/>
              </a:ext>
            </a:extLst>
          </p:cNvPr>
          <p:cNvSpPr txBox="1"/>
          <p:nvPr/>
        </p:nvSpPr>
        <p:spPr>
          <a:xfrm>
            <a:off x="341523" y="253389"/>
            <a:ext cx="13815152" cy="544764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Drawbacks of Existing System:</a:t>
            </a:r>
          </a:p>
          <a:p>
            <a:endParaRPr lang="en-US" sz="3200" b="1"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Late accident detection leads to delayed medical assistance.</a:t>
            </a:r>
          </a:p>
          <a:p>
            <a:pPr algn="just"/>
            <a:endParaRPr lang="en-US" sz="2800" dirty="0">
              <a:latin typeface="Calibri" panose="020F0502020204030204" pitchFamily="34" charset="0"/>
              <a:ea typeface="Calibri" panose="020F0502020204030204" pitchFamily="34" charset="0"/>
              <a:cs typeface="Calibri" panose="020F0502020204030204" pitchFamily="34" charset="0"/>
            </a:endParaRPr>
          </a:p>
          <a:p>
            <a:pPr marL="457200" indent="-457200" algn="just">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No prediction mechanism to prevent accidents beforehand.</a:t>
            </a:r>
          </a:p>
          <a:p>
            <a:pPr algn="just"/>
            <a:endParaRPr lang="en-US" sz="2800" dirty="0">
              <a:latin typeface="Calibri" panose="020F0502020204030204" pitchFamily="34" charset="0"/>
              <a:ea typeface="Calibri" panose="020F0502020204030204" pitchFamily="34" charset="0"/>
              <a:cs typeface="Calibri" panose="020F0502020204030204" pitchFamily="34" charset="0"/>
            </a:endParaRPr>
          </a:p>
          <a:p>
            <a:pPr marL="457200" indent="-457200" algn="just">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Lack of integration between AI models and real-world vehicle sensors.</a:t>
            </a:r>
          </a:p>
          <a:p>
            <a:pPr algn="just"/>
            <a:endParaRPr lang="en-US" sz="2800" dirty="0">
              <a:latin typeface="Calibri" panose="020F0502020204030204" pitchFamily="34" charset="0"/>
              <a:ea typeface="Calibri" panose="020F0502020204030204" pitchFamily="34" charset="0"/>
              <a:cs typeface="Calibri" panose="020F0502020204030204" pitchFamily="34" charset="0"/>
            </a:endParaRPr>
          </a:p>
          <a:p>
            <a:pPr marL="457200" indent="-457200" algn="just">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Limited automation in emergency alert generation.</a:t>
            </a:r>
          </a:p>
          <a:p>
            <a:pPr algn="just"/>
            <a:endParaRPr lang="en-US" sz="2800" dirty="0">
              <a:latin typeface="Calibri" panose="020F0502020204030204" pitchFamily="34" charset="0"/>
              <a:ea typeface="Calibri" panose="020F0502020204030204" pitchFamily="34" charset="0"/>
              <a:cs typeface="Calibri" panose="020F0502020204030204" pitchFamily="34" charset="0"/>
            </a:endParaRPr>
          </a:p>
          <a:p>
            <a:pPr marL="457200" indent="-457200" algn="just">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High dependency on human intervention.</a:t>
            </a:r>
          </a:p>
          <a:p>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75001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9611D49-7202-8247-DAE3-0BBD63A803FC}"/>
              </a:ext>
            </a:extLst>
          </p:cNvPr>
          <p:cNvSpPr txBox="1"/>
          <p:nvPr/>
        </p:nvSpPr>
        <p:spPr>
          <a:xfrm>
            <a:off x="451692" y="363557"/>
            <a:ext cx="13660915" cy="7540526"/>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Proposed System:</a:t>
            </a:r>
          </a:p>
          <a:p>
            <a:endParaRPr lang="en-US" sz="2800" dirty="0">
              <a:latin typeface="Calibri" panose="020F0502020204030204" pitchFamily="34" charset="0"/>
              <a:ea typeface="Calibri" panose="020F0502020204030204" pitchFamily="34" charset="0"/>
              <a:cs typeface="Calibri" panose="020F0502020204030204" pitchFamily="34" charset="0"/>
            </a:endParaRPr>
          </a:p>
          <a:p>
            <a:r>
              <a:rPr lang="en-US" sz="2800" b="1" dirty="0">
                <a:latin typeface="Calibri" panose="020F0502020204030204" pitchFamily="34" charset="0"/>
                <a:ea typeface="Calibri" panose="020F0502020204030204" pitchFamily="34" charset="0"/>
                <a:cs typeface="Calibri" panose="020F0502020204030204" pitchFamily="34" charset="0"/>
              </a:rPr>
              <a:t>1. Risk Prediction Module (Laptop-Based)</a:t>
            </a:r>
            <a:endParaRPr lang="en-US" sz="2800" dirty="0">
              <a:latin typeface="Calibri" panose="020F0502020204030204" pitchFamily="34" charset="0"/>
              <a:ea typeface="Calibri" panose="020F0502020204030204" pitchFamily="34" charset="0"/>
              <a:cs typeface="Calibri" panose="020F0502020204030204" pitchFamily="34" charset="0"/>
            </a:endParaRPr>
          </a:p>
          <a:p>
            <a:pPr marL="457200" indent="-45720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Uses real-time sensor telemetry and weather parameters (rain, wind speed, visibility) to estimate accident risk.</a:t>
            </a:r>
          </a:p>
          <a:p>
            <a:pPr marL="457200" indent="-45720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Generates early warning (PREALERT) when risk rises before an actual crash.</a:t>
            </a:r>
          </a:p>
          <a:p>
            <a:r>
              <a:rPr lang="en-US" sz="2800" b="1" dirty="0">
                <a:latin typeface="Calibri" panose="020F0502020204030204" pitchFamily="34" charset="0"/>
                <a:ea typeface="Calibri" panose="020F0502020204030204" pitchFamily="34" charset="0"/>
                <a:cs typeface="Calibri" panose="020F0502020204030204" pitchFamily="34" charset="0"/>
              </a:rPr>
              <a:t>2. Accident Detection Module (IoT-Based)</a:t>
            </a:r>
            <a:endParaRPr lang="en-US" sz="28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Uses ESP32 as the core controller.</a:t>
            </a:r>
          </a:p>
          <a:p>
            <a:pPr marL="285750" indent="-28575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MPU6050 detects sudden impact and vigorous shake.</a:t>
            </a:r>
          </a:p>
          <a:p>
            <a:pPr marL="285750" indent="-28575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Crash/limit switch supports physical crash confirmation.</a:t>
            </a:r>
          </a:p>
          <a:p>
            <a:pPr marL="285750" indent="-28575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GPS module provides real-time latitude and longitude.</a:t>
            </a:r>
          </a:p>
          <a:p>
            <a:pPr marL="285750" indent="-28575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Panic button enables manual emergency trigger.</a:t>
            </a:r>
          </a:p>
          <a:p>
            <a:pPr marL="285750" indent="-28575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Buzzer and LCD provide immediate local alerts.</a:t>
            </a:r>
          </a:p>
          <a:p>
            <a:r>
              <a:rPr lang="en-US" sz="2800" b="1" dirty="0">
                <a:latin typeface="Calibri" panose="020F0502020204030204" pitchFamily="34" charset="0"/>
                <a:ea typeface="Calibri" panose="020F0502020204030204" pitchFamily="34" charset="0"/>
                <a:cs typeface="Calibri" panose="020F0502020204030204" pitchFamily="34" charset="0"/>
              </a:rPr>
              <a:t>3. Alert and Monitoring Module</a:t>
            </a:r>
            <a:endParaRPr lang="en-US" sz="28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Sends emergency alerts through Telegram with severity and Google Maps link.</a:t>
            </a:r>
          </a:p>
          <a:p>
            <a:pPr marL="285750" indent="-28575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Displays live status on a web dashboard (HTML/CSS/JavaScript + JSON)</a:t>
            </a:r>
          </a:p>
          <a:p>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819434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BE4B7AE-B81F-934D-8D4D-C477710AF95B}"/>
              </a:ext>
            </a:extLst>
          </p:cNvPr>
          <p:cNvSpPr txBox="1"/>
          <p:nvPr/>
        </p:nvSpPr>
        <p:spPr>
          <a:xfrm>
            <a:off x="374573" y="374573"/>
            <a:ext cx="14002439" cy="4154984"/>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Advantages of Proposed System:</a:t>
            </a:r>
          </a:p>
          <a:p>
            <a:endParaRPr lang="en-US" sz="3200" b="1"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Real-time accident detection and prediction.</a:t>
            </a:r>
          </a:p>
          <a:p>
            <a:pPr marL="457200" indent="-457200" algn="just">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Faster emergency response through automated alerts.</a:t>
            </a:r>
          </a:p>
          <a:p>
            <a:pPr marL="457200" indent="-457200" algn="just">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Accurate location tracking using GPS.</a:t>
            </a:r>
          </a:p>
          <a:p>
            <a:pPr marL="457200" indent="-457200" algn="just">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Hybrid approach combining AI and IoT.</a:t>
            </a:r>
          </a:p>
          <a:p>
            <a:pPr marL="457200" indent="-457200" algn="just">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Scalable and cost-effective solution.</a:t>
            </a:r>
          </a:p>
          <a:p>
            <a:pPr marL="457200" indent="-457200" algn="just">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Reduced dependency on human reporting.</a:t>
            </a:r>
          </a:p>
          <a:p>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945711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3"/>
          <p:cNvSpPr/>
          <p:nvPr/>
        </p:nvSpPr>
        <p:spPr>
          <a:xfrm>
            <a:off x="666275" y="368550"/>
            <a:ext cx="11240100" cy="7041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2B3541"/>
              </a:buClr>
              <a:buSzPts val="4400"/>
              <a:buFont typeface="Times New Roman"/>
              <a:buNone/>
            </a:pPr>
            <a:r>
              <a:rPr lang="en-IN" sz="4400" dirty="0">
                <a:solidFill>
                  <a:srgbClr val="2B3541"/>
                </a:solidFill>
                <a:latin typeface="Times New Roman"/>
                <a:ea typeface="Times New Roman"/>
                <a:cs typeface="Times New Roman"/>
                <a:sym typeface="Times New Roman"/>
              </a:rPr>
              <a:t>Software and Hardware Specifications</a:t>
            </a:r>
            <a:endParaRPr dirty="0"/>
          </a:p>
        </p:txBody>
      </p:sp>
      <p:sp>
        <p:nvSpPr>
          <p:cNvPr id="97" name="Google Shape;97;p3"/>
          <p:cNvSpPr txBox="1"/>
          <p:nvPr/>
        </p:nvSpPr>
        <p:spPr>
          <a:xfrm>
            <a:off x="666274" y="1072574"/>
            <a:ext cx="12230700" cy="686337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IN" sz="2800" b="1" dirty="0">
                <a:solidFill>
                  <a:srgbClr val="2B3541"/>
                </a:solidFill>
                <a:latin typeface="Calibri" panose="020F0502020204030204" pitchFamily="34" charset="0"/>
                <a:ea typeface="Calibri" panose="020F0502020204030204" pitchFamily="34" charset="0"/>
                <a:cs typeface="Calibri" panose="020F0502020204030204" pitchFamily="34" charset="0"/>
                <a:sym typeface="Times New Roman"/>
              </a:rPr>
              <a:t>Software Requirements</a:t>
            </a:r>
            <a:r>
              <a:rPr lang="en-IN" sz="2800" b="1" dirty="0">
                <a:solidFill>
                  <a:srgbClr val="2B3541"/>
                </a:solidFill>
                <a:latin typeface="Calibri" panose="020F0502020204030204" pitchFamily="34" charset="0"/>
                <a:ea typeface="Calibri" panose="020F0502020204030204" pitchFamily="34" charset="0"/>
                <a:cs typeface="Calibri" panose="020F0502020204030204" pitchFamily="34" charset="0"/>
                <a:sym typeface="Funnel Display"/>
              </a:rPr>
              <a:t>:</a:t>
            </a:r>
            <a:endParaRPr sz="28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Programming Language: Python 3.10+</a:t>
            </a:r>
          </a:p>
          <a:p>
            <a:pPr marL="285750" indent="-28575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Embedded Firmware: Arduino (ESP32)</a:t>
            </a:r>
          </a:p>
          <a:p>
            <a:pPr marL="285750" indent="-28575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Python Libraries: </a:t>
            </a:r>
            <a:r>
              <a:rPr lang="en-US" sz="2400" dirty="0" err="1">
                <a:latin typeface="Calibri" panose="020F0502020204030204" pitchFamily="34" charset="0"/>
                <a:ea typeface="Calibri" panose="020F0502020204030204" pitchFamily="34" charset="0"/>
                <a:cs typeface="Calibri" panose="020F0502020204030204" pitchFamily="34" charset="0"/>
              </a:rPr>
              <a:t>pyserial</a:t>
            </a:r>
            <a:r>
              <a:rPr lang="en-US" sz="2400" dirty="0">
                <a:latin typeface="Calibri" panose="020F0502020204030204" pitchFamily="34" charset="0"/>
                <a:ea typeface="Calibri" panose="020F0502020204030204" pitchFamily="34" charset="0"/>
                <a:cs typeface="Calibri" panose="020F0502020204030204" pitchFamily="34" charset="0"/>
              </a:rPr>
              <a:t>, requests, python-</a:t>
            </a:r>
            <a:r>
              <a:rPr lang="en-US" sz="2400" dirty="0" err="1">
                <a:latin typeface="Calibri" panose="020F0502020204030204" pitchFamily="34" charset="0"/>
                <a:ea typeface="Calibri" panose="020F0502020204030204" pitchFamily="34" charset="0"/>
                <a:cs typeface="Calibri" panose="020F0502020204030204" pitchFamily="34" charset="0"/>
              </a:rPr>
              <a:t>dotenv</a:t>
            </a:r>
            <a:endParaRPr lang="en-US" sz="2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ESP32 Libraries: Wire, </a:t>
            </a:r>
            <a:r>
              <a:rPr lang="en-US" sz="2400" dirty="0" err="1">
                <a:latin typeface="Calibri" panose="020F0502020204030204" pitchFamily="34" charset="0"/>
                <a:ea typeface="Calibri" panose="020F0502020204030204" pitchFamily="34" charset="0"/>
                <a:cs typeface="Calibri" panose="020F0502020204030204" pitchFamily="34" charset="0"/>
              </a:rPr>
              <a:t>TinyGPS</a:t>
            </a:r>
            <a:r>
              <a:rPr lang="en-US" sz="2400" dirty="0">
                <a:latin typeface="Calibri" panose="020F0502020204030204" pitchFamily="34" charset="0"/>
                <a:ea typeface="Calibri" panose="020F0502020204030204" pitchFamily="34" charset="0"/>
                <a:cs typeface="Calibri" panose="020F0502020204030204" pitchFamily="34" charset="0"/>
              </a:rPr>
              <a:t>++, </a:t>
            </a:r>
            <a:r>
              <a:rPr lang="en-US" sz="2400" dirty="0" err="1">
                <a:latin typeface="Calibri" panose="020F0502020204030204" pitchFamily="34" charset="0"/>
                <a:ea typeface="Calibri" panose="020F0502020204030204" pitchFamily="34" charset="0"/>
                <a:cs typeface="Calibri" panose="020F0502020204030204" pitchFamily="34" charset="0"/>
              </a:rPr>
              <a:t>LiquidCrystal</a:t>
            </a:r>
            <a:endParaRPr lang="en-US" sz="2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APIs/Services: Open-</a:t>
            </a:r>
            <a:r>
              <a:rPr lang="en-US" sz="2400" dirty="0" err="1">
                <a:latin typeface="Calibri" panose="020F0502020204030204" pitchFamily="34" charset="0"/>
                <a:ea typeface="Calibri" panose="020F0502020204030204" pitchFamily="34" charset="0"/>
                <a:cs typeface="Calibri" panose="020F0502020204030204" pitchFamily="34" charset="0"/>
              </a:rPr>
              <a:t>Meteo</a:t>
            </a:r>
            <a:r>
              <a:rPr lang="en-US" sz="2400" dirty="0">
                <a:latin typeface="Calibri" panose="020F0502020204030204" pitchFamily="34" charset="0"/>
                <a:ea typeface="Calibri" panose="020F0502020204030204" pitchFamily="34" charset="0"/>
                <a:cs typeface="Calibri" panose="020F0502020204030204" pitchFamily="34" charset="0"/>
              </a:rPr>
              <a:t> Weather API, Telegram Bot API</a:t>
            </a:r>
          </a:p>
          <a:p>
            <a:pPr marL="285750" indent="-28575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Frontend: HTML, CSS, JavaScript (real-time dashboard via JSON)</a:t>
            </a:r>
          </a:p>
          <a:p>
            <a:pPr marL="285750" indent="-28575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Development Environment: Arduino IDE, VS Code / Command Prompt</a:t>
            </a:r>
          </a:p>
          <a:p>
            <a:pPr marL="285750" indent="-28575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Operating System: Windows 10/11</a:t>
            </a:r>
          </a:p>
          <a:p>
            <a:endParaRPr lang="en-US" sz="2400" dirty="0">
              <a:latin typeface="Calibri" panose="020F0502020204030204" pitchFamily="34" charset="0"/>
              <a:ea typeface="Calibri" panose="020F0502020204030204" pitchFamily="34" charset="0"/>
              <a:cs typeface="Calibri" panose="020F0502020204030204" pitchFamily="34" charset="0"/>
            </a:endParaRPr>
          </a:p>
          <a:p>
            <a:pPr marL="0" marR="0" lvl="0" indent="0" algn="just" rtl="0">
              <a:spcBef>
                <a:spcPts val="0"/>
              </a:spcBef>
              <a:spcAft>
                <a:spcPts val="0"/>
              </a:spcAft>
              <a:buNone/>
            </a:pPr>
            <a:r>
              <a:rPr lang="en-IN" sz="2800" b="1" dirty="0">
                <a:solidFill>
                  <a:srgbClr val="2B3541"/>
                </a:solidFill>
                <a:latin typeface="Calibri" panose="020F0502020204030204" pitchFamily="34" charset="0"/>
                <a:ea typeface="Calibri" panose="020F0502020204030204" pitchFamily="34" charset="0"/>
                <a:cs typeface="Calibri" panose="020F0502020204030204" pitchFamily="34" charset="0"/>
                <a:sym typeface="Times New Roman"/>
              </a:rPr>
              <a:t>Hardware Requirements:</a:t>
            </a:r>
            <a:endParaRPr lang="en-IN" sz="2800" b="1" dirty="0">
              <a:latin typeface="Calibri" panose="020F0502020204030204" pitchFamily="34" charset="0"/>
              <a:ea typeface="Calibri" panose="020F0502020204030204" pitchFamily="34" charset="0"/>
              <a:cs typeface="Calibri" panose="020F0502020204030204" pitchFamily="34" charset="0"/>
            </a:endParaRPr>
          </a:p>
          <a:p>
            <a:pPr marL="342900" marR="0" lvl="0" indent="-342900" rtl="0">
              <a:spcBef>
                <a:spcPts val="0"/>
              </a:spcBef>
              <a:spcAft>
                <a:spcPts val="0"/>
              </a:spcAft>
              <a:buFont typeface="Arial" panose="020B0604020202020204" pitchFamily="34" charset="0"/>
              <a:buChar char="•"/>
            </a:pPr>
            <a:r>
              <a:rPr lang="en-IN" sz="24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rPr>
              <a:t>Processor: Intel i5 / AMD </a:t>
            </a:r>
            <a:r>
              <a:rPr lang="en-IN" sz="2400" dirty="0" err="1">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rPr>
              <a:t>Ryzen</a:t>
            </a:r>
            <a:r>
              <a:rPr lang="en-IN" sz="24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rPr>
              <a:t> 5 or higher </a:t>
            </a:r>
            <a:endParaRPr lang="en-IN" sz="2400" dirty="0">
              <a:latin typeface="Calibri" panose="020F0502020204030204" pitchFamily="34" charset="0"/>
              <a:ea typeface="Calibri" panose="020F0502020204030204" pitchFamily="34" charset="0"/>
              <a:cs typeface="Calibri" panose="020F0502020204030204" pitchFamily="34" charset="0"/>
            </a:endParaRPr>
          </a:p>
          <a:p>
            <a:pPr marL="342900" marR="0" lvl="0" indent="-342900" rtl="0">
              <a:spcBef>
                <a:spcPts val="0"/>
              </a:spcBef>
              <a:spcAft>
                <a:spcPts val="0"/>
              </a:spcAft>
              <a:buFont typeface="Arial" panose="020B0604020202020204" pitchFamily="34" charset="0"/>
              <a:buChar char="•"/>
            </a:pPr>
            <a:r>
              <a:rPr lang="en-IN" sz="24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rPr>
              <a:t>RAM: 8 GB (16 GB recommended for deep learning training)</a:t>
            </a:r>
            <a:endParaRPr lang="en-IN" sz="2400" dirty="0">
              <a:latin typeface="Calibri" panose="020F0502020204030204" pitchFamily="34" charset="0"/>
              <a:ea typeface="Calibri" panose="020F0502020204030204" pitchFamily="34" charset="0"/>
              <a:cs typeface="Calibri" panose="020F0502020204030204" pitchFamily="34" charset="0"/>
            </a:endParaRPr>
          </a:p>
          <a:p>
            <a:pPr marL="342900" marR="0" lvl="0" indent="-342900" rtl="0">
              <a:spcBef>
                <a:spcPts val="0"/>
              </a:spcBef>
              <a:spcAft>
                <a:spcPts val="0"/>
              </a:spcAft>
              <a:buFont typeface="Arial" panose="020B0604020202020204" pitchFamily="34" charset="0"/>
              <a:buChar char="•"/>
            </a:pPr>
            <a:r>
              <a:rPr lang="en-IN" sz="24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rPr>
              <a:t>Storage: 256 GB SSD or more</a:t>
            </a:r>
            <a:endParaRPr lang="en-IN" sz="2400" dirty="0">
              <a:latin typeface="Calibri" panose="020F0502020204030204" pitchFamily="34" charset="0"/>
              <a:ea typeface="Calibri" panose="020F0502020204030204" pitchFamily="34" charset="0"/>
              <a:cs typeface="Calibri" panose="020F0502020204030204" pitchFamily="34" charset="0"/>
            </a:endParaRPr>
          </a:p>
          <a:p>
            <a:pPr marL="342900" marR="0" lvl="0" indent="-342900" rtl="0">
              <a:spcBef>
                <a:spcPts val="0"/>
              </a:spcBef>
              <a:spcAft>
                <a:spcPts val="0"/>
              </a:spcAft>
              <a:buFont typeface="Arial" panose="020B0604020202020204" pitchFamily="34" charset="0"/>
              <a:buChar char="•"/>
            </a:pPr>
            <a:r>
              <a:rPr lang="en-IN" sz="24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rPr>
              <a:t>ESP32 Microcontroller – for alert system</a:t>
            </a:r>
          </a:p>
          <a:p>
            <a:pPr marL="342900" marR="0" lvl="0" indent="-342900" rtl="0">
              <a:spcBef>
                <a:spcPts val="0"/>
              </a:spcBef>
              <a:spcAft>
                <a:spcPts val="0"/>
              </a:spcAft>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MPU6050 Accelerometer/Gyroscope</a:t>
            </a:r>
          </a:p>
          <a:p>
            <a:pPr marL="342900" marR="0" lvl="0" indent="-342900" rtl="0">
              <a:spcBef>
                <a:spcPts val="0"/>
              </a:spcBef>
              <a:spcAft>
                <a:spcPts val="0"/>
              </a:spcAft>
              <a:buFont typeface="Arial" panose="020B0604020202020204" pitchFamily="34" charset="0"/>
              <a:buChar char="•"/>
            </a:pPr>
            <a:endParaRPr lang="en-IN" sz="24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endParaRPr>
          </a:p>
          <a:p>
            <a:pPr marL="342900" marR="0" lvl="0" indent="-342900" rtl="0">
              <a:spcBef>
                <a:spcPts val="0"/>
              </a:spcBef>
              <a:spcAft>
                <a:spcPts val="0"/>
              </a:spcAft>
              <a:buFont typeface="Arial" panose="020B0604020202020204" pitchFamily="34" charset="0"/>
              <a:buChar char="•"/>
            </a:pPr>
            <a:endParaRPr lang="en-IN" sz="24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EDA8B5E-BC40-451C-336C-23AC3856FE67}"/>
              </a:ext>
            </a:extLst>
          </p:cNvPr>
          <p:cNvSpPr txBox="1"/>
          <p:nvPr/>
        </p:nvSpPr>
        <p:spPr>
          <a:xfrm>
            <a:off x="495759" y="683045"/>
            <a:ext cx="11589745" cy="3046988"/>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NEO-6M GPS Module + Antenna</a:t>
            </a:r>
          </a:p>
          <a:p>
            <a:pPr marL="342900" indent="-34290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16x2 LCD (JHD162A)</a:t>
            </a:r>
          </a:p>
          <a:p>
            <a:pPr marL="342900" indent="-34290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Active Buzzer</a:t>
            </a:r>
          </a:p>
          <a:p>
            <a:pPr marL="342900" indent="-34290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Crash/Limit Switch</a:t>
            </a:r>
          </a:p>
          <a:p>
            <a:pPr marL="342900" indent="-34290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Panic Push Button</a:t>
            </a:r>
          </a:p>
          <a:p>
            <a:pPr marL="342900" indent="-34290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DC Motor (demo vehicle simulation)</a:t>
            </a:r>
          </a:p>
          <a:p>
            <a:pPr marL="342900" indent="-34290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Power Supply: 5V (ESP32) and suitable motor supply via driver/transistor</a:t>
            </a:r>
          </a:p>
          <a:p>
            <a:pPr marL="342900" indent="-342900">
              <a:buFont typeface="Arial" panose="020B0604020202020204" pitchFamily="34" charset="0"/>
              <a:buChar char="•"/>
            </a:pPr>
            <a:endParaRPr lang="en-US" sz="2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627539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A3DA4BB-B647-F382-125E-87D438F59A32}"/>
              </a:ext>
            </a:extLst>
          </p:cNvPr>
          <p:cNvSpPr txBox="1"/>
          <p:nvPr/>
        </p:nvSpPr>
        <p:spPr>
          <a:xfrm>
            <a:off x="4505899" y="451692"/>
            <a:ext cx="5266062" cy="769441"/>
          </a:xfrm>
          <a:prstGeom prst="rect">
            <a:avLst/>
          </a:prstGeom>
          <a:noFill/>
        </p:spPr>
        <p:txBody>
          <a:bodyPr wrap="square" rtlCol="0">
            <a:spAutoFit/>
          </a:bodyPr>
          <a:lstStyle/>
          <a:p>
            <a:r>
              <a:rPr lang="en-US" sz="4400" b="1" dirty="0">
                <a:latin typeface="Times New Roman" panose="02020603050405020304" pitchFamily="18" charset="0"/>
                <a:cs typeface="Times New Roman" panose="02020603050405020304" pitchFamily="18" charset="0"/>
              </a:rPr>
              <a:t>Literature Survey </a:t>
            </a:r>
          </a:p>
        </p:txBody>
      </p:sp>
      <p:sp>
        <p:nvSpPr>
          <p:cNvPr id="5" name="TextBox 4">
            <a:extLst>
              <a:ext uri="{FF2B5EF4-FFF2-40B4-BE49-F238E27FC236}">
                <a16:creationId xmlns:a16="http://schemas.microsoft.com/office/drawing/2014/main" id="{81B407B4-D72D-67E2-B5D0-73F1BC0A114B}"/>
              </a:ext>
            </a:extLst>
          </p:cNvPr>
          <p:cNvSpPr txBox="1"/>
          <p:nvPr/>
        </p:nvSpPr>
        <p:spPr>
          <a:xfrm>
            <a:off x="203812" y="1355075"/>
            <a:ext cx="14222776" cy="5047536"/>
          </a:xfrm>
          <a:prstGeom prst="rect">
            <a:avLst/>
          </a:prstGeom>
          <a:noFill/>
        </p:spPr>
        <p:txBody>
          <a:bodyPr wrap="square" rtlCol="0">
            <a:spAutoFit/>
          </a:bodyPr>
          <a:lstStyle/>
          <a:p>
            <a:r>
              <a:rPr lang="en-US" sz="2800" dirty="0">
                <a:latin typeface="Calibri" panose="020F0502020204030204" pitchFamily="34" charset="0"/>
                <a:ea typeface="Calibri" panose="020F0502020204030204" pitchFamily="34" charset="0"/>
                <a:cs typeface="Calibri" panose="020F0502020204030204" pitchFamily="34" charset="0"/>
              </a:rPr>
              <a:t>Road accidents remain a major cause of fatalities, mainly due to delayed detection and delayed emergency communication. Traditional accident reporting methods depend on eyewitnesses or manual calls, which can increase response time in critical situations. Recent research has therefore focused on real-time, sensor-based accident monitoring using IoT platforms and embedded controllers.</a:t>
            </a:r>
          </a:p>
          <a:p>
            <a:r>
              <a:rPr lang="en-US" sz="2800" dirty="0">
                <a:latin typeface="Calibri" panose="020F0502020204030204" pitchFamily="34" charset="0"/>
                <a:ea typeface="Calibri" panose="020F0502020204030204" pitchFamily="34" charset="0"/>
                <a:cs typeface="Calibri" panose="020F0502020204030204" pitchFamily="34" charset="0"/>
              </a:rPr>
              <a:t>Many existing IoT systems use microcontrollers (such as ESP32), motion sensors, GPS modules, and alert units to detect collision events and transmit vehicle location. These systems improve response speed compared to manual reporting by automatically generating alerts when abnormal motion is detected. Studies also show that integrating multiple triggers (impact sensing, manual panic switch, and location tracking) improves practical reliability in real-world conditions.</a:t>
            </a:r>
          </a:p>
          <a:p>
            <a:pPr algn="just"/>
            <a:endParaRPr lang="en-US" dirty="0"/>
          </a:p>
        </p:txBody>
      </p:sp>
    </p:spTree>
    <p:extLst>
      <p:ext uri="{BB962C8B-B14F-4D97-AF65-F5344CB8AC3E}">
        <p14:creationId xmlns:p14="http://schemas.microsoft.com/office/powerpoint/2010/main" val="14722217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6E3DF2-CD4E-A440-E8EC-DB0275507799}"/>
              </a:ext>
            </a:extLst>
          </p:cNvPr>
          <p:cNvSpPr txBox="1"/>
          <p:nvPr/>
        </p:nvSpPr>
        <p:spPr>
          <a:xfrm>
            <a:off x="176270" y="550844"/>
            <a:ext cx="14454130" cy="5693866"/>
          </a:xfrm>
          <a:prstGeom prst="rect">
            <a:avLst/>
          </a:prstGeom>
          <a:noFill/>
        </p:spPr>
        <p:txBody>
          <a:bodyPr wrap="square" rtlCol="0">
            <a:spAutoFit/>
          </a:bodyPr>
          <a:lstStyle/>
          <a:p>
            <a:r>
              <a:rPr lang="en-US" sz="2800" dirty="0">
                <a:latin typeface="Calibri" panose="020F0502020204030204" pitchFamily="34" charset="0"/>
                <a:ea typeface="Calibri" panose="020F0502020204030204" pitchFamily="34" charset="0"/>
                <a:cs typeface="Calibri" panose="020F0502020204030204" pitchFamily="34" charset="0"/>
              </a:rPr>
              <a:t>A second line of work highlights risk-aware monitoring, where contextual factors such as weather and visibility are incorporated into the decision process. Adverse weather conditions, including rain, low visibility, and high wind, are known to increase driving risk and can be used to generate early warnings before an actual crash event.</a:t>
            </a:r>
          </a:p>
          <a:p>
            <a:r>
              <a:rPr lang="en-US" sz="2800" dirty="0">
                <a:latin typeface="Calibri" panose="020F0502020204030204" pitchFamily="34" charset="0"/>
                <a:ea typeface="Calibri" panose="020F0502020204030204" pitchFamily="34" charset="0"/>
                <a:cs typeface="Calibri" panose="020F0502020204030204" pitchFamily="34" charset="0"/>
              </a:rPr>
              <a:t>However, many existing solutions either focus only on post-impact detection or require computationally heavy vision pipelines. For low-cost deployments and MVP-scale implementation, a lightweight architecture that combines onboard sensing, contextual weather analysis, and instant messaging-based alerting is more practical.</a:t>
            </a:r>
          </a:p>
          <a:p>
            <a:r>
              <a:rPr lang="en-US" sz="2800" dirty="0">
                <a:latin typeface="Calibri" panose="020F0502020204030204" pitchFamily="34" charset="0"/>
                <a:ea typeface="Calibri" panose="020F0502020204030204" pitchFamily="34" charset="0"/>
                <a:cs typeface="Calibri" panose="020F0502020204030204" pitchFamily="34" charset="0"/>
              </a:rPr>
              <a:t>Based on these observations, the proposed system integrates ESP32 + MPU6050 + GPS based accident detection with weather-assisted risk prediction and Telegram-based emergency alerts. This hybrid approach provides early warning capability, immediate crash notification, and live location sharing through Google Maps links, improving real-time responsiveness and usability</a:t>
            </a:r>
          </a:p>
          <a:p>
            <a:pPr algn="just"/>
            <a:endParaRPr lang="en-US" sz="2800" b="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365655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EBA85A1-A7EB-8201-20F6-56C2E567D748}"/>
              </a:ext>
            </a:extLst>
          </p:cNvPr>
          <p:cNvSpPr txBox="1"/>
          <p:nvPr/>
        </p:nvSpPr>
        <p:spPr>
          <a:xfrm>
            <a:off x="638978" y="550843"/>
            <a:ext cx="4461832"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Block Diagram:</a:t>
            </a:r>
          </a:p>
        </p:txBody>
      </p:sp>
      <p:sp>
        <p:nvSpPr>
          <p:cNvPr id="5" name="TextBox 4">
            <a:extLst>
              <a:ext uri="{FF2B5EF4-FFF2-40B4-BE49-F238E27FC236}">
                <a16:creationId xmlns:a16="http://schemas.microsoft.com/office/drawing/2014/main" id="{640B8E90-7A20-4507-52BC-AF8AF1420477}"/>
              </a:ext>
            </a:extLst>
          </p:cNvPr>
          <p:cNvSpPr txBox="1"/>
          <p:nvPr/>
        </p:nvSpPr>
        <p:spPr>
          <a:xfrm>
            <a:off x="7182998" y="1621306"/>
            <a:ext cx="7105879" cy="523220"/>
          </a:xfrm>
          <a:prstGeom prst="rect">
            <a:avLst/>
          </a:prstGeom>
          <a:noFill/>
        </p:spPr>
        <p:txBody>
          <a:bodyPr wrap="square" rtlCol="0">
            <a:spAutoFit/>
          </a:bodyPr>
          <a:lstStyle/>
          <a:p>
            <a:endParaRPr lang="en-US" dirty="0"/>
          </a:p>
          <a:p>
            <a:endParaRPr lang="en-US" dirty="0"/>
          </a:p>
        </p:txBody>
      </p:sp>
      <p:sp>
        <p:nvSpPr>
          <p:cNvPr id="9" name="Rectangle 4">
            <a:extLst>
              <a:ext uri="{FF2B5EF4-FFF2-40B4-BE49-F238E27FC236}">
                <a16:creationId xmlns:a16="http://schemas.microsoft.com/office/drawing/2014/main" id="{B31A7E82-FCD6-F7B6-BDF1-996D16431D1C}"/>
              </a:ext>
            </a:extLst>
          </p:cNvPr>
          <p:cNvSpPr>
            <a:spLocks noChangeArrowheads="1"/>
          </p:cNvSpPr>
          <p:nvPr/>
        </p:nvSpPr>
        <p:spPr bwMode="auto">
          <a:xfrm>
            <a:off x="5982574" y="1021645"/>
            <a:ext cx="8647826" cy="6186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lgn="just">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The system uses an ESP32 microcontroller as the main control unit to manage hardware operations.</a:t>
            </a:r>
          </a:p>
          <a:p>
            <a:pPr marL="285750" indent="-285750" algn="just">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The power supply provides required electrical power to all components.</a:t>
            </a:r>
          </a:p>
          <a:p>
            <a:pPr marL="285750" indent="-285750" algn="just">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The MPU6050 sensor continuously monitors motion and impact patterns to identify abnormal events.</a:t>
            </a:r>
          </a:p>
          <a:p>
            <a:pPr marL="285750" indent="-285750" algn="just">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A crash(limit switch) provides physical crash confirmation input.</a:t>
            </a:r>
          </a:p>
          <a:p>
            <a:pPr marL="285750" indent="-285750" algn="just">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A panic button allows manual emergency triggering in critical situations.</a:t>
            </a:r>
          </a:p>
          <a:p>
            <a:pPr marL="285750" indent="-285750" algn="just">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The GPS module (NEO-6M) captures real-time vehicle location (latitude and longitude).</a:t>
            </a:r>
          </a:p>
          <a:p>
            <a:pPr marL="285750" indent="-285750" algn="just">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The ESP32 processes sensor data and sends telemetry to the laptop through serial communication.</a:t>
            </a:r>
          </a:p>
          <a:p>
            <a:pPr marL="285750" indent="-285750" algn="just">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The buzzer provides immediate local audio alert, and the LCD display shows system status and location.</a:t>
            </a:r>
          </a:p>
          <a:p>
            <a:pPr marL="285750" indent="-285750" algn="just">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The Python monitoring module performs risk prediction using sensor behavior and live weather conditions (rain, wind, visibility).</a:t>
            </a:r>
          </a:p>
          <a:p>
            <a:pPr marL="285750" indent="-285750" algn="just">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On risk or accident events, alerts are sent through Telegram with severity level and Google Maps location link.</a:t>
            </a:r>
          </a:p>
          <a:p>
            <a:pPr marL="285750" indent="-285750" algn="just">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A web dashboard (HTML/CSS/JavaScript + JSON) displays live status, severity, sensor values, weather, and location for quick monitoring.</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pic>
        <p:nvPicPr>
          <p:cNvPr id="8" name="Picture 7">
            <a:extLst>
              <a:ext uri="{FF2B5EF4-FFF2-40B4-BE49-F238E27FC236}">
                <a16:creationId xmlns:a16="http://schemas.microsoft.com/office/drawing/2014/main" id="{6015E90D-8074-F10C-2FD0-C850F7D997ED}"/>
              </a:ext>
            </a:extLst>
          </p:cNvPr>
          <p:cNvPicPr>
            <a:picLocks noChangeAspect="1"/>
          </p:cNvPicPr>
          <p:nvPr/>
        </p:nvPicPr>
        <p:blipFill>
          <a:blip r:embed="rId2"/>
          <a:srcRect/>
          <a:stretch/>
        </p:blipFill>
        <p:spPr>
          <a:xfrm>
            <a:off x="101463" y="1288972"/>
            <a:ext cx="5881111" cy="5651652"/>
          </a:xfrm>
          <a:prstGeom prst="rect">
            <a:avLst/>
          </a:prstGeom>
        </p:spPr>
      </p:pic>
    </p:spTree>
    <p:extLst>
      <p:ext uri="{BB962C8B-B14F-4D97-AF65-F5344CB8AC3E}">
        <p14:creationId xmlns:p14="http://schemas.microsoft.com/office/powerpoint/2010/main" val="19236098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BBAD16C-99C0-D5D8-256A-408508DA1BCD}"/>
              </a:ext>
            </a:extLst>
          </p:cNvPr>
          <p:cNvSpPr txBox="1"/>
          <p:nvPr/>
        </p:nvSpPr>
        <p:spPr>
          <a:xfrm>
            <a:off x="4990640" y="-16086"/>
            <a:ext cx="7337234"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UML DIAGRAMS</a:t>
            </a:r>
          </a:p>
        </p:txBody>
      </p:sp>
      <p:sp>
        <p:nvSpPr>
          <p:cNvPr id="6" name="TextBox 5">
            <a:extLst>
              <a:ext uri="{FF2B5EF4-FFF2-40B4-BE49-F238E27FC236}">
                <a16:creationId xmlns:a16="http://schemas.microsoft.com/office/drawing/2014/main" id="{1D432384-F173-56ED-C9E1-90C877DF3196}"/>
              </a:ext>
            </a:extLst>
          </p:cNvPr>
          <p:cNvSpPr txBox="1"/>
          <p:nvPr/>
        </p:nvSpPr>
        <p:spPr>
          <a:xfrm>
            <a:off x="88135" y="568689"/>
            <a:ext cx="4605051" cy="52322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      Flow Chart Diagram</a:t>
            </a:r>
          </a:p>
        </p:txBody>
      </p:sp>
      <p:pic>
        <p:nvPicPr>
          <p:cNvPr id="4" name="Picture 3">
            <a:extLst>
              <a:ext uri="{FF2B5EF4-FFF2-40B4-BE49-F238E27FC236}">
                <a16:creationId xmlns:a16="http://schemas.microsoft.com/office/drawing/2014/main" id="{20AD6732-A19B-F2BB-0C3E-71EFA6015519}"/>
              </a:ext>
            </a:extLst>
          </p:cNvPr>
          <p:cNvPicPr>
            <a:picLocks noChangeAspect="1"/>
          </p:cNvPicPr>
          <p:nvPr/>
        </p:nvPicPr>
        <p:blipFill>
          <a:blip r:embed="rId2"/>
          <a:stretch>
            <a:fillRect/>
          </a:stretch>
        </p:blipFill>
        <p:spPr>
          <a:xfrm>
            <a:off x="4882279" y="1244398"/>
            <a:ext cx="4605051" cy="5961142"/>
          </a:xfrm>
          <a:prstGeom prst="rect">
            <a:avLst/>
          </a:prstGeom>
        </p:spPr>
      </p:pic>
    </p:spTree>
    <p:extLst>
      <p:ext uri="{BB962C8B-B14F-4D97-AF65-F5344CB8AC3E}">
        <p14:creationId xmlns:p14="http://schemas.microsoft.com/office/powerpoint/2010/main" val="31284510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A45C4E7-5F21-18F0-A6DD-3522AA248BCB}"/>
              </a:ext>
            </a:extLst>
          </p:cNvPr>
          <p:cNvSpPr txBox="1"/>
          <p:nvPr/>
        </p:nvSpPr>
        <p:spPr>
          <a:xfrm>
            <a:off x="407624" y="209321"/>
            <a:ext cx="4682169" cy="584775"/>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Use Case Diagram</a:t>
            </a:r>
          </a:p>
        </p:txBody>
      </p:sp>
      <p:pic>
        <p:nvPicPr>
          <p:cNvPr id="5" name="Picture 4" descr="A yellow paper with blue ovals&#10;&#10;AI-generated content may be incorrect.">
            <a:extLst>
              <a:ext uri="{FF2B5EF4-FFF2-40B4-BE49-F238E27FC236}">
                <a16:creationId xmlns:a16="http://schemas.microsoft.com/office/drawing/2014/main" id="{FC97B0FC-BE90-0890-5726-AE757DA25BED}"/>
              </a:ext>
            </a:extLst>
          </p:cNvPr>
          <p:cNvPicPr>
            <a:picLocks noChangeAspect="1"/>
          </p:cNvPicPr>
          <p:nvPr/>
        </p:nvPicPr>
        <p:blipFill>
          <a:blip r:embed="rId2"/>
          <a:stretch>
            <a:fillRect/>
          </a:stretch>
        </p:blipFill>
        <p:spPr>
          <a:xfrm>
            <a:off x="1560289" y="1894901"/>
            <a:ext cx="11495352" cy="4439798"/>
          </a:xfrm>
          <a:prstGeom prst="rect">
            <a:avLst/>
          </a:prstGeom>
        </p:spPr>
      </p:pic>
    </p:spTree>
    <p:extLst>
      <p:ext uri="{BB962C8B-B14F-4D97-AF65-F5344CB8AC3E}">
        <p14:creationId xmlns:p14="http://schemas.microsoft.com/office/powerpoint/2010/main" val="38194758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ACC444-FB1C-13E9-577B-CE81BA950F16}"/>
              </a:ext>
            </a:extLst>
          </p:cNvPr>
          <p:cNvSpPr txBox="1"/>
          <p:nvPr/>
        </p:nvSpPr>
        <p:spPr>
          <a:xfrm>
            <a:off x="363557" y="297455"/>
            <a:ext cx="5761821" cy="584775"/>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Class Diagram</a:t>
            </a:r>
          </a:p>
        </p:txBody>
      </p:sp>
      <p:pic>
        <p:nvPicPr>
          <p:cNvPr id="4" name="Picture 3">
            <a:extLst>
              <a:ext uri="{FF2B5EF4-FFF2-40B4-BE49-F238E27FC236}">
                <a16:creationId xmlns:a16="http://schemas.microsoft.com/office/drawing/2014/main" id="{D618CA3A-FFF2-7EAF-FA59-31011EC39BDE}"/>
              </a:ext>
            </a:extLst>
          </p:cNvPr>
          <p:cNvPicPr>
            <a:picLocks noChangeAspect="1"/>
          </p:cNvPicPr>
          <p:nvPr/>
        </p:nvPicPr>
        <p:blipFill>
          <a:blip r:embed="rId2"/>
          <a:srcRect r="9010" b="2297"/>
          <a:stretch>
            <a:fillRect/>
          </a:stretch>
        </p:blipFill>
        <p:spPr>
          <a:xfrm>
            <a:off x="2364593" y="882230"/>
            <a:ext cx="9401422" cy="6091447"/>
          </a:xfrm>
          <a:prstGeom prst="rect">
            <a:avLst/>
          </a:prstGeom>
        </p:spPr>
      </p:pic>
    </p:spTree>
    <p:extLst>
      <p:ext uri="{BB962C8B-B14F-4D97-AF65-F5344CB8AC3E}">
        <p14:creationId xmlns:p14="http://schemas.microsoft.com/office/powerpoint/2010/main" val="18049317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17B75FE-0152-5636-C296-9D3D392B0059}"/>
              </a:ext>
            </a:extLst>
          </p:cNvPr>
          <p:cNvSpPr txBox="1"/>
          <p:nvPr/>
        </p:nvSpPr>
        <p:spPr>
          <a:xfrm>
            <a:off x="451692" y="275422"/>
            <a:ext cx="5949108" cy="584775"/>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Sequence Diagram</a:t>
            </a:r>
          </a:p>
        </p:txBody>
      </p:sp>
      <p:pic>
        <p:nvPicPr>
          <p:cNvPr id="4" name="Picture 3">
            <a:extLst>
              <a:ext uri="{FF2B5EF4-FFF2-40B4-BE49-F238E27FC236}">
                <a16:creationId xmlns:a16="http://schemas.microsoft.com/office/drawing/2014/main" id="{4C35C822-F086-D1A3-7DAB-ACF56BBA3CA0}"/>
              </a:ext>
            </a:extLst>
          </p:cNvPr>
          <p:cNvPicPr>
            <a:picLocks noChangeAspect="1"/>
          </p:cNvPicPr>
          <p:nvPr/>
        </p:nvPicPr>
        <p:blipFill>
          <a:blip r:embed="rId2"/>
          <a:srcRect t="17096" b="7500"/>
          <a:stretch>
            <a:fillRect/>
          </a:stretch>
        </p:blipFill>
        <p:spPr>
          <a:xfrm>
            <a:off x="1197138" y="860197"/>
            <a:ext cx="11993754" cy="4318612"/>
          </a:xfrm>
          <a:prstGeom prst="rect">
            <a:avLst/>
          </a:prstGeom>
        </p:spPr>
      </p:pic>
    </p:spTree>
    <p:extLst>
      <p:ext uri="{BB962C8B-B14F-4D97-AF65-F5344CB8AC3E}">
        <p14:creationId xmlns:p14="http://schemas.microsoft.com/office/powerpoint/2010/main" val="38192374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06A380E-2E0A-2E06-43A0-276F34FFAA5B}"/>
              </a:ext>
            </a:extLst>
          </p:cNvPr>
          <p:cNvSpPr txBox="1"/>
          <p:nvPr/>
        </p:nvSpPr>
        <p:spPr>
          <a:xfrm>
            <a:off x="517793" y="143219"/>
            <a:ext cx="5210978" cy="584775"/>
          </a:xfrm>
          <a:prstGeom prst="rect">
            <a:avLst/>
          </a:prstGeom>
          <a:noFill/>
        </p:spPr>
        <p:txBody>
          <a:bodyPr wrap="square" rtlCol="0">
            <a:spAutoFit/>
          </a:bodyPr>
          <a:lstStyle/>
          <a:p>
            <a:pPr algn="just"/>
            <a:r>
              <a:rPr lang="en-US" sz="3200" dirty="0">
                <a:latin typeface="Times New Roman" panose="02020603050405020304" pitchFamily="18" charset="0"/>
                <a:cs typeface="Times New Roman" panose="02020603050405020304" pitchFamily="18" charset="0"/>
              </a:rPr>
              <a:t>Activity Diagram</a:t>
            </a:r>
          </a:p>
        </p:txBody>
      </p:sp>
      <p:pic>
        <p:nvPicPr>
          <p:cNvPr id="5" name="Picture 4" descr="A diagram of a flowchart&#10;&#10;AI-generated content may be incorrect.">
            <a:extLst>
              <a:ext uri="{FF2B5EF4-FFF2-40B4-BE49-F238E27FC236}">
                <a16:creationId xmlns:a16="http://schemas.microsoft.com/office/drawing/2014/main" id="{46CE664F-4D0F-C98D-8C47-F713270F3234}"/>
              </a:ext>
            </a:extLst>
          </p:cNvPr>
          <p:cNvPicPr>
            <a:picLocks noChangeAspect="1"/>
          </p:cNvPicPr>
          <p:nvPr/>
        </p:nvPicPr>
        <p:blipFill>
          <a:blip r:embed="rId2"/>
          <a:stretch>
            <a:fillRect/>
          </a:stretch>
        </p:blipFill>
        <p:spPr>
          <a:xfrm>
            <a:off x="5233011" y="920349"/>
            <a:ext cx="3966073" cy="6388902"/>
          </a:xfrm>
          <a:prstGeom prst="rect">
            <a:avLst/>
          </a:prstGeom>
        </p:spPr>
      </p:pic>
    </p:spTree>
    <p:extLst>
      <p:ext uri="{BB962C8B-B14F-4D97-AF65-F5344CB8AC3E}">
        <p14:creationId xmlns:p14="http://schemas.microsoft.com/office/powerpoint/2010/main" val="13614994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FC57025-ADE5-ABE1-BCD9-6BD4A8F5E262}"/>
              </a:ext>
            </a:extLst>
          </p:cNvPr>
          <p:cNvSpPr txBox="1"/>
          <p:nvPr/>
        </p:nvSpPr>
        <p:spPr>
          <a:xfrm>
            <a:off x="341523" y="110168"/>
            <a:ext cx="6577070" cy="584775"/>
          </a:xfrm>
          <a:prstGeom prst="rect">
            <a:avLst/>
          </a:prstGeom>
          <a:noFill/>
        </p:spPr>
        <p:txBody>
          <a:bodyPr wrap="square" rtlCol="0">
            <a:spAutoFit/>
          </a:bodyPr>
          <a:lstStyle/>
          <a:p>
            <a:pPr algn="just"/>
            <a:r>
              <a:rPr lang="en-US" sz="3200" dirty="0">
                <a:latin typeface="Times New Roman" panose="02020603050405020304" pitchFamily="18" charset="0"/>
                <a:cs typeface="Times New Roman" panose="02020603050405020304" pitchFamily="18" charset="0"/>
              </a:rPr>
              <a:t>State Machine Diagram</a:t>
            </a:r>
          </a:p>
        </p:txBody>
      </p:sp>
      <p:pic>
        <p:nvPicPr>
          <p:cNvPr id="5" name="Picture 4" descr="A diagram of a machine&#10;&#10;AI-generated content may be incorrect.">
            <a:extLst>
              <a:ext uri="{FF2B5EF4-FFF2-40B4-BE49-F238E27FC236}">
                <a16:creationId xmlns:a16="http://schemas.microsoft.com/office/drawing/2014/main" id="{EDF591B3-3971-3870-73A6-7EA0DF10542E}"/>
              </a:ext>
            </a:extLst>
          </p:cNvPr>
          <p:cNvPicPr>
            <a:picLocks noChangeAspect="1"/>
          </p:cNvPicPr>
          <p:nvPr/>
        </p:nvPicPr>
        <p:blipFill>
          <a:blip r:embed="rId2"/>
          <a:stretch>
            <a:fillRect/>
          </a:stretch>
        </p:blipFill>
        <p:spPr>
          <a:xfrm>
            <a:off x="4516196" y="805111"/>
            <a:ext cx="5734998" cy="6381675"/>
          </a:xfrm>
          <a:prstGeom prst="rect">
            <a:avLst/>
          </a:prstGeom>
        </p:spPr>
      </p:pic>
    </p:spTree>
    <p:extLst>
      <p:ext uri="{BB962C8B-B14F-4D97-AF65-F5344CB8AC3E}">
        <p14:creationId xmlns:p14="http://schemas.microsoft.com/office/powerpoint/2010/main" val="12372685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FB98B03-8C6D-4CB5-F190-8F20F67705DF}"/>
              </a:ext>
            </a:extLst>
          </p:cNvPr>
          <p:cNvSpPr txBox="1"/>
          <p:nvPr/>
        </p:nvSpPr>
        <p:spPr>
          <a:xfrm>
            <a:off x="418640" y="220336"/>
            <a:ext cx="6444867" cy="584775"/>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Component Diagram</a:t>
            </a:r>
          </a:p>
        </p:txBody>
      </p:sp>
      <p:pic>
        <p:nvPicPr>
          <p:cNvPr id="4" name="Picture 3">
            <a:extLst>
              <a:ext uri="{FF2B5EF4-FFF2-40B4-BE49-F238E27FC236}">
                <a16:creationId xmlns:a16="http://schemas.microsoft.com/office/drawing/2014/main" id="{51CF8072-931D-361D-73B4-600275F47062}"/>
              </a:ext>
            </a:extLst>
          </p:cNvPr>
          <p:cNvPicPr>
            <a:picLocks noChangeAspect="1"/>
          </p:cNvPicPr>
          <p:nvPr/>
        </p:nvPicPr>
        <p:blipFill>
          <a:blip r:embed="rId2"/>
          <a:srcRect l="3743" t="11403" r="11411" b="-571"/>
          <a:stretch>
            <a:fillRect/>
          </a:stretch>
        </p:blipFill>
        <p:spPr>
          <a:xfrm>
            <a:off x="1531345" y="1112703"/>
            <a:ext cx="10819824" cy="5497417"/>
          </a:xfrm>
          <a:prstGeom prst="rect">
            <a:avLst/>
          </a:prstGeom>
        </p:spPr>
      </p:pic>
    </p:spTree>
    <p:extLst>
      <p:ext uri="{BB962C8B-B14F-4D97-AF65-F5344CB8AC3E}">
        <p14:creationId xmlns:p14="http://schemas.microsoft.com/office/powerpoint/2010/main" val="31949960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E967CC6-736A-85AD-755E-D1DEA7A5D00F}"/>
              </a:ext>
            </a:extLst>
          </p:cNvPr>
          <p:cNvSpPr txBox="1"/>
          <p:nvPr/>
        </p:nvSpPr>
        <p:spPr>
          <a:xfrm>
            <a:off x="484741" y="165254"/>
            <a:ext cx="5398265" cy="584775"/>
          </a:xfrm>
          <a:prstGeom prst="rect">
            <a:avLst/>
          </a:prstGeom>
          <a:noFill/>
        </p:spPr>
        <p:txBody>
          <a:bodyPr wrap="square" rtlCol="0">
            <a:spAutoFit/>
          </a:bodyPr>
          <a:lstStyle/>
          <a:p>
            <a:pPr algn="just"/>
            <a:r>
              <a:rPr lang="en-US" sz="3200" dirty="0">
                <a:latin typeface="Times New Roman" panose="02020603050405020304" pitchFamily="18" charset="0"/>
                <a:cs typeface="Times New Roman" panose="02020603050405020304" pitchFamily="18" charset="0"/>
              </a:rPr>
              <a:t>Deployment Diagram</a:t>
            </a:r>
          </a:p>
        </p:txBody>
      </p:sp>
      <p:pic>
        <p:nvPicPr>
          <p:cNvPr id="4" name="Picture 3">
            <a:extLst>
              <a:ext uri="{FF2B5EF4-FFF2-40B4-BE49-F238E27FC236}">
                <a16:creationId xmlns:a16="http://schemas.microsoft.com/office/drawing/2014/main" id="{65EB4827-0F27-00B3-DE5D-9D82AA613D1C}"/>
              </a:ext>
            </a:extLst>
          </p:cNvPr>
          <p:cNvPicPr>
            <a:picLocks noChangeAspect="1"/>
          </p:cNvPicPr>
          <p:nvPr/>
        </p:nvPicPr>
        <p:blipFill>
          <a:blip r:embed="rId2"/>
          <a:srcRect l="29865" t="9390" r="32018"/>
          <a:stretch>
            <a:fillRect/>
          </a:stretch>
        </p:blipFill>
        <p:spPr>
          <a:xfrm>
            <a:off x="3602517" y="881349"/>
            <a:ext cx="5398264" cy="6374935"/>
          </a:xfrm>
          <a:prstGeom prst="rect">
            <a:avLst/>
          </a:prstGeom>
        </p:spPr>
      </p:pic>
    </p:spTree>
    <p:extLst>
      <p:ext uri="{BB962C8B-B14F-4D97-AF65-F5344CB8AC3E}">
        <p14:creationId xmlns:p14="http://schemas.microsoft.com/office/powerpoint/2010/main" val="37238120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DA10133-6A7C-AAB7-2DA7-C87DC9379D89}"/>
              </a:ext>
            </a:extLst>
          </p:cNvPr>
          <p:cNvSpPr txBox="1"/>
          <p:nvPr/>
        </p:nvSpPr>
        <p:spPr>
          <a:xfrm>
            <a:off x="4505900" y="264404"/>
            <a:ext cx="6114361"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Project Implementation Steps</a:t>
            </a:r>
          </a:p>
        </p:txBody>
      </p:sp>
      <p:sp>
        <p:nvSpPr>
          <p:cNvPr id="6" name="TextBox 5">
            <a:extLst>
              <a:ext uri="{FF2B5EF4-FFF2-40B4-BE49-F238E27FC236}">
                <a16:creationId xmlns:a16="http://schemas.microsoft.com/office/drawing/2014/main" id="{A5E8C943-F18E-6CC4-ED84-DB5A41DA051A}"/>
              </a:ext>
            </a:extLst>
          </p:cNvPr>
          <p:cNvSpPr txBox="1"/>
          <p:nvPr/>
        </p:nvSpPr>
        <p:spPr>
          <a:xfrm>
            <a:off x="308474" y="787624"/>
            <a:ext cx="13848202" cy="3108543"/>
          </a:xfrm>
          <a:prstGeom prst="rect">
            <a:avLst/>
          </a:prstGeom>
          <a:noFill/>
        </p:spPr>
        <p:txBody>
          <a:bodyPr wrap="square" rtlCol="0">
            <a:spAutoFit/>
          </a:bodyPr>
          <a:lstStyle/>
          <a:p>
            <a:pPr marL="285750" indent="-285750">
              <a:buFont typeface="Arial" panose="020B0604020202020204" pitchFamily="34" charset="0"/>
              <a:buChar char="•"/>
            </a:pPr>
            <a:r>
              <a:rPr lang="en-US" sz="2800" b="1" dirty="0">
                <a:latin typeface="Calibri" panose="020F0502020204030204" pitchFamily="34" charset="0"/>
                <a:ea typeface="Calibri" panose="020F0502020204030204" pitchFamily="34" charset="0"/>
                <a:cs typeface="Calibri" panose="020F0502020204030204" pitchFamily="34" charset="0"/>
              </a:rPr>
              <a:t>STEP 1: ENVIRONMENT SETUP</a:t>
            </a:r>
            <a:endParaRPr lang="en-US" sz="28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Installed Python 3.10+ and Arduino IDE</a:t>
            </a:r>
          </a:p>
          <a:p>
            <a:pPr marL="285750" indent="-28575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Configured virtual environment for dependency management</a:t>
            </a:r>
          </a:p>
          <a:p>
            <a:pPr marL="285750" indent="-28575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Installed required Python libraries: </a:t>
            </a:r>
            <a:r>
              <a:rPr lang="en-US" sz="2800" dirty="0" err="1">
                <a:latin typeface="Calibri" panose="020F0502020204030204" pitchFamily="34" charset="0"/>
                <a:ea typeface="Calibri" panose="020F0502020204030204" pitchFamily="34" charset="0"/>
                <a:cs typeface="Calibri" panose="020F0502020204030204" pitchFamily="34" charset="0"/>
              </a:rPr>
              <a:t>pyserial</a:t>
            </a:r>
            <a:r>
              <a:rPr lang="en-US" sz="2800" dirty="0">
                <a:latin typeface="Calibri" panose="020F0502020204030204" pitchFamily="34" charset="0"/>
                <a:ea typeface="Calibri" panose="020F0502020204030204" pitchFamily="34" charset="0"/>
                <a:cs typeface="Calibri" panose="020F0502020204030204" pitchFamily="34" charset="0"/>
              </a:rPr>
              <a:t>, requests, python-</a:t>
            </a:r>
            <a:r>
              <a:rPr lang="en-US" sz="2800" dirty="0" err="1">
                <a:latin typeface="Calibri" panose="020F0502020204030204" pitchFamily="34" charset="0"/>
                <a:ea typeface="Calibri" panose="020F0502020204030204" pitchFamily="34" charset="0"/>
                <a:cs typeface="Calibri" panose="020F0502020204030204" pitchFamily="34" charset="0"/>
              </a:rPr>
              <a:t>dotenv</a:t>
            </a:r>
            <a:endParaRPr lang="en-US" sz="28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Configured .env for API keys, COM port, Telegram chat IDs, and runtime settings</a:t>
            </a:r>
          </a:p>
          <a:p>
            <a:pPr marL="285750" indent="-28575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Installed ESP32 libraries: Wire, </a:t>
            </a:r>
            <a:r>
              <a:rPr lang="en-US" sz="2800" dirty="0" err="1">
                <a:latin typeface="Calibri" panose="020F0502020204030204" pitchFamily="34" charset="0"/>
                <a:ea typeface="Calibri" panose="020F0502020204030204" pitchFamily="34" charset="0"/>
                <a:cs typeface="Calibri" panose="020F0502020204030204" pitchFamily="34" charset="0"/>
              </a:rPr>
              <a:t>TinyGPS</a:t>
            </a:r>
            <a:r>
              <a:rPr lang="en-US" sz="2800" dirty="0">
                <a:latin typeface="Calibri" panose="020F0502020204030204" pitchFamily="34" charset="0"/>
                <a:ea typeface="Calibri" panose="020F0502020204030204" pitchFamily="34" charset="0"/>
                <a:cs typeface="Calibri" panose="020F0502020204030204" pitchFamily="34" charset="0"/>
              </a:rPr>
              <a:t>++, </a:t>
            </a:r>
            <a:r>
              <a:rPr lang="en-US" sz="2800" dirty="0" err="1">
                <a:latin typeface="Calibri" panose="020F0502020204030204" pitchFamily="34" charset="0"/>
                <a:ea typeface="Calibri" panose="020F0502020204030204" pitchFamily="34" charset="0"/>
                <a:cs typeface="Calibri" panose="020F0502020204030204" pitchFamily="34" charset="0"/>
              </a:rPr>
              <a:t>LiquidCrystal</a:t>
            </a:r>
            <a:endParaRPr lang="en-US" sz="28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endParaRPr lang="en-US" sz="2800" dirty="0">
              <a:latin typeface="Calibri" panose="020F0502020204030204" pitchFamily="34" charset="0"/>
              <a:ea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AE4FB114-B9C3-C27E-985B-D46521546E32}"/>
              </a:ext>
            </a:extLst>
          </p:cNvPr>
          <p:cNvSpPr txBox="1"/>
          <p:nvPr/>
        </p:nvSpPr>
        <p:spPr>
          <a:xfrm>
            <a:off x="308474" y="3672929"/>
            <a:ext cx="11721947" cy="3970318"/>
          </a:xfrm>
          <a:prstGeom prst="rect">
            <a:avLst/>
          </a:prstGeom>
          <a:noFill/>
        </p:spPr>
        <p:txBody>
          <a:bodyPr wrap="square" rtlCol="0">
            <a:spAutoFit/>
          </a:bodyPr>
          <a:lstStyle/>
          <a:p>
            <a:pPr marL="285750" indent="-285750">
              <a:buFont typeface="Arial" panose="020B0604020202020204" pitchFamily="34" charset="0"/>
              <a:buChar char="•"/>
            </a:pPr>
            <a:r>
              <a:rPr lang="en-US" sz="2800" b="1" dirty="0">
                <a:latin typeface="Calibri" panose="020F0502020204030204" pitchFamily="34" charset="0"/>
                <a:ea typeface="Calibri" panose="020F0502020204030204" pitchFamily="34" charset="0"/>
                <a:cs typeface="Calibri" panose="020F0502020204030204" pitchFamily="34" charset="0"/>
              </a:rPr>
              <a:t>STEP 2: DATA PREPARATION / RISK INPUTS</a:t>
            </a:r>
            <a:endParaRPr lang="en-US" sz="28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Collected real-time IoT telemetry from ESP32: MPU6050, crash switch, panic button, GPS</a:t>
            </a:r>
          </a:p>
          <a:p>
            <a:pPr marL="285750" indent="-28575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Integrated live weather parameters (rain, wind speed, visibility) using Open-</a:t>
            </a:r>
            <a:r>
              <a:rPr lang="en-US" sz="2800" dirty="0" err="1">
                <a:latin typeface="Calibri" panose="020F0502020204030204" pitchFamily="34" charset="0"/>
                <a:ea typeface="Calibri" panose="020F0502020204030204" pitchFamily="34" charset="0"/>
                <a:cs typeface="Calibri" panose="020F0502020204030204" pitchFamily="34" charset="0"/>
              </a:rPr>
              <a:t>Meteo</a:t>
            </a:r>
            <a:r>
              <a:rPr lang="en-US" sz="2800" dirty="0">
                <a:latin typeface="Calibri" panose="020F0502020204030204" pitchFamily="34" charset="0"/>
                <a:ea typeface="Calibri" panose="020F0502020204030204" pitchFamily="34" charset="0"/>
                <a:cs typeface="Calibri" panose="020F0502020204030204" pitchFamily="34" charset="0"/>
              </a:rPr>
              <a:t> API</a:t>
            </a:r>
          </a:p>
          <a:p>
            <a:pPr marL="285750" indent="-28575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Defined severity mapping rules:</a:t>
            </a:r>
          </a:p>
          <a:p>
            <a:pPr marL="285750" lvl="1" indent="-28575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Crash switch trigger -&gt; </a:t>
            </a:r>
            <a:r>
              <a:rPr lang="en-US" sz="2800" b="1" dirty="0">
                <a:latin typeface="Calibri" panose="020F0502020204030204" pitchFamily="34" charset="0"/>
                <a:ea typeface="Calibri" panose="020F0502020204030204" pitchFamily="34" charset="0"/>
                <a:cs typeface="Calibri" panose="020F0502020204030204" pitchFamily="34" charset="0"/>
              </a:rPr>
              <a:t>LOW</a:t>
            </a:r>
            <a:endParaRPr lang="en-US" sz="2800" dirty="0">
              <a:latin typeface="Calibri" panose="020F0502020204030204" pitchFamily="34" charset="0"/>
              <a:ea typeface="Calibri" panose="020F0502020204030204" pitchFamily="34" charset="0"/>
              <a:cs typeface="Calibri" panose="020F0502020204030204" pitchFamily="34" charset="0"/>
            </a:endParaRPr>
          </a:p>
          <a:p>
            <a:pPr marL="285750" lvl="1" indent="-28575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Sudden impact -&gt; </a:t>
            </a:r>
            <a:r>
              <a:rPr lang="en-US" sz="2800" b="1" dirty="0">
                <a:latin typeface="Calibri" panose="020F0502020204030204" pitchFamily="34" charset="0"/>
                <a:ea typeface="Calibri" panose="020F0502020204030204" pitchFamily="34" charset="0"/>
                <a:cs typeface="Calibri" panose="020F0502020204030204" pitchFamily="34" charset="0"/>
              </a:rPr>
              <a:t>MEDIUM</a:t>
            </a:r>
            <a:endParaRPr lang="en-US" sz="2800"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Arial" panose="020B0604020202020204" pitchFamily="34" charset="0"/>
              <a:buChar char="•"/>
            </a:pPr>
            <a:endParaRPr lang="en-US" sz="2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852067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10206A-F8AD-C425-480D-ECB17AD0D252}"/>
              </a:ext>
            </a:extLst>
          </p:cNvPr>
          <p:cNvSpPr txBox="1"/>
          <p:nvPr/>
        </p:nvSpPr>
        <p:spPr>
          <a:xfrm>
            <a:off x="451692" y="312718"/>
            <a:ext cx="7271132" cy="3970318"/>
          </a:xfrm>
          <a:prstGeom prst="rect">
            <a:avLst/>
          </a:prstGeom>
          <a:noFill/>
        </p:spPr>
        <p:txBody>
          <a:bodyPr wrap="square" rtlCol="0">
            <a:spAutoFit/>
          </a:bodyPr>
          <a:lstStyle/>
          <a:p>
            <a:pPr marL="285750" lvl="1" indent="-28575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Vigorous MPU6050 shake -&gt; </a:t>
            </a:r>
            <a:r>
              <a:rPr lang="en-US" sz="2800" b="1" dirty="0">
                <a:latin typeface="Calibri" panose="020F0502020204030204" pitchFamily="34" charset="0"/>
                <a:ea typeface="Calibri" panose="020F0502020204030204" pitchFamily="34" charset="0"/>
                <a:cs typeface="Calibri" panose="020F0502020204030204" pitchFamily="34" charset="0"/>
              </a:rPr>
              <a:t>HIGH</a:t>
            </a:r>
            <a:endParaRPr lang="en-US" sz="28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Included optional LSTM sequence-risk input through </a:t>
            </a:r>
            <a:r>
              <a:rPr lang="en-US" sz="2800" dirty="0" err="1">
                <a:latin typeface="Calibri" panose="020F0502020204030204" pitchFamily="34" charset="0"/>
                <a:ea typeface="Calibri" panose="020F0502020204030204" pitchFamily="34" charset="0"/>
                <a:cs typeface="Calibri" panose="020F0502020204030204" pitchFamily="34" charset="0"/>
              </a:rPr>
              <a:t>vision_state.json</a:t>
            </a:r>
            <a:r>
              <a:rPr lang="en-US" sz="2800" dirty="0">
                <a:latin typeface="Calibri" panose="020F0502020204030204" pitchFamily="34" charset="0"/>
                <a:ea typeface="Calibri" panose="020F0502020204030204" pitchFamily="34" charset="0"/>
                <a:cs typeface="Calibri" panose="020F0502020204030204" pitchFamily="34" charset="0"/>
              </a:rPr>
              <a:t> bridge</a:t>
            </a:r>
          </a:p>
          <a:p>
            <a:pPr marL="285750" indent="-28575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Split dataset:</a:t>
            </a:r>
          </a:p>
          <a:p>
            <a:pPr marL="285750" lvl="1" indent="-28575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70% Training</a:t>
            </a:r>
          </a:p>
          <a:p>
            <a:pPr marL="285750" lvl="1" indent="-28575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15% Validation</a:t>
            </a:r>
          </a:p>
          <a:p>
            <a:pPr marL="285750" lvl="1" indent="-28575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15% Testing</a:t>
            </a:r>
          </a:p>
          <a:p>
            <a:pPr marL="285750" indent="-28575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Ensured balanced class distribution</a:t>
            </a:r>
          </a:p>
          <a:p>
            <a:endParaRPr lang="en-US" sz="2800" dirty="0"/>
          </a:p>
        </p:txBody>
      </p:sp>
      <p:sp>
        <p:nvSpPr>
          <p:cNvPr id="4" name="TextBox 3">
            <a:extLst>
              <a:ext uri="{FF2B5EF4-FFF2-40B4-BE49-F238E27FC236}">
                <a16:creationId xmlns:a16="http://schemas.microsoft.com/office/drawing/2014/main" id="{CB70C5CD-EB88-8090-3900-40285E4B0F5E}"/>
              </a:ext>
            </a:extLst>
          </p:cNvPr>
          <p:cNvSpPr txBox="1"/>
          <p:nvPr/>
        </p:nvSpPr>
        <p:spPr>
          <a:xfrm>
            <a:off x="451692" y="4114800"/>
            <a:ext cx="6422834" cy="3323987"/>
          </a:xfrm>
          <a:prstGeom prst="rect">
            <a:avLst/>
          </a:prstGeom>
          <a:noFill/>
        </p:spPr>
        <p:txBody>
          <a:bodyPr wrap="square" rtlCol="0">
            <a:spAutoFit/>
          </a:bodyPr>
          <a:lstStyle/>
          <a:p>
            <a:r>
              <a:rPr lang="en-US" sz="2800" b="1" dirty="0">
                <a:latin typeface="Calibri" panose="020F0502020204030204" pitchFamily="34" charset="0"/>
                <a:ea typeface="Calibri" panose="020F0502020204030204" pitchFamily="34" charset="0"/>
                <a:cs typeface="Calibri" panose="020F0502020204030204" pitchFamily="34" charset="0"/>
              </a:rPr>
              <a:t>Step 3:LSTM-BASED RISK MODEL </a:t>
            </a:r>
            <a:endParaRPr lang="en-US" sz="2800" dirty="0">
              <a:latin typeface="Calibri" panose="020F0502020204030204" pitchFamily="34" charset="0"/>
              <a:ea typeface="Calibri" panose="020F0502020204030204" pitchFamily="34" charset="0"/>
              <a:cs typeface="Calibri" panose="020F0502020204030204" pitchFamily="34" charset="0"/>
            </a:endParaRPr>
          </a:p>
          <a:p>
            <a:pPr marL="457200" indent="-45720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Used LSTM concept for temporal risk understanding (sequence-based behavior)</a:t>
            </a:r>
          </a:p>
          <a:p>
            <a:pPr marL="457200" indent="-45720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LSTM output represented as </a:t>
            </a:r>
            <a:r>
              <a:rPr lang="en-US" sz="2800" dirty="0" err="1">
                <a:latin typeface="Calibri" panose="020F0502020204030204" pitchFamily="34" charset="0"/>
                <a:ea typeface="Calibri" panose="020F0502020204030204" pitchFamily="34" charset="0"/>
                <a:cs typeface="Calibri" panose="020F0502020204030204" pitchFamily="34" charset="0"/>
              </a:rPr>
              <a:t>sequence_risk_prob</a:t>
            </a:r>
            <a:r>
              <a:rPr lang="en-US" sz="2800" dirty="0">
                <a:latin typeface="Calibri" panose="020F0502020204030204" pitchFamily="34" charset="0"/>
                <a:ea typeface="Calibri" panose="020F0502020204030204" pitchFamily="34" charset="0"/>
                <a:cs typeface="Calibri" panose="020F0502020204030204" pitchFamily="34" charset="0"/>
              </a:rPr>
              <a:t> in integrated pipeline</a:t>
            </a:r>
          </a:p>
          <a:p>
            <a:endParaRPr lang="en-US" dirty="0"/>
          </a:p>
        </p:txBody>
      </p:sp>
    </p:spTree>
    <p:extLst>
      <p:ext uri="{BB962C8B-B14F-4D97-AF65-F5344CB8AC3E}">
        <p14:creationId xmlns:p14="http://schemas.microsoft.com/office/powerpoint/2010/main" val="6819418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286AD4-2214-7470-9CBC-D769700C7201}"/>
              </a:ext>
            </a:extLst>
          </p:cNvPr>
          <p:cNvSpPr txBox="1"/>
          <p:nvPr/>
        </p:nvSpPr>
        <p:spPr>
          <a:xfrm>
            <a:off x="385590" y="421481"/>
            <a:ext cx="13275325" cy="2893100"/>
          </a:xfrm>
          <a:prstGeom prst="rect">
            <a:avLst/>
          </a:prstGeom>
          <a:noFill/>
        </p:spPr>
        <p:txBody>
          <a:bodyPr wrap="square" rtlCol="0">
            <a:spAutoFit/>
          </a:bodyPr>
          <a:lstStyle/>
          <a:p>
            <a:pPr marL="457200" indent="-45720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Current MVP combines:</a:t>
            </a:r>
          </a:p>
          <a:p>
            <a:pPr marL="457200" lvl="1" indent="-45720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Sensor event signals</a:t>
            </a:r>
          </a:p>
          <a:p>
            <a:pPr marL="457200" lvl="1" indent="-45720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Weather context</a:t>
            </a:r>
          </a:p>
          <a:p>
            <a:pPr marL="457200" lvl="1" indent="-45720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Optional LSTM sequence score</a:t>
            </a:r>
          </a:p>
          <a:p>
            <a:pPr marL="457200" lvl="1" indent="-45720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Final risk state generated as NORMAL, PREALERT, or ACCIDENT</a:t>
            </a:r>
          </a:p>
          <a:p>
            <a:pPr marL="457200" lvl="1" indent="-457200">
              <a:buFont typeface="Arial" panose="020B0604020202020204" pitchFamily="34" charset="0"/>
              <a:buChar char="•"/>
            </a:pPr>
            <a:endParaRPr lang="en-US" sz="28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endParaRPr lang="en-US" dirty="0"/>
          </a:p>
        </p:txBody>
      </p:sp>
      <p:sp>
        <p:nvSpPr>
          <p:cNvPr id="5" name="TextBox 4">
            <a:extLst>
              <a:ext uri="{FF2B5EF4-FFF2-40B4-BE49-F238E27FC236}">
                <a16:creationId xmlns:a16="http://schemas.microsoft.com/office/drawing/2014/main" id="{0C43B34F-E2EA-2E05-20FF-096FDCEE3009}"/>
              </a:ext>
            </a:extLst>
          </p:cNvPr>
          <p:cNvSpPr txBox="1"/>
          <p:nvPr/>
        </p:nvSpPr>
        <p:spPr>
          <a:xfrm>
            <a:off x="385590" y="2644049"/>
            <a:ext cx="9683826" cy="4401205"/>
          </a:xfrm>
          <a:prstGeom prst="rect">
            <a:avLst/>
          </a:prstGeom>
          <a:noFill/>
        </p:spPr>
        <p:txBody>
          <a:bodyPr wrap="square" rtlCol="0">
            <a:spAutoFit/>
          </a:bodyPr>
          <a:lstStyle/>
          <a:p>
            <a:r>
              <a:rPr lang="en-US" sz="2800" b="1" dirty="0">
                <a:latin typeface="Calibri" panose="020F0502020204030204" pitchFamily="34" charset="0"/>
                <a:ea typeface="Calibri" panose="020F0502020204030204" pitchFamily="34" charset="0"/>
                <a:cs typeface="Calibri" panose="020F0502020204030204" pitchFamily="34" charset="0"/>
              </a:rPr>
              <a:t>STEP 4: VALIDATION AND PERFORMANCE</a:t>
            </a:r>
            <a:endParaRPr lang="en-US" sz="2800" dirty="0">
              <a:latin typeface="Calibri" panose="020F0502020204030204" pitchFamily="34" charset="0"/>
              <a:ea typeface="Calibri" panose="020F0502020204030204" pitchFamily="34" charset="0"/>
              <a:cs typeface="Calibri" panose="020F0502020204030204" pitchFamily="34" charset="0"/>
            </a:endParaRPr>
          </a:p>
          <a:p>
            <a:pPr marL="457200" indent="-457200" algn="just">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Validated serial communication stability between ESP32 and Python monitor</a:t>
            </a:r>
          </a:p>
          <a:p>
            <a:pPr marL="457200" indent="-457200" algn="just">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Verified event transitions and severity mapping under multiple physical tests</a:t>
            </a:r>
          </a:p>
          <a:p>
            <a:pPr marL="457200" indent="-457200" algn="just">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Confirmed Telegram delivery and Google Maps link generation</a:t>
            </a:r>
          </a:p>
          <a:p>
            <a:pPr marL="457200" indent="-457200" algn="just">
              <a:buFont typeface="Arial" panose="020B0604020202020204" pitchFamily="34" charset="0"/>
              <a:buChar char="•"/>
            </a:pPr>
            <a:r>
              <a:rPr lang="en-US" sz="2800" b="1" dirty="0">
                <a:latin typeface="Calibri" panose="020F0502020204030204" pitchFamily="34" charset="0"/>
                <a:ea typeface="Calibri" panose="020F0502020204030204" pitchFamily="34" charset="0"/>
                <a:cs typeface="Calibri" panose="020F0502020204030204" pitchFamily="34" charset="0"/>
              </a:rPr>
              <a:t>Model benchmark retained from experimental training phase:</a:t>
            </a:r>
            <a:endParaRPr lang="en-US" sz="2800" dirty="0">
              <a:latin typeface="Calibri" panose="020F0502020204030204" pitchFamily="34" charset="0"/>
              <a:ea typeface="Calibri" panose="020F0502020204030204" pitchFamily="34" charset="0"/>
              <a:cs typeface="Calibri" panose="020F0502020204030204" pitchFamily="34" charset="0"/>
            </a:endParaRPr>
          </a:p>
          <a:p>
            <a:pPr marL="457200" lvl="1" indent="-457200" algn="just">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Final Accuracy: </a:t>
            </a:r>
            <a:r>
              <a:rPr lang="en-US" sz="2800" b="1" dirty="0">
                <a:latin typeface="Calibri" panose="020F0502020204030204" pitchFamily="34" charset="0"/>
                <a:ea typeface="Calibri" panose="020F0502020204030204" pitchFamily="34" charset="0"/>
                <a:cs typeface="Calibri" panose="020F0502020204030204" pitchFamily="34" charset="0"/>
              </a:rPr>
              <a:t>93.33%</a:t>
            </a:r>
            <a:endParaRPr lang="en-US" sz="2800" dirty="0">
              <a:latin typeface="Calibri" panose="020F0502020204030204" pitchFamily="34" charset="0"/>
              <a:ea typeface="Calibri" panose="020F0502020204030204" pitchFamily="34" charset="0"/>
              <a:cs typeface="Calibri" panose="020F0502020204030204" pitchFamily="34" charset="0"/>
            </a:endParaRPr>
          </a:p>
          <a:p>
            <a:endParaRPr lang="en-US" sz="2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823878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0E05D6D-754F-4E1B-E125-99E492EBC2B6}"/>
              </a:ext>
            </a:extLst>
          </p:cNvPr>
          <p:cNvSpPr txBox="1"/>
          <p:nvPr/>
        </p:nvSpPr>
        <p:spPr>
          <a:xfrm>
            <a:off x="578386" y="396606"/>
            <a:ext cx="13473629" cy="3108543"/>
          </a:xfrm>
          <a:prstGeom prst="rect">
            <a:avLst/>
          </a:prstGeom>
          <a:noFill/>
        </p:spPr>
        <p:txBody>
          <a:bodyPr wrap="square" rtlCol="0">
            <a:spAutoFit/>
          </a:bodyPr>
          <a:lstStyle/>
          <a:p>
            <a:r>
              <a:rPr lang="en-US" sz="2800" b="1" dirty="0">
                <a:latin typeface="Calibri" panose="020F0502020204030204" pitchFamily="34" charset="0"/>
                <a:ea typeface="Calibri" panose="020F0502020204030204" pitchFamily="34" charset="0"/>
                <a:cs typeface="Calibri" panose="020F0502020204030204" pitchFamily="34" charset="0"/>
              </a:rPr>
              <a:t>STEP 5: REAL-TIME EXECUTION</a:t>
            </a:r>
            <a:endParaRPr lang="en-US" sz="2800" dirty="0">
              <a:latin typeface="Calibri" panose="020F0502020204030204" pitchFamily="34" charset="0"/>
              <a:ea typeface="Calibri" panose="020F0502020204030204" pitchFamily="34" charset="0"/>
              <a:cs typeface="Calibri" panose="020F0502020204030204" pitchFamily="34" charset="0"/>
            </a:endParaRPr>
          </a:p>
          <a:p>
            <a:pPr marL="457200" indent="-457200" algn="just">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ESP32 streams JSON telemetry at runtime</a:t>
            </a:r>
          </a:p>
          <a:p>
            <a:pPr marL="457200" indent="-457200" algn="just">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Python monitor reads data and computes dynamic risk score</a:t>
            </a:r>
          </a:p>
          <a:p>
            <a:pPr marL="457200" indent="-457200" algn="just">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On PREALERT: early warning generated</a:t>
            </a:r>
          </a:p>
          <a:p>
            <a:pPr marL="457200" indent="-457200" algn="just">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On ACCIDENT: severity + GPS + Maps link sent via Telegram</a:t>
            </a:r>
          </a:p>
          <a:p>
            <a:pPr marL="457200" indent="-457200" algn="just">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Continuous terminal logging and heartbeat monitoring enabled</a:t>
            </a:r>
          </a:p>
          <a:p>
            <a:endParaRPr lang="en-US" sz="2800" dirty="0">
              <a:latin typeface="Calibri" panose="020F0502020204030204" pitchFamily="34" charset="0"/>
              <a:ea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86CB945D-641B-AD39-48DA-EF5E490DE737}"/>
              </a:ext>
            </a:extLst>
          </p:cNvPr>
          <p:cNvSpPr txBox="1"/>
          <p:nvPr/>
        </p:nvSpPr>
        <p:spPr>
          <a:xfrm>
            <a:off x="578385" y="3505149"/>
            <a:ext cx="7899094" cy="4401205"/>
          </a:xfrm>
          <a:prstGeom prst="rect">
            <a:avLst/>
          </a:prstGeom>
          <a:noFill/>
        </p:spPr>
        <p:txBody>
          <a:bodyPr wrap="square" rtlCol="0">
            <a:spAutoFit/>
          </a:bodyPr>
          <a:lstStyle/>
          <a:p>
            <a:r>
              <a:rPr lang="en-US" sz="2800" b="1" dirty="0">
                <a:latin typeface="Calibri" panose="020F0502020204030204" pitchFamily="34" charset="0"/>
                <a:ea typeface="Calibri" panose="020F0502020204030204" pitchFamily="34" charset="0"/>
                <a:cs typeface="Calibri" panose="020F0502020204030204" pitchFamily="34" charset="0"/>
              </a:rPr>
              <a:t>STEP 6: IoT HARDWARE INTEGRATION</a:t>
            </a:r>
            <a:endParaRPr lang="en-US" sz="2800" dirty="0">
              <a:latin typeface="Calibri" panose="020F0502020204030204" pitchFamily="34" charset="0"/>
              <a:ea typeface="Calibri" panose="020F0502020204030204" pitchFamily="34" charset="0"/>
              <a:cs typeface="Calibri" panose="020F0502020204030204" pitchFamily="34" charset="0"/>
            </a:endParaRPr>
          </a:p>
          <a:p>
            <a:pPr marL="457200" indent="-45720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ESP32 used as central controller</a:t>
            </a:r>
          </a:p>
          <a:p>
            <a:pPr marL="457200" indent="-45720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MPU6050 detects impact/motion anomalies</a:t>
            </a:r>
          </a:p>
          <a:p>
            <a:pPr marL="457200" indent="-45720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Crash switch provides physical accident confirmation</a:t>
            </a:r>
          </a:p>
          <a:p>
            <a:pPr marL="457200" indent="-45720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GPS provides latitude/longitude in real time</a:t>
            </a:r>
          </a:p>
          <a:p>
            <a:pPr marL="457200" indent="-45720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Buzzer and LCD provide immediate local alerts</a:t>
            </a:r>
          </a:p>
          <a:p>
            <a:pPr marL="457200" indent="-45720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Panic button supports manual emergency trigger</a:t>
            </a:r>
          </a:p>
          <a:p>
            <a:endParaRPr lang="en-US" sz="2800" dirty="0">
              <a:latin typeface="Calibri" panose="020F0502020204030204" pitchFamily="34" charset="0"/>
              <a:ea typeface="Calibri" panose="020F0502020204030204" pitchFamily="34" charset="0"/>
              <a:cs typeface="Calibri" panose="020F0502020204030204" pitchFamily="34" charset="0"/>
            </a:endParaRPr>
          </a:p>
          <a:p>
            <a:endParaRPr lang="en-US" sz="2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591074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7598FB5-B618-0A09-BD29-707D9B05B2E7}"/>
              </a:ext>
            </a:extLst>
          </p:cNvPr>
          <p:cNvSpPr txBox="1"/>
          <p:nvPr/>
        </p:nvSpPr>
        <p:spPr>
          <a:xfrm>
            <a:off x="661012" y="561165"/>
            <a:ext cx="13121089" cy="3970318"/>
          </a:xfrm>
          <a:prstGeom prst="rect">
            <a:avLst/>
          </a:prstGeom>
          <a:noFill/>
        </p:spPr>
        <p:txBody>
          <a:bodyPr wrap="square" rtlCol="0">
            <a:spAutoFit/>
          </a:bodyPr>
          <a:lstStyle/>
          <a:p>
            <a:r>
              <a:rPr lang="en-US" sz="2800" b="1" dirty="0">
                <a:latin typeface="Calibri" panose="020F0502020204030204" pitchFamily="34" charset="0"/>
                <a:ea typeface="Calibri" panose="020F0502020204030204" pitchFamily="34" charset="0"/>
                <a:cs typeface="Calibri" panose="020F0502020204030204" pitchFamily="34" charset="0"/>
              </a:rPr>
              <a:t>STEP 7: SYSTEM WORKFLOW</a:t>
            </a:r>
            <a:endParaRPr lang="en-US" sz="2800" dirty="0">
              <a:latin typeface="Calibri" panose="020F0502020204030204" pitchFamily="34" charset="0"/>
              <a:ea typeface="Calibri" panose="020F0502020204030204" pitchFamily="34" charset="0"/>
              <a:cs typeface="Calibri" panose="020F0502020204030204" pitchFamily="34" charset="0"/>
            </a:endParaRPr>
          </a:p>
          <a:p>
            <a:pPr marL="457200" indent="-45720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Sensor Data Captured (MPU6050 + switch + GPS)</a:t>
            </a:r>
          </a:p>
          <a:p>
            <a:pPr marL="457200" indent="-45720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Weather Context Fetched</a:t>
            </a:r>
          </a:p>
          <a:p>
            <a:pPr marL="457200" indent="-45720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LSTM Sequence Risk (optional input) + rule-based fusion</a:t>
            </a:r>
          </a:p>
          <a:p>
            <a:pPr marL="457200" indent="-45720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Risk Classification (NORMAL / PREALERT / ACCIDENT)</a:t>
            </a:r>
          </a:p>
          <a:p>
            <a:pPr marL="457200" indent="-45720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Severity Assignment (LOW / MEDIUM / HIGH)</a:t>
            </a:r>
          </a:p>
          <a:p>
            <a:pPr marL="457200" indent="-45720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Telegram Emergency Alert Sent with Google Maps link</a:t>
            </a:r>
          </a:p>
          <a:p>
            <a:pPr marL="457200" indent="-45720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Live Dashboard Updated (HTML/CSS/JS + JSON)</a:t>
            </a:r>
          </a:p>
          <a:p>
            <a:endParaRPr lang="en-US" sz="2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438010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421ADFA-2458-ADBF-2B98-31BB9B0E3E68}"/>
              </a:ext>
            </a:extLst>
          </p:cNvPr>
          <p:cNvSpPr txBox="1"/>
          <p:nvPr/>
        </p:nvSpPr>
        <p:spPr>
          <a:xfrm>
            <a:off x="341523" y="330506"/>
            <a:ext cx="13716000" cy="52322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SOFTWARE TESTING </a:t>
            </a:r>
          </a:p>
        </p:txBody>
      </p:sp>
      <p:sp>
        <p:nvSpPr>
          <p:cNvPr id="3" name="TextBox 2">
            <a:extLst>
              <a:ext uri="{FF2B5EF4-FFF2-40B4-BE49-F238E27FC236}">
                <a16:creationId xmlns:a16="http://schemas.microsoft.com/office/drawing/2014/main" id="{1792B4C3-F464-48D4-2C3F-3F4CE89F9556}"/>
              </a:ext>
            </a:extLst>
          </p:cNvPr>
          <p:cNvSpPr txBox="1"/>
          <p:nvPr/>
        </p:nvSpPr>
        <p:spPr>
          <a:xfrm>
            <a:off x="649995" y="1017634"/>
            <a:ext cx="13407528" cy="3108543"/>
          </a:xfrm>
          <a:prstGeom prst="rect">
            <a:avLst/>
          </a:prstGeom>
          <a:noFill/>
        </p:spPr>
        <p:txBody>
          <a:bodyPr wrap="square" rtlCol="0">
            <a:spAutoFit/>
          </a:bodyPr>
          <a:lstStyle/>
          <a:p>
            <a:r>
              <a:rPr lang="en-US" sz="2800" b="1" dirty="0">
                <a:latin typeface="Calibri" panose="020F0502020204030204" pitchFamily="34" charset="0"/>
                <a:ea typeface="Calibri" panose="020F0502020204030204" pitchFamily="34" charset="0"/>
                <a:cs typeface="Calibri" panose="020F0502020204030204" pitchFamily="34" charset="0"/>
              </a:rPr>
              <a:t>SOFTWARE TESTING STRATEGY</a:t>
            </a:r>
          </a:p>
          <a:p>
            <a:r>
              <a:rPr lang="en-US" sz="2800" dirty="0">
                <a:latin typeface="Calibri" panose="020F0502020204030204" pitchFamily="34" charset="0"/>
                <a:ea typeface="Calibri" panose="020F0502020204030204" pitchFamily="34" charset="0"/>
                <a:cs typeface="Calibri" panose="020F0502020204030204" pitchFamily="34" charset="0"/>
              </a:rPr>
              <a:t>The system was tested at multiple levels:</a:t>
            </a:r>
          </a:p>
          <a:p>
            <a:pPr marL="514350" indent="-514350">
              <a:buFont typeface="+mj-lt"/>
              <a:buAutoNum type="arabicPeriod"/>
            </a:pPr>
            <a:r>
              <a:rPr lang="en-US" sz="2800" dirty="0">
                <a:latin typeface="Calibri" panose="020F0502020204030204" pitchFamily="34" charset="0"/>
                <a:ea typeface="Calibri" panose="020F0502020204030204" pitchFamily="34" charset="0"/>
                <a:cs typeface="Calibri" panose="020F0502020204030204" pitchFamily="34" charset="0"/>
              </a:rPr>
              <a:t>Unit Testing</a:t>
            </a:r>
          </a:p>
          <a:p>
            <a:pPr marL="514350" indent="-514350">
              <a:buFont typeface="+mj-lt"/>
              <a:buAutoNum type="arabicPeriod"/>
            </a:pPr>
            <a:r>
              <a:rPr lang="en-US" sz="2800" dirty="0">
                <a:latin typeface="Calibri" panose="020F0502020204030204" pitchFamily="34" charset="0"/>
                <a:ea typeface="Calibri" panose="020F0502020204030204" pitchFamily="34" charset="0"/>
                <a:cs typeface="Calibri" panose="020F0502020204030204" pitchFamily="34" charset="0"/>
              </a:rPr>
              <a:t>Integration Testing</a:t>
            </a:r>
          </a:p>
          <a:p>
            <a:pPr marL="514350" indent="-514350">
              <a:buFont typeface="+mj-lt"/>
              <a:buAutoNum type="arabicPeriod"/>
            </a:pPr>
            <a:r>
              <a:rPr lang="en-US" sz="2800" dirty="0">
                <a:latin typeface="Calibri" panose="020F0502020204030204" pitchFamily="34" charset="0"/>
                <a:ea typeface="Calibri" panose="020F0502020204030204" pitchFamily="34" charset="0"/>
                <a:cs typeface="Calibri" panose="020F0502020204030204" pitchFamily="34" charset="0"/>
              </a:rPr>
              <a:t>Functional Testing</a:t>
            </a:r>
          </a:p>
          <a:p>
            <a:pPr marL="514350" indent="-514350">
              <a:buFont typeface="+mj-lt"/>
              <a:buAutoNum type="arabicPeriod"/>
            </a:pPr>
            <a:r>
              <a:rPr lang="en-US" sz="2800" dirty="0">
                <a:latin typeface="Calibri" panose="020F0502020204030204" pitchFamily="34" charset="0"/>
                <a:ea typeface="Calibri" panose="020F0502020204030204" pitchFamily="34" charset="0"/>
                <a:cs typeface="Calibri" panose="020F0502020204030204" pitchFamily="34" charset="0"/>
              </a:rPr>
              <a:t>Performance Testing</a:t>
            </a:r>
          </a:p>
          <a:p>
            <a:pPr marL="514350" indent="-514350">
              <a:buFont typeface="+mj-lt"/>
              <a:buAutoNum type="arabicPeriod"/>
            </a:pPr>
            <a:r>
              <a:rPr lang="en-US" sz="2800" dirty="0">
                <a:latin typeface="Calibri" panose="020F0502020204030204" pitchFamily="34" charset="0"/>
                <a:ea typeface="Calibri" panose="020F0502020204030204" pitchFamily="34" charset="0"/>
                <a:cs typeface="Calibri" panose="020F0502020204030204" pitchFamily="34" charset="0"/>
              </a:rPr>
              <a:t>Reliability / Failure Testing</a:t>
            </a:r>
          </a:p>
        </p:txBody>
      </p:sp>
      <p:sp>
        <p:nvSpPr>
          <p:cNvPr id="4" name="TextBox 3">
            <a:extLst>
              <a:ext uri="{FF2B5EF4-FFF2-40B4-BE49-F238E27FC236}">
                <a16:creationId xmlns:a16="http://schemas.microsoft.com/office/drawing/2014/main" id="{292DDDBB-CA81-2D95-B7EE-1B2342B164E6}"/>
              </a:ext>
            </a:extLst>
          </p:cNvPr>
          <p:cNvSpPr txBox="1"/>
          <p:nvPr/>
        </p:nvSpPr>
        <p:spPr>
          <a:xfrm>
            <a:off x="341523" y="4290085"/>
            <a:ext cx="13407528" cy="3108543"/>
          </a:xfrm>
          <a:prstGeom prst="rect">
            <a:avLst/>
          </a:prstGeom>
          <a:noFill/>
        </p:spPr>
        <p:txBody>
          <a:bodyPr wrap="square" rtlCol="0">
            <a:spAutoFit/>
          </a:bodyPr>
          <a:lstStyle/>
          <a:p>
            <a:pPr marL="457200" indent="-457200">
              <a:buFont typeface="Arial" panose="020B0604020202020204" pitchFamily="34" charset="0"/>
              <a:buChar char="•"/>
            </a:pPr>
            <a:r>
              <a:rPr lang="en-US" sz="2800" b="1" dirty="0">
                <a:latin typeface="Calibri" panose="020F0502020204030204" pitchFamily="34" charset="0"/>
                <a:ea typeface="Calibri" panose="020F0502020204030204" pitchFamily="34" charset="0"/>
                <a:cs typeface="Calibri" panose="020F0502020204030204" pitchFamily="34" charset="0"/>
              </a:rPr>
              <a:t>1. Unit Testing</a:t>
            </a:r>
            <a:endParaRPr lang="en-US" sz="2800" dirty="0">
              <a:latin typeface="Calibri" panose="020F0502020204030204" pitchFamily="34" charset="0"/>
              <a:ea typeface="Calibri" panose="020F0502020204030204" pitchFamily="34" charset="0"/>
              <a:cs typeface="Calibri" panose="020F0502020204030204" pitchFamily="34" charset="0"/>
            </a:endParaRPr>
          </a:p>
          <a:p>
            <a:pPr marL="457200" indent="-45720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ESP32 sensor acquisition validated (MPU6050, crash switch, panic button, GPS).</a:t>
            </a:r>
          </a:p>
          <a:p>
            <a:pPr marL="457200" indent="-45720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Accident trigger logic verified from motion and crash inputs.</a:t>
            </a:r>
          </a:p>
          <a:p>
            <a:pPr marL="457200" indent="-45720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Severity mapping validated: crash switch -&gt; LOW, sudden impact -&gt; MEDIUM, vigorous shake -&gt; HIGH.</a:t>
            </a:r>
          </a:p>
          <a:p>
            <a:pPr marL="457200" indent="-45720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Weather risk score rule evaluation verified.</a:t>
            </a:r>
          </a:p>
          <a:p>
            <a:pPr algn="just"/>
            <a:endParaRPr lang="en-US" sz="2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392036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FA70F8C-F3EC-63F9-AE5D-EE80B038F861}"/>
              </a:ext>
            </a:extLst>
          </p:cNvPr>
          <p:cNvSpPr txBox="1"/>
          <p:nvPr/>
        </p:nvSpPr>
        <p:spPr>
          <a:xfrm>
            <a:off x="743638" y="329148"/>
            <a:ext cx="13143123" cy="4124206"/>
          </a:xfrm>
          <a:prstGeom prst="rect">
            <a:avLst/>
          </a:prstGeom>
          <a:noFill/>
        </p:spPr>
        <p:txBody>
          <a:bodyPr wrap="square" rtlCol="0">
            <a:spAutoFit/>
          </a:bodyPr>
          <a:lstStyle/>
          <a:p>
            <a:r>
              <a:rPr lang="en-US" sz="2800" b="1" dirty="0">
                <a:latin typeface="Calibri" panose="020F0502020204030204" pitchFamily="34" charset="0"/>
                <a:ea typeface="Calibri" panose="020F0502020204030204" pitchFamily="34" charset="0"/>
                <a:cs typeface="Calibri" panose="020F0502020204030204" pitchFamily="34" charset="0"/>
              </a:rPr>
              <a:t>2. Integration Testing</a:t>
            </a:r>
            <a:endParaRPr lang="en-US" sz="2800" dirty="0">
              <a:latin typeface="Calibri" panose="020F0502020204030204" pitchFamily="34" charset="0"/>
              <a:ea typeface="Calibri" panose="020F0502020204030204" pitchFamily="34" charset="0"/>
              <a:cs typeface="Calibri" panose="020F0502020204030204" pitchFamily="34" charset="0"/>
            </a:endParaRPr>
          </a:p>
          <a:p>
            <a:pPr marL="457200" indent="-45720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Serial JSON telemetry from ESP32 to Python verified.</a:t>
            </a:r>
          </a:p>
          <a:p>
            <a:pPr marL="457200" indent="-45720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State command handshake tested (CMD:CLEAR, CMD:PREALERT, CMD:ACCIDENT, ACK).</a:t>
            </a:r>
          </a:p>
          <a:p>
            <a:pPr marL="457200" indent="-45720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Telegram API integration tested (</a:t>
            </a:r>
            <a:r>
              <a:rPr lang="en-US" sz="2800" dirty="0" err="1">
                <a:latin typeface="Calibri" panose="020F0502020204030204" pitchFamily="34" charset="0"/>
                <a:ea typeface="Calibri" panose="020F0502020204030204" pitchFamily="34" charset="0"/>
                <a:cs typeface="Calibri" panose="020F0502020204030204" pitchFamily="34" charset="0"/>
              </a:rPr>
              <a:t>sendMessage</a:t>
            </a:r>
            <a:r>
              <a:rPr lang="en-US" sz="2800" dirty="0">
                <a:latin typeface="Calibri" panose="020F0502020204030204" pitchFamily="34" charset="0"/>
                <a:ea typeface="Calibri" panose="020F0502020204030204" pitchFamily="34" charset="0"/>
                <a:cs typeface="Calibri" panose="020F0502020204030204" pitchFamily="34" charset="0"/>
              </a:rPr>
              <a:t>).</a:t>
            </a:r>
          </a:p>
          <a:p>
            <a:pPr marL="457200" indent="-45720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Dashboard live JSON update (</a:t>
            </a:r>
            <a:r>
              <a:rPr lang="en-US" sz="2800" dirty="0" err="1">
                <a:latin typeface="Calibri" panose="020F0502020204030204" pitchFamily="34" charset="0"/>
                <a:ea typeface="Calibri" panose="020F0502020204030204" pitchFamily="34" charset="0"/>
                <a:cs typeface="Calibri" panose="020F0502020204030204" pitchFamily="34" charset="0"/>
              </a:rPr>
              <a:t>live_state.json</a:t>
            </a:r>
            <a:r>
              <a:rPr lang="en-US" sz="2800" dirty="0">
                <a:latin typeface="Calibri" panose="020F0502020204030204" pitchFamily="34" charset="0"/>
                <a:ea typeface="Calibri" panose="020F0502020204030204" pitchFamily="34" charset="0"/>
                <a:cs typeface="Calibri" panose="020F0502020204030204" pitchFamily="34" charset="0"/>
              </a:rPr>
              <a:t>) verified.</a:t>
            </a:r>
          </a:p>
          <a:p>
            <a:pPr marL="457200" indent="-45720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Google Maps link generation from latitude/longitude verified.</a:t>
            </a:r>
          </a:p>
          <a:p>
            <a:pPr marL="457200" lvl="1" indent="-457200">
              <a:buFont typeface="Arial" panose="020B0604020202020204" pitchFamily="34" charset="0"/>
              <a:buChar char="•"/>
            </a:pPr>
            <a:endParaRPr lang="en-US" sz="28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endParaRPr lang="en-US" sz="2400" dirty="0">
              <a:latin typeface="Calibri" panose="020F0502020204030204" pitchFamily="34" charset="0"/>
              <a:ea typeface="Calibri" panose="020F0502020204030204" pitchFamily="34" charset="0"/>
              <a:cs typeface="Calibri" panose="020F0502020204030204" pitchFamily="34" charset="0"/>
            </a:endParaRPr>
          </a:p>
          <a:p>
            <a:endParaRPr lang="en-US" dirty="0"/>
          </a:p>
        </p:txBody>
      </p:sp>
      <p:sp>
        <p:nvSpPr>
          <p:cNvPr id="2" name="TextBox 1">
            <a:extLst>
              <a:ext uri="{FF2B5EF4-FFF2-40B4-BE49-F238E27FC236}">
                <a16:creationId xmlns:a16="http://schemas.microsoft.com/office/drawing/2014/main" id="{EA4CA7F7-01F1-94E6-1B1A-4D1B0C08606D}"/>
              </a:ext>
            </a:extLst>
          </p:cNvPr>
          <p:cNvSpPr txBox="1"/>
          <p:nvPr/>
        </p:nvSpPr>
        <p:spPr>
          <a:xfrm>
            <a:off x="743638" y="4114800"/>
            <a:ext cx="12349908" cy="2893100"/>
          </a:xfrm>
          <a:prstGeom prst="rect">
            <a:avLst/>
          </a:prstGeom>
          <a:noFill/>
        </p:spPr>
        <p:txBody>
          <a:bodyPr wrap="square" rtlCol="0">
            <a:spAutoFit/>
          </a:bodyPr>
          <a:lstStyle/>
          <a:p>
            <a:r>
              <a:rPr lang="en-US" sz="2800" dirty="0">
                <a:latin typeface="Calibri" panose="020F0502020204030204" pitchFamily="34" charset="0"/>
                <a:ea typeface="Calibri" panose="020F0502020204030204" pitchFamily="34" charset="0"/>
                <a:cs typeface="Calibri" panose="020F0502020204030204" pitchFamily="34" charset="0"/>
              </a:rPr>
              <a:t>3.</a:t>
            </a:r>
            <a:r>
              <a:rPr lang="en-US" sz="2800" b="1" dirty="0">
                <a:latin typeface="Calibri" panose="020F0502020204030204" pitchFamily="34" charset="0"/>
                <a:ea typeface="Calibri" panose="020F0502020204030204" pitchFamily="34" charset="0"/>
                <a:cs typeface="Calibri" panose="020F0502020204030204" pitchFamily="34" charset="0"/>
              </a:rPr>
              <a:t> Functional Testing</a:t>
            </a:r>
            <a:endParaRPr lang="en-US" sz="2800" dirty="0">
              <a:latin typeface="Calibri" panose="020F0502020204030204" pitchFamily="34" charset="0"/>
              <a:ea typeface="Calibri" panose="020F0502020204030204" pitchFamily="34" charset="0"/>
              <a:cs typeface="Calibri" panose="020F0502020204030204" pitchFamily="34" charset="0"/>
            </a:endParaRPr>
          </a:p>
          <a:p>
            <a:pPr marL="457200" indent="-45720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Crash switch trigger generated accident alert successfully.</a:t>
            </a:r>
          </a:p>
          <a:p>
            <a:pPr marL="457200" indent="-45720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Panic button manual trigger activated emergency alert successfully.</a:t>
            </a:r>
          </a:p>
          <a:p>
            <a:pPr marL="457200" indent="-45720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MPU6050 vigorous shake produced high-severity accident status.</a:t>
            </a:r>
          </a:p>
          <a:p>
            <a:pPr marL="457200" indent="-45720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LCD, buzzer, motor-stop, and dashboard outputs were verified during alert conditions</a:t>
            </a:r>
            <a:r>
              <a:rPr lang="en-US" dirty="0"/>
              <a:t>.</a:t>
            </a:r>
          </a:p>
          <a:p>
            <a:endParaRPr lang="en-US" dirty="0"/>
          </a:p>
        </p:txBody>
      </p:sp>
    </p:spTree>
    <p:extLst>
      <p:ext uri="{BB962C8B-B14F-4D97-AF65-F5344CB8AC3E}">
        <p14:creationId xmlns:p14="http://schemas.microsoft.com/office/powerpoint/2010/main" val="28943892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67B02CC-BAA3-394F-9596-7F198AC3F3A3}"/>
              </a:ext>
            </a:extLst>
          </p:cNvPr>
          <p:cNvSpPr txBox="1"/>
          <p:nvPr/>
        </p:nvSpPr>
        <p:spPr>
          <a:xfrm>
            <a:off x="605927" y="627961"/>
            <a:ext cx="11832116" cy="2677656"/>
          </a:xfrm>
          <a:prstGeom prst="rect">
            <a:avLst/>
          </a:prstGeom>
          <a:noFill/>
        </p:spPr>
        <p:txBody>
          <a:bodyPr wrap="square" rtlCol="0">
            <a:spAutoFit/>
          </a:bodyPr>
          <a:lstStyle/>
          <a:p>
            <a:r>
              <a:rPr lang="en-US" sz="2800" b="1" dirty="0">
                <a:latin typeface="Calibri" panose="020F0502020204030204" pitchFamily="34" charset="0"/>
                <a:ea typeface="Calibri" panose="020F0502020204030204" pitchFamily="34" charset="0"/>
                <a:cs typeface="Calibri" panose="020F0502020204030204" pitchFamily="34" charset="0"/>
              </a:rPr>
              <a:t>4. Performance Testing</a:t>
            </a:r>
            <a:endParaRPr lang="en-US" sz="2800" dirty="0">
              <a:latin typeface="Calibri" panose="020F0502020204030204" pitchFamily="34" charset="0"/>
              <a:ea typeface="Calibri" panose="020F0502020204030204" pitchFamily="34" charset="0"/>
              <a:cs typeface="Calibri" panose="020F0502020204030204" pitchFamily="34" charset="0"/>
            </a:endParaRPr>
          </a:p>
          <a:p>
            <a:pPr marL="457200" indent="-45720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Real-time telemetry processing verified under continuous sensor updates.</a:t>
            </a:r>
          </a:p>
          <a:p>
            <a:pPr marL="457200" indent="-45720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Alert response time observed to be suitable for demo-scale monitoring.</a:t>
            </a:r>
          </a:p>
          <a:p>
            <a:pPr marL="457200" indent="-45720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Training and validation accuracy of the stacked LSTM model were monitored during model development</a:t>
            </a:r>
            <a:r>
              <a:rPr lang="en-US" dirty="0"/>
              <a:t>.</a:t>
            </a:r>
          </a:p>
          <a:p>
            <a:endParaRPr lang="en-US" sz="2800" dirty="0">
              <a:latin typeface="Calibri" panose="020F0502020204030204" pitchFamily="34" charset="0"/>
              <a:ea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553A2850-F873-578E-A125-A9D03700C113}"/>
              </a:ext>
            </a:extLst>
          </p:cNvPr>
          <p:cNvSpPr txBox="1"/>
          <p:nvPr/>
        </p:nvSpPr>
        <p:spPr>
          <a:xfrm>
            <a:off x="738129" y="3558447"/>
            <a:ext cx="11567711" cy="2031325"/>
          </a:xfrm>
          <a:prstGeom prst="rect">
            <a:avLst/>
          </a:prstGeom>
          <a:noFill/>
        </p:spPr>
        <p:txBody>
          <a:bodyPr wrap="square" rtlCol="0">
            <a:spAutoFit/>
          </a:bodyPr>
          <a:lstStyle/>
          <a:p>
            <a:r>
              <a:rPr lang="en-US" sz="2800" b="1" dirty="0">
                <a:latin typeface="Calibri" panose="020F0502020204030204" pitchFamily="34" charset="0"/>
                <a:ea typeface="Calibri" panose="020F0502020204030204" pitchFamily="34" charset="0"/>
                <a:cs typeface="Calibri" panose="020F0502020204030204" pitchFamily="34" charset="0"/>
              </a:rPr>
              <a:t>5. Reliability / Failure Testing</a:t>
            </a:r>
            <a:endParaRPr lang="en-US" sz="2800" dirty="0">
              <a:latin typeface="Calibri" panose="020F0502020204030204" pitchFamily="34" charset="0"/>
              <a:ea typeface="Calibri" panose="020F0502020204030204" pitchFamily="34" charset="0"/>
              <a:cs typeface="Calibri" panose="020F0502020204030204" pitchFamily="34" charset="0"/>
            </a:endParaRPr>
          </a:p>
          <a:p>
            <a:pPr marL="457200" indent="-45720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GPS unavailable condition handled without application crash.</a:t>
            </a:r>
          </a:p>
          <a:p>
            <a:pPr marL="457200" indent="-45720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Internet / Telegram failure handled while local alerting continued.</a:t>
            </a:r>
          </a:p>
          <a:p>
            <a:pPr marL="457200" indent="-45720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System remained stable during repeated test runs and manual reset cycles</a:t>
            </a:r>
            <a:r>
              <a:rPr lang="en-US" dirty="0"/>
              <a:t>.</a:t>
            </a:r>
          </a:p>
          <a:p>
            <a:endParaRPr lang="en-US" dirty="0"/>
          </a:p>
        </p:txBody>
      </p:sp>
    </p:spTree>
    <p:extLst>
      <p:ext uri="{BB962C8B-B14F-4D97-AF65-F5344CB8AC3E}">
        <p14:creationId xmlns:p14="http://schemas.microsoft.com/office/powerpoint/2010/main" val="28665608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25E38FE9-C58C-7A9C-4F49-255485B38107}"/>
              </a:ext>
            </a:extLst>
          </p:cNvPr>
          <p:cNvGraphicFramePr>
            <a:graphicFrameLocks noGrp="1"/>
          </p:cNvGraphicFramePr>
          <p:nvPr>
            <p:extLst>
              <p:ext uri="{D42A27DB-BD31-4B8C-83A1-F6EECF244321}">
                <p14:modId xmlns:p14="http://schemas.microsoft.com/office/powerpoint/2010/main" val="3582518743"/>
              </p:ext>
            </p:extLst>
          </p:nvPr>
        </p:nvGraphicFramePr>
        <p:xfrm>
          <a:off x="1087915" y="298288"/>
          <a:ext cx="12454570" cy="6757199"/>
        </p:xfrm>
        <a:graphic>
          <a:graphicData uri="http://schemas.openxmlformats.org/drawingml/2006/table">
            <a:tbl>
              <a:tblPr firstRow="1" bandRow="1">
                <a:tableStyleId>{5C22544A-7EE6-4342-B048-85BDC9FD1C3A}</a:tableStyleId>
              </a:tblPr>
              <a:tblGrid>
                <a:gridCol w="4776215">
                  <a:extLst>
                    <a:ext uri="{9D8B030D-6E8A-4147-A177-3AD203B41FA5}">
                      <a16:colId xmlns:a16="http://schemas.microsoft.com/office/drawing/2014/main" val="2420775494"/>
                    </a:ext>
                  </a:extLst>
                </a:gridCol>
                <a:gridCol w="7678355">
                  <a:extLst>
                    <a:ext uri="{9D8B030D-6E8A-4147-A177-3AD203B41FA5}">
                      <a16:colId xmlns:a16="http://schemas.microsoft.com/office/drawing/2014/main" val="90391192"/>
                    </a:ext>
                  </a:extLst>
                </a:gridCol>
              </a:tblGrid>
              <a:tr h="1059563">
                <a:tc>
                  <a:txBody>
                    <a:bodyPr/>
                    <a:lstStyle/>
                    <a:p>
                      <a:pPr algn="just"/>
                      <a:endParaRPr lang="en-IN" b="1" dirty="0"/>
                    </a:p>
                  </a:txBody>
                  <a:tcPr/>
                </a:tc>
                <a:tc>
                  <a:txBody>
                    <a:bodyPr/>
                    <a:lstStyle/>
                    <a:p>
                      <a:pPr algn="just"/>
                      <a:endParaRPr lang="en-IN" b="1" dirty="0"/>
                    </a:p>
                  </a:txBody>
                  <a:tcPr/>
                </a:tc>
                <a:extLst>
                  <a:ext uri="{0D108BD9-81ED-4DB2-BD59-A6C34878D82A}">
                    <a16:rowId xmlns:a16="http://schemas.microsoft.com/office/drawing/2014/main" val="1543488890"/>
                  </a:ext>
                </a:extLst>
              </a:tr>
              <a:tr h="827709">
                <a:tc>
                  <a:txBody>
                    <a:bodyPr/>
                    <a:lstStyle/>
                    <a:p>
                      <a:pPr algn="just"/>
                      <a:r>
                        <a:rPr lang="en-IN" sz="2000" b="1" dirty="0"/>
                        <a:t>                    </a:t>
                      </a:r>
                    </a:p>
                  </a:txBody>
                  <a:tcPr/>
                </a:tc>
                <a:tc>
                  <a:txBody>
                    <a:bodyPr/>
                    <a:lstStyle/>
                    <a:p>
                      <a:pPr algn="just"/>
                      <a:endParaRPr lang="en-IN" b="1" dirty="0"/>
                    </a:p>
                  </a:txBody>
                  <a:tcPr/>
                </a:tc>
                <a:extLst>
                  <a:ext uri="{0D108BD9-81ED-4DB2-BD59-A6C34878D82A}">
                    <a16:rowId xmlns:a16="http://schemas.microsoft.com/office/drawing/2014/main" val="3311378231"/>
                  </a:ext>
                </a:extLst>
              </a:tr>
              <a:tr h="1240686">
                <a:tc>
                  <a:txBody>
                    <a:bodyPr/>
                    <a:lstStyle/>
                    <a:p>
                      <a:pPr algn="just"/>
                      <a:r>
                        <a:rPr lang="en-IN" sz="2000" b="1" dirty="0"/>
                        <a:t>                  </a:t>
                      </a:r>
                    </a:p>
                  </a:txBody>
                  <a:tcPr/>
                </a:tc>
                <a:tc>
                  <a:txBody>
                    <a:bodyPr/>
                    <a:lstStyle/>
                    <a:p>
                      <a:pPr algn="just"/>
                      <a:endParaRPr lang="en-IN" b="1" dirty="0"/>
                    </a:p>
                  </a:txBody>
                  <a:tcPr/>
                </a:tc>
                <a:extLst>
                  <a:ext uri="{0D108BD9-81ED-4DB2-BD59-A6C34878D82A}">
                    <a16:rowId xmlns:a16="http://schemas.microsoft.com/office/drawing/2014/main" val="3608251626"/>
                  </a:ext>
                </a:extLst>
              </a:tr>
              <a:tr h="1555346">
                <a:tc>
                  <a:txBody>
                    <a:bodyPr/>
                    <a:lstStyle/>
                    <a:p>
                      <a:pPr algn="just"/>
                      <a:r>
                        <a:rPr lang="en-IN" sz="2000" b="1" dirty="0"/>
                        <a:t>                </a:t>
                      </a:r>
                    </a:p>
                  </a:txBody>
                  <a:tcPr/>
                </a:tc>
                <a:tc>
                  <a:txBody>
                    <a:bodyPr/>
                    <a:lstStyle/>
                    <a:p>
                      <a:pPr algn="just"/>
                      <a:endParaRPr lang="en-IN" b="1" dirty="0"/>
                    </a:p>
                  </a:txBody>
                  <a:tcPr/>
                </a:tc>
                <a:extLst>
                  <a:ext uri="{0D108BD9-81ED-4DB2-BD59-A6C34878D82A}">
                    <a16:rowId xmlns:a16="http://schemas.microsoft.com/office/drawing/2014/main" val="3584109961"/>
                  </a:ext>
                </a:extLst>
              </a:tr>
              <a:tr h="1508288">
                <a:tc>
                  <a:txBody>
                    <a:bodyPr/>
                    <a:lstStyle/>
                    <a:p>
                      <a:pPr algn="just"/>
                      <a:r>
                        <a:rPr lang="en-IN" sz="2000" b="1" dirty="0"/>
                        <a:t>                 </a:t>
                      </a:r>
                    </a:p>
                  </a:txBody>
                  <a:tcPr/>
                </a:tc>
                <a:tc>
                  <a:txBody>
                    <a:bodyPr/>
                    <a:lstStyle/>
                    <a:p>
                      <a:pPr algn="just"/>
                      <a:endParaRPr lang="en-IN" b="1" dirty="0"/>
                    </a:p>
                  </a:txBody>
                  <a:tcPr/>
                </a:tc>
                <a:extLst>
                  <a:ext uri="{0D108BD9-81ED-4DB2-BD59-A6C34878D82A}">
                    <a16:rowId xmlns:a16="http://schemas.microsoft.com/office/drawing/2014/main" val="376483304"/>
                  </a:ext>
                </a:extLst>
              </a:tr>
              <a:tr h="565607">
                <a:tc>
                  <a:txBody>
                    <a:bodyPr/>
                    <a:lstStyle/>
                    <a:p>
                      <a:pPr algn="just"/>
                      <a:endParaRPr lang="en-IN" b="1" dirty="0"/>
                    </a:p>
                  </a:txBody>
                  <a:tcPr/>
                </a:tc>
                <a:tc>
                  <a:txBody>
                    <a:bodyPr/>
                    <a:lstStyle/>
                    <a:p>
                      <a:pPr algn="just"/>
                      <a:endParaRPr lang="en-IN" b="1" dirty="0"/>
                    </a:p>
                  </a:txBody>
                  <a:tcPr/>
                </a:tc>
                <a:extLst>
                  <a:ext uri="{0D108BD9-81ED-4DB2-BD59-A6C34878D82A}">
                    <a16:rowId xmlns:a16="http://schemas.microsoft.com/office/drawing/2014/main" val="2029611722"/>
                  </a:ext>
                </a:extLst>
              </a:tr>
            </a:tbl>
          </a:graphicData>
        </a:graphic>
      </p:graphicFrame>
      <p:sp>
        <p:nvSpPr>
          <p:cNvPr id="5" name="TextBox 4">
            <a:extLst>
              <a:ext uri="{FF2B5EF4-FFF2-40B4-BE49-F238E27FC236}">
                <a16:creationId xmlns:a16="http://schemas.microsoft.com/office/drawing/2014/main" id="{9BD49ADF-5CD0-541E-A96A-0CBAF5CE7AD4}"/>
              </a:ext>
            </a:extLst>
          </p:cNvPr>
          <p:cNvSpPr txBox="1"/>
          <p:nvPr/>
        </p:nvSpPr>
        <p:spPr>
          <a:xfrm>
            <a:off x="1980864" y="579631"/>
            <a:ext cx="1366080" cy="369332"/>
          </a:xfrm>
          <a:prstGeom prst="rect">
            <a:avLst/>
          </a:prstGeom>
          <a:noFill/>
        </p:spPr>
        <p:txBody>
          <a:bodyPr wrap="square" rtlCol="0">
            <a:spAutoFit/>
          </a:bodyPr>
          <a:lstStyle/>
          <a:p>
            <a:pPr algn="ctr"/>
            <a:r>
              <a:rPr lang="en-IN" sz="1800" b="1" dirty="0"/>
              <a:t>Test No</a:t>
            </a:r>
          </a:p>
        </p:txBody>
      </p:sp>
      <p:sp>
        <p:nvSpPr>
          <p:cNvPr id="6" name="TextBox 5">
            <a:extLst>
              <a:ext uri="{FF2B5EF4-FFF2-40B4-BE49-F238E27FC236}">
                <a16:creationId xmlns:a16="http://schemas.microsoft.com/office/drawing/2014/main" id="{E4D77BA6-EC7B-1100-2FEE-8E55F164676C}"/>
              </a:ext>
            </a:extLst>
          </p:cNvPr>
          <p:cNvSpPr txBox="1"/>
          <p:nvPr/>
        </p:nvSpPr>
        <p:spPr>
          <a:xfrm>
            <a:off x="9449375" y="579631"/>
            <a:ext cx="441146" cy="369332"/>
          </a:xfrm>
          <a:prstGeom prst="rect">
            <a:avLst/>
          </a:prstGeom>
          <a:noFill/>
        </p:spPr>
        <p:txBody>
          <a:bodyPr wrap="none" rtlCol="0">
            <a:spAutoFit/>
          </a:bodyPr>
          <a:lstStyle/>
          <a:p>
            <a:r>
              <a:rPr lang="en-IN" sz="1800" b="1" dirty="0"/>
              <a:t>01</a:t>
            </a:r>
          </a:p>
        </p:txBody>
      </p:sp>
      <p:sp>
        <p:nvSpPr>
          <p:cNvPr id="8" name="TextBox 7">
            <a:extLst>
              <a:ext uri="{FF2B5EF4-FFF2-40B4-BE49-F238E27FC236}">
                <a16:creationId xmlns:a16="http://schemas.microsoft.com/office/drawing/2014/main" id="{22EAD5C6-6F24-37A8-B85C-1615C7E23797}"/>
              </a:ext>
            </a:extLst>
          </p:cNvPr>
          <p:cNvSpPr txBox="1"/>
          <p:nvPr/>
        </p:nvSpPr>
        <p:spPr>
          <a:xfrm>
            <a:off x="2091700" y="1595899"/>
            <a:ext cx="1415772" cy="369332"/>
          </a:xfrm>
          <a:prstGeom prst="rect">
            <a:avLst/>
          </a:prstGeom>
          <a:noFill/>
        </p:spPr>
        <p:txBody>
          <a:bodyPr wrap="none" rtlCol="0">
            <a:spAutoFit/>
          </a:bodyPr>
          <a:lstStyle/>
          <a:p>
            <a:pPr algn="ctr"/>
            <a:r>
              <a:rPr lang="en-IN" sz="1800" b="1" dirty="0"/>
              <a:t> Test Name</a:t>
            </a:r>
          </a:p>
        </p:txBody>
      </p:sp>
      <p:sp>
        <p:nvSpPr>
          <p:cNvPr id="9" name="TextBox 8">
            <a:extLst>
              <a:ext uri="{FF2B5EF4-FFF2-40B4-BE49-F238E27FC236}">
                <a16:creationId xmlns:a16="http://schemas.microsoft.com/office/drawing/2014/main" id="{C8EF2D1B-8178-9594-A908-053958BF060F}"/>
              </a:ext>
            </a:extLst>
          </p:cNvPr>
          <p:cNvSpPr txBox="1"/>
          <p:nvPr/>
        </p:nvSpPr>
        <p:spPr>
          <a:xfrm>
            <a:off x="2044973" y="2703405"/>
            <a:ext cx="1697901" cy="369332"/>
          </a:xfrm>
          <a:prstGeom prst="rect">
            <a:avLst/>
          </a:prstGeom>
          <a:noFill/>
        </p:spPr>
        <p:txBody>
          <a:bodyPr wrap="none" rtlCol="0">
            <a:spAutoFit/>
          </a:bodyPr>
          <a:lstStyle/>
          <a:p>
            <a:r>
              <a:rPr lang="en-IN" sz="1800" b="1" dirty="0"/>
              <a:t>Test Scenario</a:t>
            </a:r>
          </a:p>
        </p:txBody>
      </p:sp>
      <p:sp>
        <p:nvSpPr>
          <p:cNvPr id="10" name="TextBox 9">
            <a:extLst>
              <a:ext uri="{FF2B5EF4-FFF2-40B4-BE49-F238E27FC236}">
                <a16:creationId xmlns:a16="http://schemas.microsoft.com/office/drawing/2014/main" id="{123FB5F2-3785-13A4-D5A2-E689C8C068C0}"/>
              </a:ext>
            </a:extLst>
          </p:cNvPr>
          <p:cNvSpPr txBox="1"/>
          <p:nvPr/>
        </p:nvSpPr>
        <p:spPr>
          <a:xfrm>
            <a:off x="1980864" y="4156886"/>
            <a:ext cx="2031325" cy="369332"/>
          </a:xfrm>
          <a:prstGeom prst="rect">
            <a:avLst/>
          </a:prstGeom>
          <a:noFill/>
        </p:spPr>
        <p:txBody>
          <a:bodyPr wrap="none" rtlCol="0">
            <a:spAutoFit/>
          </a:bodyPr>
          <a:lstStyle/>
          <a:p>
            <a:r>
              <a:rPr lang="en-IN" sz="1800" b="1" dirty="0"/>
              <a:t>Expected Output</a:t>
            </a:r>
            <a:endParaRPr lang="en-IN" sz="1800" dirty="0"/>
          </a:p>
        </p:txBody>
      </p:sp>
      <p:sp>
        <p:nvSpPr>
          <p:cNvPr id="12" name="TextBox 11">
            <a:extLst>
              <a:ext uri="{FF2B5EF4-FFF2-40B4-BE49-F238E27FC236}">
                <a16:creationId xmlns:a16="http://schemas.microsoft.com/office/drawing/2014/main" id="{7AC172D6-F3F3-A7F5-20D5-6D6BF5291778}"/>
              </a:ext>
            </a:extLst>
          </p:cNvPr>
          <p:cNvSpPr txBox="1"/>
          <p:nvPr/>
        </p:nvSpPr>
        <p:spPr>
          <a:xfrm>
            <a:off x="2253363" y="5594978"/>
            <a:ext cx="1710725" cy="369332"/>
          </a:xfrm>
          <a:prstGeom prst="rect">
            <a:avLst/>
          </a:prstGeom>
          <a:noFill/>
        </p:spPr>
        <p:txBody>
          <a:bodyPr wrap="none" rtlCol="0">
            <a:spAutoFit/>
          </a:bodyPr>
          <a:lstStyle/>
          <a:p>
            <a:r>
              <a:rPr lang="en-IN" sz="1800" b="1" dirty="0"/>
              <a:t>Actual Output</a:t>
            </a:r>
            <a:endParaRPr lang="en-IN" sz="1800" dirty="0"/>
          </a:p>
        </p:txBody>
      </p:sp>
      <p:sp>
        <p:nvSpPr>
          <p:cNvPr id="13" name="TextBox 12">
            <a:extLst>
              <a:ext uri="{FF2B5EF4-FFF2-40B4-BE49-F238E27FC236}">
                <a16:creationId xmlns:a16="http://schemas.microsoft.com/office/drawing/2014/main" id="{2A36BA46-1F25-833A-12D3-58B7CD852576}"/>
              </a:ext>
            </a:extLst>
          </p:cNvPr>
          <p:cNvSpPr txBox="1"/>
          <p:nvPr/>
        </p:nvSpPr>
        <p:spPr>
          <a:xfrm>
            <a:off x="2314277" y="6597551"/>
            <a:ext cx="1159292" cy="369332"/>
          </a:xfrm>
          <a:prstGeom prst="rect">
            <a:avLst/>
          </a:prstGeom>
          <a:noFill/>
        </p:spPr>
        <p:txBody>
          <a:bodyPr wrap="none" rtlCol="0">
            <a:spAutoFit/>
          </a:bodyPr>
          <a:lstStyle/>
          <a:p>
            <a:r>
              <a:rPr lang="en-IN" sz="1800" b="1" dirty="0"/>
              <a:t>Remarks</a:t>
            </a:r>
          </a:p>
        </p:txBody>
      </p:sp>
      <p:sp>
        <p:nvSpPr>
          <p:cNvPr id="14" name="TextBox 13">
            <a:extLst>
              <a:ext uri="{FF2B5EF4-FFF2-40B4-BE49-F238E27FC236}">
                <a16:creationId xmlns:a16="http://schemas.microsoft.com/office/drawing/2014/main" id="{F0B96129-5ABD-ED35-6E93-9FC1E39083D9}"/>
              </a:ext>
            </a:extLst>
          </p:cNvPr>
          <p:cNvSpPr txBox="1"/>
          <p:nvPr/>
        </p:nvSpPr>
        <p:spPr>
          <a:xfrm>
            <a:off x="7557017" y="1576043"/>
            <a:ext cx="4570482" cy="369332"/>
          </a:xfrm>
          <a:prstGeom prst="rect">
            <a:avLst/>
          </a:prstGeom>
          <a:noFill/>
        </p:spPr>
        <p:txBody>
          <a:bodyPr wrap="none" rtlCol="0">
            <a:spAutoFit/>
          </a:bodyPr>
          <a:lstStyle/>
          <a:p>
            <a:r>
              <a:rPr lang="en-US" sz="1800" dirty="0"/>
              <a:t>System Startup and Telemetry Initialization</a:t>
            </a:r>
            <a:endParaRPr lang="en-IN" sz="1800" dirty="0"/>
          </a:p>
        </p:txBody>
      </p:sp>
      <p:sp>
        <p:nvSpPr>
          <p:cNvPr id="15" name="TextBox 14">
            <a:extLst>
              <a:ext uri="{FF2B5EF4-FFF2-40B4-BE49-F238E27FC236}">
                <a16:creationId xmlns:a16="http://schemas.microsoft.com/office/drawing/2014/main" id="{55B0272D-33A5-03F0-1C9F-0B192E444826}"/>
              </a:ext>
            </a:extLst>
          </p:cNvPr>
          <p:cNvSpPr txBox="1"/>
          <p:nvPr/>
        </p:nvSpPr>
        <p:spPr>
          <a:xfrm>
            <a:off x="7557017" y="2329871"/>
            <a:ext cx="3824769" cy="923330"/>
          </a:xfrm>
          <a:prstGeom prst="rect">
            <a:avLst/>
          </a:prstGeom>
          <a:noFill/>
        </p:spPr>
        <p:txBody>
          <a:bodyPr wrap="square" rtlCol="0">
            <a:spAutoFit/>
          </a:bodyPr>
          <a:lstStyle/>
          <a:p>
            <a:r>
              <a:rPr lang="en-US" sz="1800" dirty="0"/>
              <a:t>Power on the ESP32, connect the serial port, and run the Python monitoring program.</a:t>
            </a:r>
            <a:endParaRPr lang="en-IN" sz="1800" dirty="0"/>
          </a:p>
        </p:txBody>
      </p:sp>
      <p:sp>
        <p:nvSpPr>
          <p:cNvPr id="16" name="TextBox 15">
            <a:extLst>
              <a:ext uri="{FF2B5EF4-FFF2-40B4-BE49-F238E27FC236}">
                <a16:creationId xmlns:a16="http://schemas.microsoft.com/office/drawing/2014/main" id="{51428ED5-4F0C-4708-E478-1927AC379932}"/>
              </a:ext>
            </a:extLst>
          </p:cNvPr>
          <p:cNvSpPr txBox="1"/>
          <p:nvPr/>
        </p:nvSpPr>
        <p:spPr>
          <a:xfrm>
            <a:off x="7557017" y="3499072"/>
            <a:ext cx="3587262" cy="1477328"/>
          </a:xfrm>
          <a:prstGeom prst="rect">
            <a:avLst/>
          </a:prstGeom>
          <a:noFill/>
        </p:spPr>
        <p:txBody>
          <a:bodyPr wrap="square" rtlCol="0">
            <a:spAutoFit/>
          </a:bodyPr>
          <a:lstStyle/>
          <a:p>
            <a:r>
              <a:rPr lang="en-US" sz="1800" dirty="0"/>
              <a:t>ESP32 should start sending JSON telemetry data. Python should read the serial data successfully. Dashboard should enter NORMAL monitoring state.</a:t>
            </a:r>
            <a:endParaRPr lang="en-IN" sz="1800" dirty="0"/>
          </a:p>
        </p:txBody>
      </p:sp>
      <p:sp>
        <p:nvSpPr>
          <p:cNvPr id="17" name="TextBox 16">
            <a:extLst>
              <a:ext uri="{FF2B5EF4-FFF2-40B4-BE49-F238E27FC236}">
                <a16:creationId xmlns:a16="http://schemas.microsoft.com/office/drawing/2014/main" id="{229718CA-6A8E-52B3-EE57-52F49B8C3E73}"/>
              </a:ext>
            </a:extLst>
          </p:cNvPr>
          <p:cNvSpPr txBox="1"/>
          <p:nvPr/>
        </p:nvSpPr>
        <p:spPr>
          <a:xfrm>
            <a:off x="7561553" y="5040980"/>
            <a:ext cx="4216789" cy="1477328"/>
          </a:xfrm>
          <a:prstGeom prst="rect">
            <a:avLst/>
          </a:prstGeom>
          <a:noFill/>
        </p:spPr>
        <p:txBody>
          <a:bodyPr wrap="square" rtlCol="0">
            <a:spAutoFit/>
          </a:bodyPr>
          <a:lstStyle/>
          <a:p>
            <a:r>
              <a:rPr lang="en-US" sz="1800" dirty="0"/>
              <a:t>Telemetry was received from ESP32 </a:t>
            </a:r>
            <a:r>
              <a:rPr lang="en-US" sz="1800" dirty="0" err="1"/>
              <a:t>successfully.Python</a:t>
            </a:r>
            <a:r>
              <a:rPr lang="en-US" sz="1800" dirty="0"/>
              <a:t> processed the incoming sensor data </a:t>
            </a:r>
            <a:r>
              <a:rPr lang="en-US" sz="1800" dirty="0" err="1"/>
              <a:t>correctly.Dashboard</a:t>
            </a:r>
            <a:r>
              <a:rPr lang="en-US" sz="1800" dirty="0"/>
              <a:t> displayed live NORMAL status.</a:t>
            </a:r>
            <a:endParaRPr lang="en-IN" sz="1800" dirty="0"/>
          </a:p>
        </p:txBody>
      </p:sp>
      <p:sp>
        <p:nvSpPr>
          <p:cNvPr id="18" name="TextBox 17">
            <a:extLst>
              <a:ext uri="{FF2B5EF4-FFF2-40B4-BE49-F238E27FC236}">
                <a16:creationId xmlns:a16="http://schemas.microsoft.com/office/drawing/2014/main" id="{8CD2B932-0368-770B-DA77-AE6FE01045CA}"/>
              </a:ext>
            </a:extLst>
          </p:cNvPr>
          <p:cNvSpPr txBox="1"/>
          <p:nvPr/>
        </p:nvSpPr>
        <p:spPr>
          <a:xfrm>
            <a:off x="7557017" y="6582888"/>
            <a:ext cx="1056700" cy="369332"/>
          </a:xfrm>
          <a:prstGeom prst="rect">
            <a:avLst/>
          </a:prstGeom>
          <a:noFill/>
        </p:spPr>
        <p:txBody>
          <a:bodyPr wrap="none" rtlCol="0">
            <a:spAutoFit/>
          </a:bodyPr>
          <a:lstStyle/>
          <a:p>
            <a:r>
              <a:rPr lang="en-IN" sz="1800" dirty="0"/>
              <a:t>Success</a:t>
            </a:r>
          </a:p>
        </p:txBody>
      </p:sp>
    </p:spTree>
    <p:extLst>
      <p:ext uri="{BB962C8B-B14F-4D97-AF65-F5344CB8AC3E}">
        <p14:creationId xmlns:p14="http://schemas.microsoft.com/office/powerpoint/2010/main" val="33945336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10F47-ECE1-262C-B3EA-779F41399761}"/>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42A28F81-9307-DB4D-C593-6DF640245BA4}"/>
              </a:ext>
            </a:extLst>
          </p:cNvPr>
          <p:cNvGraphicFramePr>
            <a:graphicFrameLocks noGrp="1"/>
          </p:cNvGraphicFramePr>
          <p:nvPr>
            <p:extLst>
              <p:ext uri="{D42A27DB-BD31-4B8C-83A1-F6EECF244321}">
                <p14:modId xmlns:p14="http://schemas.microsoft.com/office/powerpoint/2010/main" val="4132617054"/>
              </p:ext>
            </p:extLst>
          </p:nvPr>
        </p:nvGraphicFramePr>
        <p:xfrm>
          <a:off x="1165033" y="309305"/>
          <a:ext cx="12454570" cy="6876226"/>
        </p:xfrm>
        <a:graphic>
          <a:graphicData uri="http://schemas.openxmlformats.org/drawingml/2006/table">
            <a:tbl>
              <a:tblPr firstRow="1" bandRow="1">
                <a:tableStyleId>{5C22544A-7EE6-4342-B048-85BDC9FD1C3A}</a:tableStyleId>
              </a:tblPr>
              <a:tblGrid>
                <a:gridCol w="4776215">
                  <a:extLst>
                    <a:ext uri="{9D8B030D-6E8A-4147-A177-3AD203B41FA5}">
                      <a16:colId xmlns:a16="http://schemas.microsoft.com/office/drawing/2014/main" val="2420775494"/>
                    </a:ext>
                  </a:extLst>
                </a:gridCol>
                <a:gridCol w="7678355">
                  <a:extLst>
                    <a:ext uri="{9D8B030D-6E8A-4147-A177-3AD203B41FA5}">
                      <a16:colId xmlns:a16="http://schemas.microsoft.com/office/drawing/2014/main" val="90391192"/>
                    </a:ext>
                  </a:extLst>
                </a:gridCol>
              </a:tblGrid>
              <a:tr h="1104493">
                <a:tc>
                  <a:txBody>
                    <a:bodyPr/>
                    <a:lstStyle/>
                    <a:p>
                      <a:pPr algn="just"/>
                      <a:endParaRPr lang="en-IN" b="1" dirty="0"/>
                    </a:p>
                  </a:txBody>
                  <a:tcPr/>
                </a:tc>
                <a:tc>
                  <a:txBody>
                    <a:bodyPr/>
                    <a:lstStyle/>
                    <a:p>
                      <a:pPr algn="just"/>
                      <a:endParaRPr lang="en-IN" b="1" dirty="0"/>
                    </a:p>
                  </a:txBody>
                  <a:tcPr/>
                </a:tc>
                <a:extLst>
                  <a:ext uri="{0D108BD9-81ED-4DB2-BD59-A6C34878D82A}">
                    <a16:rowId xmlns:a16="http://schemas.microsoft.com/office/drawing/2014/main" val="1543488890"/>
                  </a:ext>
                </a:extLst>
              </a:tr>
              <a:tr h="690424">
                <a:tc>
                  <a:txBody>
                    <a:bodyPr/>
                    <a:lstStyle/>
                    <a:p>
                      <a:pPr algn="just"/>
                      <a:r>
                        <a:rPr lang="en-IN" sz="2000" b="1" dirty="0"/>
                        <a:t>                    </a:t>
                      </a:r>
                    </a:p>
                  </a:txBody>
                  <a:tcPr/>
                </a:tc>
                <a:tc>
                  <a:txBody>
                    <a:bodyPr/>
                    <a:lstStyle/>
                    <a:p>
                      <a:pPr algn="just"/>
                      <a:endParaRPr lang="en-IN" b="1" dirty="0"/>
                    </a:p>
                  </a:txBody>
                  <a:tcPr/>
                </a:tc>
                <a:extLst>
                  <a:ext uri="{0D108BD9-81ED-4DB2-BD59-A6C34878D82A}">
                    <a16:rowId xmlns:a16="http://schemas.microsoft.com/office/drawing/2014/main" val="3311378231"/>
                  </a:ext>
                </a:extLst>
              </a:tr>
              <a:tr h="1112703">
                <a:tc>
                  <a:txBody>
                    <a:bodyPr/>
                    <a:lstStyle/>
                    <a:p>
                      <a:pPr algn="just"/>
                      <a:r>
                        <a:rPr lang="en-IN" sz="2000" b="1" dirty="0"/>
                        <a:t>                  </a:t>
                      </a:r>
                    </a:p>
                  </a:txBody>
                  <a:tcPr/>
                </a:tc>
                <a:tc>
                  <a:txBody>
                    <a:bodyPr/>
                    <a:lstStyle/>
                    <a:p>
                      <a:pPr algn="just"/>
                      <a:endParaRPr lang="en-IN" b="1" dirty="0"/>
                    </a:p>
                  </a:txBody>
                  <a:tcPr/>
                </a:tc>
                <a:extLst>
                  <a:ext uri="{0D108BD9-81ED-4DB2-BD59-A6C34878D82A}">
                    <a16:rowId xmlns:a16="http://schemas.microsoft.com/office/drawing/2014/main" val="3608251626"/>
                  </a:ext>
                </a:extLst>
              </a:tr>
              <a:tr h="1806767">
                <a:tc>
                  <a:txBody>
                    <a:bodyPr/>
                    <a:lstStyle/>
                    <a:p>
                      <a:pPr algn="just"/>
                      <a:r>
                        <a:rPr lang="en-IN" sz="2000" b="1" dirty="0"/>
                        <a:t>                </a:t>
                      </a:r>
                    </a:p>
                  </a:txBody>
                  <a:tcPr/>
                </a:tc>
                <a:tc>
                  <a:txBody>
                    <a:bodyPr/>
                    <a:lstStyle/>
                    <a:p>
                      <a:pPr algn="just"/>
                      <a:endParaRPr lang="en-IN" b="1" dirty="0"/>
                    </a:p>
                  </a:txBody>
                  <a:tcPr/>
                </a:tc>
                <a:extLst>
                  <a:ext uri="{0D108BD9-81ED-4DB2-BD59-A6C34878D82A}">
                    <a16:rowId xmlns:a16="http://schemas.microsoft.com/office/drawing/2014/main" val="3584109961"/>
                  </a:ext>
                </a:extLst>
              </a:tr>
              <a:tr h="1572247">
                <a:tc>
                  <a:txBody>
                    <a:bodyPr/>
                    <a:lstStyle/>
                    <a:p>
                      <a:pPr algn="just"/>
                      <a:r>
                        <a:rPr lang="en-IN" sz="2000" b="1" dirty="0"/>
                        <a:t>                 </a:t>
                      </a:r>
                    </a:p>
                  </a:txBody>
                  <a:tcPr/>
                </a:tc>
                <a:tc>
                  <a:txBody>
                    <a:bodyPr/>
                    <a:lstStyle/>
                    <a:p>
                      <a:pPr algn="just"/>
                      <a:endParaRPr lang="en-IN" b="1" dirty="0"/>
                    </a:p>
                  </a:txBody>
                  <a:tcPr/>
                </a:tc>
                <a:extLst>
                  <a:ext uri="{0D108BD9-81ED-4DB2-BD59-A6C34878D82A}">
                    <a16:rowId xmlns:a16="http://schemas.microsoft.com/office/drawing/2014/main" val="376483304"/>
                  </a:ext>
                </a:extLst>
              </a:tr>
              <a:tr h="589592">
                <a:tc>
                  <a:txBody>
                    <a:bodyPr/>
                    <a:lstStyle/>
                    <a:p>
                      <a:pPr algn="just"/>
                      <a:endParaRPr lang="en-IN" b="1" dirty="0"/>
                    </a:p>
                  </a:txBody>
                  <a:tcPr/>
                </a:tc>
                <a:tc>
                  <a:txBody>
                    <a:bodyPr/>
                    <a:lstStyle/>
                    <a:p>
                      <a:pPr algn="just"/>
                      <a:endParaRPr lang="en-IN" b="1" dirty="0"/>
                    </a:p>
                  </a:txBody>
                  <a:tcPr/>
                </a:tc>
                <a:extLst>
                  <a:ext uri="{0D108BD9-81ED-4DB2-BD59-A6C34878D82A}">
                    <a16:rowId xmlns:a16="http://schemas.microsoft.com/office/drawing/2014/main" val="2029611722"/>
                  </a:ext>
                </a:extLst>
              </a:tr>
            </a:tbl>
          </a:graphicData>
        </a:graphic>
      </p:graphicFrame>
      <p:sp>
        <p:nvSpPr>
          <p:cNvPr id="5" name="TextBox 4">
            <a:extLst>
              <a:ext uri="{FF2B5EF4-FFF2-40B4-BE49-F238E27FC236}">
                <a16:creationId xmlns:a16="http://schemas.microsoft.com/office/drawing/2014/main" id="{73C5FF74-FFF4-10B6-13C4-036B0FEA8C4B}"/>
              </a:ext>
            </a:extLst>
          </p:cNvPr>
          <p:cNvSpPr txBox="1"/>
          <p:nvPr/>
        </p:nvSpPr>
        <p:spPr>
          <a:xfrm>
            <a:off x="1980864" y="579631"/>
            <a:ext cx="1366080" cy="369332"/>
          </a:xfrm>
          <a:prstGeom prst="rect">
            <a:avLst/>
          </a:prstGeom>
          <a:noFill/>
        </p:spPr>
        <p:txBody>
          <a:bodyPr wrap="square" rtlCol="0">
            <a:spAutoFit/>
          </a:bodyPr>
          <a:lstStyle/>
          <a:p>
            <a:pPr algn="ctr"/>
            <a:r>
              <a:rPr lang="en-IN" sz="1800" b="1" dirty="0"/>
              <a:t>Test No</a:t>
            </a:r>
          </a:p>
        </p:txBody>
      </p:sp>
      <p:sp>
        <p:nvSpPr>
          <p:cNvPr id="6" name="TextBox 5">
            <a:extLst>
              <a:ext uri="{FF2B5EF4-FFF2-40B4-BE49-F238E27FC236}">
                <a16:creationId xmlns:a16="http://schemas.microsoft.com/office/drawing/2014/main" id="{B3BEED18-A4CD-0422-6A9E-32564ED96E6E}"/>
              </a:ext>
            </a:extLst>
          </p:cNvPr>
          <p:cNvSpPr txBox="1"/>
          <p:nvPr/>
        </p:nvSpPr>
        <p:spPr>
          <a:xfrm>
            <a:off x="9449375" y="579631"/>
            <a:ext cx="441146" cy="369332"/>
          </a:xfrm>
          <a:prstGeom prst="rect">
            <a:avLst/>
          </a:prstGeom>
          <a:noFill/>
        </p:spPr>
        <p:txBody>
          <a:bodyPr wrap="none" rtlCol="0">
            <a:spAutoFit/>
          </a:bodyPr>
          <a:lstStyle/>
          <a:p>
            <a:r>
              <a:rPr lang="en-IN" sz="1800" b="1" dirty="0"/>
              <a:t>02</a:t>
            </a:r>
          </a:p>
        </p:txBody>
      </p:sp>
      <p:sp>
        <p:nvSpPr>
          <p:cNvPr id="8" name="TextBox 7">
            <a:extLst>
              <a:ext uri="{FF2B5EF4-FFF2-40B4-BE49-F238E27FC236}">
                <a16:creationId xmlns:a16="http://schemas.microsoft.com/office/drawing/2014/main" id="{5A0C8BE8-631F-02C3-CFF8-69E6E36D6306}"/>
              </a:ext>
            </a:extLst>
          </p:cNvPr>
          <p:cNvSpPr txBox="1"/>
          <p:nvPr/>
        </p:nvSpPr>
        <p:spPr>
          <a:xfrm>
            <a:off x="2091700" y="1595899"/>
            <a:ext cx="1415772" cy="369332"/>
          </a:xfrm>
          <a:prstGeom prst="rect">
            <a:avLst/>
          </a:prstGeom>
          <a:noFill/>
        </p:spPr>
        <p:txBody>
          <a:bodyPr wrap="none" rtlCol="0">
            <a:spAutoFit/>
          </a:bodyPr>
          <a:lstStyle/>
          <a:p>
            <a:pPr algn="ctr"/>
            <a:r>
              <a:rPr lang="en-IN" sz="1800" b="1" dirty="0"/>
              <a:t> Test Name</a:t>
            </a:r>
          </a:p>
        </p:txBody>
      </p:sp>
      <p:sp>
        <p:nvSpPr>
          <p:cNvPr id="9" name="TextBox 8">
            <a:extLst>
              <a:ext uri="{FF2B5EF4-FFF2-40B4-BE49-F238E27FC236}">
                <a16:creationId xmlns:a16="http://schemas.microsoft.com/office/drawing/2014/main" id="{5EA411CE-5E7F-ED4A-6E87-4EA92DB009EA}"/>
              </a:ext>
            </a:extLst>
          </p:cNvPr>
          <p:cNvSpPr txBox="1"/>
          <p:nvPr/>
        </p:nvSpPr>
        <p:spPr>
          <a:xfrm>
            <a:off x="2091700" y="2530645"/>
            <a:ext cx="1697901" cy="369332"/>
          </a:xfrm>
          <a:prstGeom prst="rect">
            <a:avLst/>
          </a:prstGeom>
          <a:noFill/>
        </p:spPr>
        <p:txBody>
          <a:bodyPr wrap="none" rtlCol="0">
            <a:spAutoFit/>
          </a:bodyPr>
          <a:lstStyle/>
          <a:p>
            <a:r>
              <a:rPr lang="en-IN" sz="1800" b="1" dirty="0"/>
              <a:t>Test Scenario</a:t>
            </a:r>
          </a:p>
        </p:txBody>
      </p:sp>
      <p:sp>
        <p:nvSpPr>
          <p:cNvPr id="10" name="TextBox 9">
            <a:extLst>
              <a:ext uri="{FF2B5EF4-FFF2-40B4-BE49-F238E27FC236}">
                <a16:creationId xmlns:a16="http://schemas.microsoft.com/office/drawing/2014/main" id="{F8E92717-2986-C49F-4F6A-B0711B2D9CB3}"/>
              </a:ext>
            </a:extLst>
          </p:cNvPr>
          <p:cNvSpPr txBox="1"/>
          <p:nvPr/>
        </p:nvSpPr>
        <p:spPr>
          <a:xfrm>
            <a:off x="1980864" y="4156886"/>
            <a:ext cx="2031325" cy="369332"/>
          </a:xfrm>
          <a:prstGeom prst="rect">
            <a:avLst/>
          </a:prstGeom>
          <a:noFill/>
        </p:spPr>
        <p:txBody>
          <a:bodyPr wrap="none" rtlCol="0">
            <a:spAutoFit/>
          </a:bodyPr>
          <a:lstStyle/>
          <a:p>
            <a:r>
              <a:rPr lang="en-IN" sz="1800" b="1" dirty="0"/>
              <a:t>Expected Output</a:t>
            </a:r>
            <a:endParaRPr lang="en-IN" sz="1800" dirty="0"/>
          </a:p>
        </p:txBody>
      </p:sp>
      <p:sp>
        <p:nvSpPr>
          <p:cNvPr id="12" name="TextBox 11">
            <a:extLst>
              <a:ext uri="{FF2B5EF4-FFF2-40B4-BE49-F238E27FC236}">
                <a16:creationId xmlns:a16="http://schemas.microsoft.com/office/drawing/2014/main" id="{0C2FADA7-8EBC-FEE5-3CC0-9B3F4B99189D}"/>
              </a:ext>
            </a:extLst>
          </p:cNvPr>
          <p:cNvSpPr txBox="1"/>
          <p:nvPr/>
        </p:nvSpPr>
        <p:spPr>
          <a:xfrm>
            <a:off x="2253363" y="5594978"/>
            <a:ext cx="1710725" cy="369332"/>
          </a:xfrm>
          <a:prstGeom prst="rect">
            <a:avLst/>
          </a:prstGeom>
          <a:noFill/>
        </p:spPr>
        <p:txBody>
          <a:bodyPr wrap="none" rtlCol="0">
            <a:spAutoFit/>
          </a:bodyPr>
          <a:lstStyle/>
          <a:p>
            <a:r>
              <a:rPr lang="en-IN" sz="1800" b="1" dirty="0"/>
              <a:t>Actual Output</a:t>
            </a:r>
            <a:endParaRPr lang="en-IN" sz="1800" dirty="0"/>
          </a:p>
        </p:txBody>
      </p:sp>
      <p:sp>
        <p:nvSpPr>
          <p:cNvPr id="13" name="TextBox 12">
            <a:extLst>
              <a:ext uri="{FF2B5EF4-FFF2-40B4-BE49-F238E27FC236}">
                <a16:creationId xmlns:a16="http://schemas.microsoft.com/office/drawing/2014/main" id="{DCBAD464-FAD3-549D-DF5B-1CE6D50E3CFF}"/>
              </a:ext>
            </a:extLst>
          </p:cNvPr>
          <p:cNvSpPr txBox="1"/>
          <p:nvPr/>
        </p:nvSpPr>
        <p:spPr>
          <a:xfrm>
            <a:off x="2499424" y="6714390"/>
            <a:ext cx="1159292" cy="369332"/>
          </a:xfrm>
          <a:prstGeom prst="rect">
            <a:avLst/>
          </a:prstGeom>
          <a:noFill/>
        </p:spPr>
        <p:txBody>
          <a:bodyPr wrap="none" rtlCol="0">
            <a:spAutoFit/>
          </a:bodyPr>
          <a:lstStyle/>
          <a:p>
            <a:r>
              <a:rPr lang="en-IN" sz="1800" b="1" dirty="0"/>
              <a:t>Remarks</a:t>
            </a:r>
          </a:p>
        </p:txBody>
      </p:sp>
      <p:sp>
        <p:nvSpPr>
          <p:cNvPr id="14" name="TextBox 13">
            <a:extLst>
              <a:ext uri="{FF2B5EF4-FFF2-40B4-BE49-F238E27FC236}">
                <a16:creationId xmlns:a16="http://schemas.microsoft.com/office/drawing/2014/main" id="{3578DBAA-23BC-234E-4CDF-8FE3C9707F44}"/>
              </a:ext>
            </a:extLst>
          </p:cNvPr>
          <p:cNvSpPr txBox="1"/>
          <p:nvPr/>
        </p:nvSpPr>
        <p:spPr>
          <a:xfrm>
            <a:off x="7876316" y="1633658"/>
            <a:ext cx="4903907" cy="369332"/>
          </a:xfrm>
          <a:prstGeom prst="rect">
            <a:avLst/>
          </a:prstGeom>
          <a:noFill/>
        </p:spPr>
        <p:txBody>
          <a:bodyPr wrap="none" rtlCol="0">
            <a:spAutoFit/>
          </a:bodyPr>
          <a:lstStyle/>
          <a:p>
            <a:r>
              <a:rPr lang="en-US" sz="1800" dirty="0"/>
              <a:t>Crash Switch Trigger - Low Severity Detection</a:t>
            </a:r>
            <a:endParaRPr lang="en-IN" sz="1800" dirty="0"/>
          </a:p>
        </p:txBody>
      </p:sp>
      <p:sp>
        <p:nvSpPr>
          <p:cNvPr id="15" name="TextBox 14">
            <a:extLst>
              <a:ext uri="{FF2B5EF4-FFF2-40B4-BE49-F238E27FC236}">
                <a16:creationId xmlns:a16="http://schemas.microsoft.com/office/drawing/2014/main" id="{7C2F17C5-C578-C8BA-CC05-5079B93B5270}"/>
              </a:ext>
            </a:extLst>
          </p:cNvPr>
          <p:cNvSpPr txBox="1"/>
          <p:nvPr/>
        </p:nvSpPr>
        <p:spPr>
          <a:xfrm>
            <a:off x="7876316" y="2240111"/>
            <a:ext cx="3824769" cy="923330"/>
          </a:xfrm>
          <a:prstGeom prst="rect">
            <a:avLst/>
          </a:prstGeom>
          <a:noFill/>
        </p:spPr>
        <p:txBody>
          <a:bodyPr wrap="square" rtlCol="0">
            <a:spAutoFit/>
          </a:bodyPr>
          <a:lstStyle/>
          <a:p>
            <a:r>
              <a:rPr lang="en-US" sz="1800" dirty="0"/>
              <a:t>Press the crash switch while the system is in normal monitoring mode.</a:t>
            </a:r>
            <a:endParaRPr lang="en-IN" sz="1800" dirty="0"/>
          </a:p>
        </p:txBody>
      </p:sp>
      <p:sp>
        <p:nvSpPr>
          <p:cNvPr id="16" name="TextBox 15">
            <a:extLst>
              <a:ext uri="{FF2B5EF4-FFF2-40B4-BE49-F238E27FC236}">
                <a16:creationId xmlns:a16="http://schemas.microsoft.com/office/drawing/2014/main" id="{1A37DF34-AB32-F877-E5D6-6EC323618B56}"/>
              </a:ext>
            </a:extLst>
          </p:cNvPr>
          <p:cNvSpPr txBox="1"/>
          <p:nvPr/>
        </p:nvSpPr>
        <p:spPr>
          <a:xfrm>
            <a:off x="7876316" y="3212113"/>
            <a:ext cx="3587262" cy="1754326"/>
          </a:xfrm>
          <a:prstGeom prst="rect">
            <a:avLst/>
          </a:prstGeom>
          <a:noFill/>
        </p:spPr>
        <p:txBody>
          <a:bodyPr wrap="square" rtlCol="0">
            <a:spAutoFit/>
          </a:bodyPr>
          <a:lstStyle/>
          <a:p>
            <a:r>
              <a:rPr lang="en-US" sz="1800" dirty="0"/>
              <a:t>System should detect an accident </a:t>
            </a:r>
            <a:r>
              <a:rPr lang="en-US" sz="1800" dirty="0" err="1"/>
              <a:t>event.Severity</a:t>
            </a:r>
            <a:r>
              <a:rPr lang="en-US" sz="1800" dirty="0"/>
              <a:t> should be classified as LOW.LCD, buzzer, dashboard, and Telegram alert should be triggered.</a:t>
            </a:r>
            <a:endParaRPr lang="en-IN" sz="1800" dirty="0"/>
          </a:p>
        </p:txBody>
      </p:sp>
      <p:sp>
        <p:nvSpPr>
          <p:cNvPr id="17" name="TextBox 16">
            <a:extLst>
              <a:ext uri="{FF2B5EF4-FFF2-40B4-BE49-F238E27FC236}">
                <a16:creationId xmlns:a16="http://schemas.microsoft.com/office/drawing/2014/main" id="{D58D288B-A47D-28FC-22BB-C980E75C2C95}"/>
              </a:ext>
            </a:extLst>
          </p:cNvPr>
          <p:cNvSpPr txBox="1"/>
          <p:nvPr/>
        </p:nvSpPr>
        <p:spPr>
          <a:xfrm>
            <a:off x="7876316" y="5101750"/>
            <a:ext cx="4216789" cy="1477328"/>
          </a:xfrm>
          <a:prstGeom prst="rect">
            <a:avLst/>
          </a:prstGeom>
          <a:noFill/>
        </p:spPr>
        <p:txBody>
          <a:bodyPr wrap="square" rtlCol="0">
            <a:spAutoFit/>
          </a:bodyPr>
          <a:lstStyle/>
          <a:p>
            <a:r>
              <a:rPr lang="en-US" sz="1800" dirty="0"/>
              <a:t>Crash input was detected </a:t>
            </a:r>
            <a:r>
              <a:rPr lang="en-US" sz="1800" dirty="0" err="1"/>
              <a:t>successfully.Accident</a:t>
            </a:r>
            <a:r>
              <a:rPr lang="en-US" sz="1800" dirty="0"/>
              <a:t> event was generated with LOW </a:t>
            </a:r>
            <a:r>
              <a:rPr lang="en-US" sz="1800" dirty="0" err="1"/>
              <a:t>severity.Alert</a:t>
            </a:r>
            <a:r>
              <a:rPr lang="en-US" sz="1800" dirty="0"/>
              <a:t> outputs were activated and location link was prepared.</a:t>
            </a:r>
            <a:endParaRPr lang="en-IN" sz="1800" dirty="0"/>
          </a:p>
        </p:txBody>
      </p:sp>
      <p:sp>
        <p:nvSpPr>
          <p:cNvPr id="18" name="TextBox 17">
            <a:extLst>
              <a:ext uri="{FF2B5EF4-FFF2-40B4-BE49-F238E27FC236}">
                <a16:creationId xmlns:a16="http://schemas.microsoft.com/office/drawing/2014/main" id="{7075C785-E6C1-5C0A-EFBD-CB16A7981801}"/>
              </a:ext>
            </a:extLst>
          </p:cNvPr>
          <p:cNvSpPr txBox="1"/>
          <p:nvPr/>
        </p:nvSpPr>
        <p:spPr>
          <a:xfrm>
            <a:off x="7876316" y="6714390"/>
            <a:ext cx="1056700" cy="369332"/>
          </a:xfrm>
          <a:prstGeom prst="rect">
            <a:avLst/>
          </a:prstGeom>
          <a:noFill/>
        </p:spPr>
        <p:txBody>
          <a:bodyPr wrap="none" rtlCol="0">
            <a:spAutoFit/>
          </a:bodyPr>
          <a:lstStyle/>
          <a:p>
            <a:r>
              <a:rPr lang="en-IN" sz="1800" dirty="0"/>
              <a:t>Success</a:t>
            </a:r>
          </a:p>
        </p:txBody>
      </p:sp>
    </p:spTree>
    <p:extLst>
      <p:ext uri="{BB962C8B-B14F-4D97-AF65-F5344CB8AC3E}">
        <p14:creationId xmlns:p14="http://schemas.microsoft.com/office/powerpoint/2010/main" val="32188862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CFCD19-9DAB-C764-38C2-14848B4293C8}"/>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57CDCFD3-A2BF-C8EE-7880-8CBB94239780}"/>
              </a:ext>
            </a:extLst>
          </p:cNvPr>
          <p:cNvGraphicFramePr>
            <a:graphicFrameLocks noGrp="1"/>
          </p:cNvGraphicFramePr>
          <p:nvPr/>
        </p:nvGraphicFramePr>
        <p:xfrm>
          <a:off x="1165033" y="309305"/>
          <a:ext cx="12454570" cy="6876226"/>
        </p:xfrm>
        <a:graphic>
          <a:graphicData uri="http://schemas.openxmlformats.org/drawingml/2006/table">
            <a:tbl>
              <a:tblPr firstRow="1" bandRow="1">
                <a:tableStyleId>{5C22544A-7EE6-4342-B048-85BDC9FD1C3A}</a:tableStyleId>
              </a:tblPr>
              <a:tblGrid>
                <a:gridCol w="4776215">
                  <a:extLst>
                    <a:ext uri="{9D8B030D-6E8A-4147-A177-3AD203B41FA5}">
                      <a16:colId xmlns:a16="http://schemas.microsoft.com/office/drawing/2014/main" val="2420775494"/>
                    </a:ext>
                  </a:extLst>
                </a:gridCol>
                <a:gridCol w="7678355">
                  <a:extLst>
                    <a:ext uri="{9D8B030D-6E8A-4147-A177-3AD203B41FA5}">
                      <a16:colId xmlns:a16="http://schemas.microsoft.com/office/drawing/2014/main" val="90391192"/>
                    </a:ext>
                  </a:extLst>
                </a:gridCol>
              </a:tblGrid>
              <a:tr h="1104493">
                <a:tc>
                  <a:txBody>
                    <a:bodyPr/>
                    <a:lstStyle/>
                    <a:p>
                      <a:pPr algn="just"/>
                      <a:endParaRPr lang="en-IN" b="1" dirty="0"/>
                    </a:p>
                  </a:txBody>
                  <a:tcPr/>
                </a:tc>
                <a:tc>
                  <a:txBody>
                    <a:bodyPr/>
                    <a:lstStyle/>
                    <a:p>
                      <a:pPr algn="just"/>
                      <a:endParaRPr lang="en-IN" b="1" dirty="0"/>
                    </a:p>
                  </a:txBody>
                  <a:tcPr/>
                </a:tc>
                <a:extLst>
                  <a:ext uri="{0D108BD9-81ED-4DB2-BD59-A6C34878D82A}">
                    <a16:rowId xmlns:a16="http://schemas.microsoft.com/office/drawing/2014/main" val="1543488890"/>
                  </a:ext>
                </a:extLst>
              </a:tr>
              <a:tr h="690424">
                <a:tc>
                  <a:txBody>
                    <a:bodyPr/>
                    <a:lstStyle/>
                    <a:p>
                      <a:pPr algn="just"/>
                      <a:r>
                        <a:rPr lang="en-IN" sz="2000" b="1" dirty="0"/>
                        <a:t>                    </a:t>
                      </a:r>
                    </a:p>
                  </a:txBody>
                  <a:tcPr/>
                </a:tc>
                <a:tc>
                  <a:txBody>
                    <a:bodyPr/>
                    <a:lstStyle/>
                    <a:p>
                      <a:pPr algn="just"/>
                      <a:endParaRPr lang="en-IN" b="1" dirty="0"/>
                    </a:p>
                  </a:txBody>
                  <a:tcPr/>
                </a:tc>
                <a:extLst>
                  <a:ext uri="{0D108BD9-81ED-4DB2-BD59-A6C34878D82A}">
                    <a16:rowId xmlns:a16="http://schemas.microsoft.com/office/drawing/2014/main" val="3311378231"/>
                  </a:ext>
                </a:extLst>
              </a:tr>
              <a:tr h="1112703">
                <a:tc>
                  <a:txBody>
                    <a:bodyPr/>
                    <a:lstStyle/>
                    <a:p>
                      <a:pPr algn="just"/>
                      <a:r>
                        <a:rPr lang="en-IN" sz="2000" b="1" dirty="0"/>
                        <a:t>                  </a:t>
                      </a:r>
                    </a:p>
                  </a:txBody>
                  <a:tcPr/>
                </a:tc>
                <a:tc>
                  <a:txBody>
                    <a:bodyPr/>
                    <a:lstStyle/>
                    <a:p>
                      <a:pPr algn="just"/>
                      <a:endParaRPr lang="en-IN" b="1" dirty="0"/>
                    </a:p>
                  </a:txBody>
                  <a:tcPr/>
                </a:tc>
                <a:extLst>
                  <a:ext uri="{0D108BD9-81ED-4DB2-BD59-A6C34878D82A}">
                    <a16:rowId xmlns:a16="http://schemas.microsoft.com/office/drawing/2014/main" val="3608251626"/>
                  </a:ext>
                </a:extLst>
              </a:tr>
              <a:tr h="1806767">
                <a:tc>
                  <a:txBody>
                    <a:bodyPr/>
                    <a:lstStyle/>
                    <a:p>
                      <a:pPr algn="just"/>
                      <a:r>
                        <a:rPr lang="en-IN" sz="2000" b="1" dirty="0"/>
                        <a:t>                </a:t>
                      </a:r>
                    </a:p>
                  </a:txBody>
                  <a:tcPr/>
                </a:tc>
                <a:tc>
                  <a:txBody>
                    <a:bodyPr/>
                    <a:lstStyle/>
                    <a:p>
                      <a:pPr algn="just"/>
                      <a:endParaRPr lang="en-IN" b="1" dirty="0"/>
                    </a:p>
                  </a:txBody>
                  <a:tcPr/>
                </a:tc>
                <a:extLst>
                  <a:ext uri="{0D108BD9-81ED-4DB2-BD59-A6C34878D82A}">
                    <a16:rowId xmlns:a16="http://schemas.microsoft.com/office/drawing/2014/main" val="3584109961"/>
                  </a:ext>
                </a:extLst>
              </a:tr>
              <a:tr h="1572247">
                <a:tc>
                  <a:txBody>
                    <a:bodyPr/>
                    <a:lstStyle/>
                    <a:p>
                      <a:pPr algn="just"/>
                      <a:r>
                        <a:rPr lang="en-IN" sz="2000" b="1" dirty="0"/>
                        <a:t>                 </a:t>
                      </a:r>
                    </a:p>
                  </a:txBody>
                  <a:tcPr/>
                </a:tc>
                <a:tc>
                  <a:txBody>
                    <a:bodyPr/>
                    <a:lstStyle/>
                    <a:p>
                      <a:pPr algn="just"/>
                      <a:endParaRPr lang="en-IN" b="1" dirty="0"/>
                    </a:p>
                  </a:txBody>
                  <a:tcPr/>
                </a:tc>
                <a:extLst>
                  <a:ext uri="{0D108BD9-81ED-4DB2-BD59-A6C34878D82A}">
                    <a16:rowId xmlns:a16="http://schemas.microsoft.com/office/drawing/2014/main" val="376483304"/>
                  </a:ext>
                </a:extLst>
              </a:tr>
              <a:tr h="589592">
                <a:tc>
                  <a:txBody>
                    <a:bodyPr/>
                    <a:lstStyle/>
                    <a:p>
                      <a:pPr algn="just"/>
                      <a:endParaRPr lang="en-IN" b="1" dirty="0"/>
                    </a:p>
                  </a:txBody>
                  <a:tcPr/>
                </a:tc>
                <a:tc>
                  <a:txBody>
                    <a:bodyPr/>
                    <a:lstStyle/>
                    <a:p>
                      <a:pPr algn="just"/>
                      <a:endParaRPr lang="en-IN" b="1" dirty="0"/>
                    </a:p>
                  </a:txBody>
                  <a:tcPr/>
                </a:tc>
                <a:extLst>
                  <a:ext uri="{0D108BD9-81ED-4DB2-BD59-A6C34878D82A}">
                    <a16:rowId xmlns:a16="http://schemas.microsoft.com/office/drawing/2014/main" val="2029611722"/>
                  </a:ext>
                </a:extLst>
              </a:tr>
            </a:tbl>
          </a:graphicData>
        </a:graphic>
      </p:graphicFrame>
      <p:sp>
        <p:nvSpPr>
          <p:cNvPr id="5" name="TextBox 4">
            <a:extLst>
              <a:ext uri="{FF2B5EF4-FFF2-40B4-BE49-F238E27FC236}">
                <a16:creationId xmlns:a16="http://schemas.microsoft.com/office/drawing/2014/main" id="{59ED49BE-B6B5-469E-9670-89E8AE1E86A0}"/>
              </a:ext>
            </a:extLst>
          </p:cNvPr>
          <p:cNvSpPr txBox="1"/>
          <p:nvPr/>
        </p:nvSpPr>
        <p:spPr>
          <a:xfrm>
            <a:off x="1980864" y="579631"/>
            <a:ext cx="1366080" cy="369332"/>
          </a:xfrm>
          <a:prstGeom prst="rect">
            <a:avLst/>
          </a:prstGeom>
          <a:noFill/>
        </p:spPr>
        <p:txBody>
          <a:bodyPr wrap="square" rtlCol="0">
            <a:spAutoFit/>
          </a:bodyPr>
          <a:lstStyle/>
          <a:p>
            <a:pPr algn="ctr"/>
            <a:r>
              <a:rPr lang="en-IN" sz="1800" b="1" dirty="0"/>
              <a:t>Test No</a:t>
            </a:r>
          </a:p>
        </p:txBody>
      </p:sp>
      <p:sp>
        <p:nvSpPr>
          <p:cNvPr id="6" name="TextBox 5">
            <a:extLst>
              <a:ext uri="{FF2B5EF4-FFF2-40B4-BE49-F238E27FC236}">
                <a16:creationId xmlns:a16="http://schemas.microsoft.com/office/drawing/2014/main" id="{F9AE21DE-18F4-742F-80AB-1C19EC57B837}"/>
              </a:ext>
            </a:extLst>
          </p:cNvPr>
          <p:cNvSpPr txBox="1"/>
          <p:nvPr/>
        </p:nvSpPr>
        <p:spPr>
          <a:xfrm>
            <a:off x="9449375" y="579631"/>
            <a:ext cx="441146" cy="369332"/>
          </a:xfrm>
          <a:prstGeom prst="rect">
            <a:avLst/>
          </a:prstGeom>
          <a:noFill/>
        </p:spPr>
        <p:txBody>
          <a:bodyPr wrap="none" rtlCol="0">
            <a:spAutoFit/>
          </a:bodyPr>
          <a:lstStyle/>
          <a:p>
            <a:r>
              <a:rPr lang="en-IN" sz="1800" b="1" dirty="0"/>
              <a:t>03</a:t>
            </a:r>
          </a:p>
        </p:txBody>
      </p:sp>
      <p:sp>
        <p:nvSpPr>
          <p:cNvPr id="8" name="TextBox 7">
            <a:extLst>
              <a:ext uri="{FF2B5EF4-FFF2-40B4-BE49-F238E27FC236}">
                <a16:creationId xmlns:a16="http://schemas.microsoft.com/office/drawing/2014/main" id="{6B0C8799-6E26-FFB0-BAC2-F86D17F9FB1C}"/>
              </a:ext>
            </a:extLst>
          </p:cNvPr>
          <p:cNvSpPr txBox="1"/>
          <p:nvPr/>
        </p:nvSpPr>
        <p:spPr>
          <a:xfrm>
            <a:off x="2091700" y="1595899"/>
            <a:ext cx="1415772" cy="369332"/>
          </a:xfrm>
          <a:prstGeom prst="rect">
            <a:avLst/>
          </a:prstGeom>
          <a:noFill/>
        </p:spPr>
        <p:txBody>
          <a:bodyPr wrap="none" rtlCol="0">
            <a:spAutoFit/>
          </a:bodyPr>
          <a:lstStyle/>
          <a:p>
            <a:pPr algn="ctr"/>
            <a:r>
              <a:rPr lang="en-IN" sz="1800" b="1" dirty="0"/>
              <a:t> Test Name</a:t>
            </a:r>
          </a:p>
        </p:txBody>
      </p:sp>
      <p:sp>
        <p:nvSpPr>
          <p:cNvPr id="9" name="TextBox 8">
            <a:extLst>
              <a:ext uri="{FF2B5EF4-FFF2-40B4-BE49-F238E27FC236}">
                <a16:creationId xmlns:a16="http://schemas.microsoft.com/office/drawing/2014/main" id="{6EB83933-A968-0FD7-2C6C-A4646D154053}"/>
              </a:ext>
            </a:extLst>
          </p:cNvPr>
          <p:cNvSpPr txBox="1"/>
          <p:nvPr/>
        </p:nvSpPr>
        <p:spPr>
          <a:xfrm>
            <a:off x="2091700" y="2530645"/>
            <a:ext cx="1697901" cy="369332"/>
          </a:xfrm>
          <a:prstGeom prst="rect">
            <a:avLst/>
          </a:prstGeom>
          <a:noFill/>
        </p:spPr>
        <p:txBody>
          <a:bodyPr wrap="none" rtlCol="0">
            <a:spAutoFit/>
          </a:bodyPr>
          <a:lstStyle/>
          <a:p>
            <a:r>
              <a:rPr lang="en-IN" sz="1800" b="1" dirty="0"/>
              <a:t>Test Scenario</a:t>
            </a:r>
          </a:p>
        </p:txBody>
      </p:sp>
      <p:sp>
        <p:nvSpPr>
          <p:cNvPr id="10" name="TextBox 9">
            <a:extLst>
              <a:ext uri="{FF2B5EF4-FFF2-40B4-BE49-F238E27FC236}">
                <a16:creationId xmlns:a16="http://schemas.microsoft.com/office/drawing/2014/main" id="{719788D1-E9C5-0F4A-8810-754F939098D4}"/>
              </a:ext>
            </a:extLst>
          </p:cNvPr>
          <p:cNvSpPr txBox="1"/>
          <p:nvPr/>
        </p:nvSpPr>
        <p:spPr>
          <a:xfrm>
            <a:off x="1980864" y="4156886"/>
            <a:ext cx="2031325" cy="369332"/>
          </a:xfrm>
          <a:prstGeom prst="rect">
            <a:avLst/>
          </a:prstGeom>
          <a:noFill/>
        </p:spPr>
        <p:txBody>
          <a:bodyPr wrap="none" rtlCol="0">
            <a:spAutoFit/>
          </a:bodyPr>
          <a:lstStyle/>
          <a:p>
            <a:r>
              <a:rPr lang="en-IN" sz="1800" b="1" dirty="0"/>
              <a:t>Expected Output</a:t>
            </a:r>
            <a:endParaRPr lang="en-IN" sz="1800" dirty="0"/>
          </a:p>
        </p:txBody>
      </p:sp>
      <p:sp>
        <p:nvSpPr>
          <p:cNvPr id="12" name="TextBox 11">
            <a:extLst>
              <a:ext uri="{FF2B5EF4-FFF2-40B4-BE49-F238E27FC236}">
                <a16:creationId xmlns:a16="http://schemas.microsoft.com/office/drawing/2014/main" id="{1D347F54-1599-3C17-D398-ABE8CC7CF55A}"/>
              </a:ext>
            </a:extLst>
          </p:cNvPr>
          <p:cNvSpPr txBox="1"/>
          <p:nvPr/>
        </p:nvSpPr>
        <p:spPr>
          <a:xfrm>
            <a:off x="2253363" y="5594978"/>
            <a:ext cx="1710725" cy="369332"/>
          </a:xfrm>
          <a:prstGeom prst="rect">
            <a:avLst/>
          </a:prstGeom>
          <a:noFill/>
        </p:spPr>
        <p:txBody>
          <a:bodyPr wrap="none" rtlCol="0">
            <a:spAutoFit/>
          </a:bodyPr>
          <a:lstStyle/>
          <a:p>
            <a:r>
              <a:rPr lang="en-IN" sz="1800" b="1" dirty="0"/>
              <a:t>Actual Output</a:t>
            </a:r>
            <a:endParaRPr lang="en-IN" sz="1800" dirty="0"/>
          </a:p>
        </p:txBody>
      </p:sp>
      <p:sp>
        <p:nvSpPr>
          <p:cNvPr id="13" name="TextBox 12">
            <a:extLst>
              <a:ext uri="{FF2B5EF4-FFF2-40B4-BE49-F238E27FC236}">
                <a16:creationId xmlns:a16="http://schemas.microsoft.com/office/drawing/2014/main" id="{ADD39960-1E06-C1BA-B893-C165E414FDF6}"/>
              </a:ext>
            </a:extLst>
          </p:cNvPr>
          <p:cNvSpPr txBox="1"/>
          <p:nvPr/>
        </p:nvSpPr>
        <p:spPr>
          <a:xfrm>
            <a:off x="2499424" y="6714390"/>
            <a:ext cx="1159292" cy="369332"/>
          </a:xfrm>
          <a:prstGeom prst="rect">
            <a:avLst/>
          </a:prstGeom>
          <a:noFill/>
        </p:spPr>
        <p:txBody>
          <a:bodyPr wrap="none" rtlCol="0">
            <a:spAutoFit/>
          </a:bodyPr>
          <a:lstStyle/>
          <a:p>
            <a:r>
              <a:rPr lang="en-IN" sz="1800" b="1" dirty="0"/>
              <a:t>Remarks</a:t>
            </a:r>
          </a:p>
        </p:txBody>
      </p:sp>
      <p:sp>
        <p:nvSpPr>
          <p:cNvPr id="14" name="TextBox 13">
            <a:extLst>
              <a:ext uri="{FF2B5EF4-FFF2-40B4-BE49-F238E27FC236}">
                <a16:creationId xmlns:a16="http://schemas.microsoft.com/office/drawing/2014/main" id="{53242C55-CAA3-315A-33AA-E10A9B82D063}"/>
              </a:ext>
            </a:extLst>
          </p:cNvPr>
          <p:cNvSpPr txBox="1"/>
          <p:nvPr/>
        </p:nvSpPr>
        <p:spPr>
          <a:xfrm>
            <a:off x="7876316" y="1618457"/>
            <a:ext cx="5493812" cy="369332"/>
          </a:xfrm>
          <a:prstGeom prst="rect">
            <a:avLst/>
          </a:prstGeom>
          <a:noFill/>
        </p:spPr>
        <p:txBody>
          <a:bodyPr wrap="none" rtlCol="0">
            <a:spAutoFit/>
          </a:bodyPr>
          <a:lstStyle/>
          <a:p>
            <a:r>
              <a:rPr lang="en-US" sz="1800" dirty="0"/>
              <a:t>Sudden Motion Trigger - Medium Severity Detection</a:t>
            </a:r>
            <a:endParaRPr lang="en-IN" sz="1800" dirty="0"/>
          </a:p>
        </p:txBody>
      </p:sp>
      <p:sp>
        <p:nvSpPr>
          <p:cNvPr id="15" name="TextBox 14">
            <a:extLst>
              <a:ext uri="{FF2B5EF4-FFF2-40B4-BE49-F238E27FC236}">
                <a16:creationId xmlns:a16="http://schemas.microsoft.com/office/drawing/2014/main" id="{70BAEC53-3F30-E5DA-1BAA-E3A57455406E}"/>
              </a:ext>
            </a:extLst>
          </p:cNvPr>
          <p:cNvSpPr txBox="1"/>
          <p:nvPr/>
        </p:nvSpPr>
        <p:spPr>
          <a:xfrm>
            <a:off x="7876316" y="2240111"/>
            <a:ext cx="3824769" cy="923330"/>
          </a:xfrm>
          <a:prstGeom prst="rect">
            <a:avLst/>
          </a:prstGeom>
          <a:noFill/>
        </p:spPr>
        <p:txBody>
          <a:bodyPr wrap="square" rtlCol="0">
            <a:spAutoFit/>
          </a:bodyPr>
          <a:lstStyle/>
          <a:p>
            <a:r>
              <a:rPr lang="en-US" sz="1800" dirty="0"/>
              <a:t>Create a sudden impact or quick jerk on the MPU6050 sensor without vigorous shaking.</a:t>
            </a:r>
            <a:endParaRPr lang="en-IN" sz="1800" dirty="0"/>
          </a:p>
        </p:txBody>
      </p:sp>
      <p:sp>
        <p:nvSpPr>
          <p:cNvPr id="16" name="TextBox 15">
            <a:extLst>
              <a:ext uri="{FF2B5EF4-FFF2-40B4-BE49-F238E27FC236}">
                <a16:creationId xmlns:a16="http://schemas.microsoft.com/office/drawing/2014/main" id="{FA9CF06F-D852-EE85-AABD-B221158C2904}"/>
              </a:ext>
            </a:extLst>
          </p:cNvPr>
          <p:cNvSpPr txBox="1"/>
          <p:nvPr/>
        </p:nvSpPr>
        <p:spPr>
          <a:xfrm>
            <a:off x="7876316" y="3376136"/>
            <a:ext cx="3587262" cy="1477328"/>
          </a:xfrm>
          <a:prstGeom prst="rect">
            <a:avLst/>
          </a:prstGeom>
          <a:noFill/>
        </p:spPr>
        <p:txBody>
          <a:bodyPr wrap="square" rtlCol="0">
            <a:spAutoFit/>
          </a:bodyPr>
          <a:lstStyle/>
          <a:p>
            <a:r>
              <a:rPr lang="en-US" sz="1800" dirty="0"/>
              <a:t>System should detect abnormal </a:t>
            </a:r>
            <a:r>
              <a:rPr lang="en-US" sz="1800" dirty="0" err="1"/>
              <a:t>motion.Severity</a:t>
            </a:r>
            <a:r>
              <a:rPr lang="en-US" sz="1800" dirty="0"/>
              <a:t> should be classified as </a:t>
            </a:r>
            <a:r>
              <a:rPr lang="en-US" sz="1800" dirty="0" err="1"/>
              <a:t>MEDIUM.Buzzer</a:t>
            </a:r>
            <a:r>
              <a:rPr lang="en-US" sz="1800" dirty="0"/>
              <a:t>, LCD, dashboard, and alert pipeline should respond.</a:t>
            </a:r>
            <a:endParaRPr lang="en-IN" sz="1800" dirty="0"/>
          </a:p>
        </p:txBody>
      </p:sp>
      <p:sp>
        <p:nvSpPr>
          <p:cNvPr id="17" name="TextBox 16">
            <a:extLst>
              <a:ext uri="{FF2B5EF4-FFF2-40B4-BE49-F238E27FC236}">
                <a16:creationId xmlns:a16="http://schemas.microsoft.com/office/drawing/2014/main" id="{C521B6A8-923C-62E2-E190-C626E6F05836}"/>
              </a:ext>
            </a:extLst>
          </p:cNvPr>
          <p:cNvSpPr txBox="1"/>
          <p:nvPr/>
        </p:nvSpPr>
        <p:spPr>
          <a:xfrm>
            <a:off x="7876316" y="5101750"/>
            <a:ext cx="4216789" cy="1477328"/>
          </a:xfrm>
          <a:prstGeom prst="rect">
            <a:avLst/>
          </a:prstGeom>
          <a:noFill/>
        </p:spPr>
        <p:txBody>
          <a:bodyPr wrap="square" rtlCol="0">
            <a:spAutoFit/>
          </a:bodyPr>
          <a:lstStyle/>
          <a:p>
            <a:r>
              <a:rPr lang="en-US" sz="1800" dirty="0"/>
              <a:t>Sudden motion threshold was </a:t>
            </a:r>
            <a:r>
              <a:rPr lang="en-US" sz="1800" dirty="0" err="1"/>
              <a:t>crossed.System</a:t>
            </a:r>
            <a:r>
              <a:rPr lang="en-US" sz="1800" dirty="0"/>
              <a:t> marked the event as an accident </a:t>
            </a:r>
            <a:r>
              <a:rPr lang="en-US" sz="1800" dirty="0" err="1"/>
              <a:t>condition.Severity</a:t>
            </a:r>
            <a:r>
              <a:rPr lang="en-US" sz="1800" dirty="0"/>
              <a:t> was reported as MEDIUM and alert outputs were generated.</a:t>
            </a:r>
            <a:endParaRPr lang="en-IN" sz="1800" dirty="0"/>
          </a:p>
        </p:txBody>
      </p:sp>
      <p:sp>
        <p:nvSpPr>
          <p:cNvPr id="18" name="TextBox 17">
            <a:extLst>
              <a:ext uri="{FF2B5EF4-FFF2-40B4-BE49-F238E27FC236}">
                <a16:creationId xmlns:a16="http://schemas.microsoft.com/office/drawing/2014/main" id="{8A0D2ED8-E5ED-16A9-D1E4-9828E7C4A618}"/>
              </a:ext>
            </a:extLst>
          </p:cNvPr>
          <p:cNvSpPr txBox="1"/>
          <p:nvPr/>
        </p:nvSpPr>
        <p:spPr>
          <a:xfrm>
            <a:off x="7876316" y="6714390"/>
            <a:ext cx="1056700" cy="369332"/>
          </a:xfrm>
          <a:prstGeom prst="rect">
            <a:avLst/>
          </a:prstGeom>
          <a:noFill/>
        </p:spPr>
        <p:txBody>
          <a:bodyPr wrap="none" rtlCol="0">
            <a:spAutoFit/>
          </a:bodyPr>
          <a:lstStyle/>
          <a:p>
            <a:r>
              <a:rPr lang="en-IN" sz="1800" dirty="0"/>
              <a:t>Success</a:t>
            </a:r>
          </a:p>
        </p:txBody>
      </p:sp>
    </p:spTree>
    <p:extLst>
      <p:ext uri="{BB962C8B-B14F-4D97-AF65-F5344CB8AC3E}">
        <p14:creationId xmlns:p14="http://schemas.microsoft.com/office/powerpoint/2010/main" val="1888778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66C6C6-B3FC-9DDC-5F5B-5A8AE8A91E8B}"/>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C278AD91-1413-464B-5F26-B16D27E8AF7C}"/>
              </a:ext>
            </a:extLst>
          </p:cNvPr>
          <p:cNvGraphicFramePr>
            <a:graphicFrameLocks noGrp="1"/>
          </p:cNvGraphicFramePr>
          <p:nvPr>
            <p:extLst>
              <p:ext uri="{D42A27DB-BD31-4B8C-83A1-F6EECF244321}">
                <p14:modId xmlns:p14="http://schemas.microsoft.com/office/powerpoint/2010/main" val="288715774"/>
              </p:ext>
            </p:extLst>
          </p:nvPr>
        </p:nvGraphicFramePr>
        <p:xfrm>
          <a:off x="1260272" y="336920"/>
          <a:ext cx="12454570" cy="6876226"/>
        </p:xfrm>
        <a:graphic>
          <a:graphicData uri="http://schemas.openxmlformats.org/drawingml/2006/table">
            <a:tbl>
              <a:tblPr firstRow="1" bandRow="1">
                <a:tableStyleId>{5C22544A-7EE6-4342-B048-85BDC9FD1C3A}</a:tableStyleId>
              </a:tblPr>
              <a:tblGrid>
                <a:gridCol w="4776215">
                  <a:extLst>
                    <a:ext uri="{9D8B030D-6E8A-4147-A177-3AD203B41FA5}">
                      <a16:colId xmlns:a16="http://schemas.microsoft.com/office/drawing/2014/main" val="2420775494"/>
                    </a:ext>
                  </a:extLst>
                </a:gridCol>
                <a:gridCol w="7678355">
                  <a:extLst>
                    <a:ext uri="{9D8B030D-6E8A-4147-A177-3AD203B41FA5}">
                      <a16:colId xmlns:a16="http://schemas.microsoft.com/office/drawing/2014/main" val="90391192"/>
                    </a:ext>
                  </a:extLst>
                </a:gridCol>
              </a:tblGrid>
              <a:tr h="1104493">
                <a:tc>
                  <a:txBody>
                    <a:bodyPr/>
                    <a:lstStyle/>
                    <a:p>
                      <a:pPr algn="just"/>
                      <a:endParaRPr lang="en-IN" b="1" dirty="0"/>
                    </a:p>
                  </a:txBody>
                  <a:tcPr/>
                </a:tc>
                <a:tc>
                  <a:txBody>
                    <a:bodyPr/>
                    <a:lstStyle/>
                    <a:p>
                      <a:pPr algn="just"/>
                      <a:endParaRPr lang="en-IN" b="1" dirty="0"/>
                    </a:p>
                  </a:txBody>
                  <a:tcPr/>
                </a:tc>
                <a:extLst>
                  <a:ext uri="{0D108BD9-81ED-4DB2-BD59-A6C34878D82A}">
                    <a16:rowId xmlns:a16="http://schemas.microsoft.com/office/drawing/2014/main" val="1543488890"/>
                  </a:ext>
                </a:extLst>
              </a:tr>
              <a:tr h="690424">
                <a:tc>
                  <a:txBody>
                    <a:bodyPr/>
                    <a:lstStyle/>
                    <a:p>
                      <a:pPr algn="just"/>
                      <a:r>
                        <a:rPr lang="en-IN" sz="2000" b="1" dirty="0"/>
                        <a:t>                    </a:t>
                      </a:r>
                    </a:p>
                  </a:txBody>
                  <a:tcPr/>
                </a:tc>
                <a:tc>
                  <a:txBody>
                    <a:bodyPr/>
                    <a:lstStyle/>
                    <a:p>
                      <a:pPr algn="just"/>
                      <a:endParaRPr lang="en-IN" b="1" dirty="0"/>
                    </a:p>
                  </a:txBody>
                  <a:tcPr/>
                </a:tc>
                <a:extLst>
                  <a:ext uri="{0D108BD9-81ED-4DB2-BD59-A6C34878D82A}">
                    <a16:rowId xmlns:a16="http://schemas.microsoft.com/office/drawing/2014/main" val="3311378231"/>
                  </a:ext>
                </a:extLst>
              </a:tr>
              <a:tr h="1112703">
                <a:tc>
                  <a:txBody>
                    <a:bodyPr/>
                    <a:lstStyle/>
                    <a:p>
                      <a:pPr algn="just"/>
                      <a:r>
                        <a:rPr lang="en-IN" sz="2000" b="1" dirty="0"/>
                        <a:t>                  </a:t>
                      </a:r>
                    </a:p>
                  </a:txBody>
                  <a:tcPr/>
                </a:tc>
                <a:tc>
                  <a:txBody>
                    <a:bodyPr/>
                    <a:lstStyle/>
                    <a:p>
                      <a:pPr algn="just"/>
                      <a:endParaRPr lang="en-IN" b="1" dirty="0"/>
                    </a:p>
                  </a:txBody>
                  <a:tcPr/>
                </a:tc>
                <a:extLst>
                  <a:ext uri="{0D108BD9-81ED-4DB2-BD59-A6C34878D82A}">
                    <a16:rowId xmlns:a16="http://schemas.microsoft.com/office/drawing/2014/main" val="3608251626"/>
                  </a:ext>
                </a:extLst>
              </a:tr>
              <a:tr h="1806767">
                <a:tc>
                  <a:txBody>
                    <a:bodyPr/>
                    <a:lstStyle/>
                    <a:p>
                      <a:pPr algn="just"/>
                      <a:r>
                        <a:rPr lang="en-IN" sz="2000" b="1" dirty="0"/>
                        <a:t>                </a:t>
                      </a:r>
                    </a:p>
                  </a:txBody>
                  <a:tcPr/>
                </a:tc>
                <a:tc>
                  <a:txBody>
                    <a:bodyPr/>
                    <a:lstStyle/>
                    <a:p>
                      <a:pPr algn="just"/>
                      <a:endParaRPr lang="en-IN" b="1" dirty="0"/>
                    </a:p>
                  </a:txBody>
                  <a:tcPr/>
                </a:tc>
                <a:extLst>
                  <a:ext uri="{0D108BD9-81ED-4DB2-BD59-A6C34878D82A}">
                    <a16:rowId xmlns:a16="http://schemas.microsoft.com/office/drawing/2014/main" val="3584109961"/>
                  </a:ext>
                </a:extLst>
              </a:tr>
              <a:tr h="1572247">
                <a:tc>
                  <a:txBody>
                    <a:bodyPr/>
                    <a:lstStyle/>
                    <a:p>
                      <a:pPr algn="just"/>
                      <a:r>
                        <a:rPr lang="en-IN" sz="2000" b="1" dirty="0"/>
                        <a:t>                 </a:t>
                      </a:r>
                    </a:p>
                  </a:txBody>
                  <a:tcPr/>
                </a:tc>
                <a:tc>
                  <a:txBody>
                    <a:bodyPr/>
                    <a:lstStyle/>
                    <a:p>
                      <a:pPr algn="just"/>
                      <a:endParaRPr lang="en-IN" b="1" dirty="0"/>
                    </a:p>
                  </a:txBody>
                  <a:tcPr/>
                </a:tc>
                <a:extLst>
                  <a:ext uri="{0D108BD9-81ED-4DB2-BD59-A6C34878D82A}">
                    <a16:rowId xmlns:a16="http://schemas.microsoft.com/office/drawing/2014/main" val="376483304"/>
                  </a:ext>
                </a:extLst>
              </a:tr>
              <a:tr h="589592">
                <a:tc>
                  <a:txBody>
                    <a:bodyPr/>
                    <a:lstStyle/>
                    <a:p>
                      <a:pPr algn="just"/>
                      <a:endParaRPr lang="en-IN" b="1" dirty="0"/>
                    </a:p>
                  </a:txBody>
                  <a:tcPr/>
                </a:tc>
                <a:tc>
                  <a:txBody>
                    <a:bodyPr/>
                    <a:lstStyle/>
                    <a:p>
                      <a:pPr algn="just"/>
                      <a:endParaRPr lang="en-IN" b="1" dirty="0"/>
                    </a:p>
                  </a:txBody>
                  <a:tcPr/>
                </a:tc>
                <a:extLst>
                  <a:ext uri="{0D108BD9-81ED-4DB2-BD59-A6C34878D82A}">
                    <a16:rowId xmlns:a16="http://schemas.microsoft.com/office/drawing/2014/main" val="2029611722"/>
                  </a:ext>
                </a:extLst>
              </a:tr>
            </a:tbl>
          </a:graphicData>
        </a:graphic>
      </p:graphicFrame>
      <p:sp>
        <p:nvSpPr>
          <p:cNvPr id="5" name="TextBox 4">
            <a:extLst>
              <a:ext uri="{FF2B5EF4-FFF2-40B4-BE49-F238E27FC236}">
                <a16:creationId xmlns:a16="http://schemas.microsoft.com/office/drawing/2014/main" id="{A4EE2C11-2FF1-801D-27A5-E8A034FC58B6}"/>
              </a:ext>
            </a:extLst>
          </p:cNvPr>
          <p:cNvSpPr txBox="1"/>
          <p:nvPr/>
        </p:nvSpPr>
        <p:spPr>
          <a:xfrm>
            <a:off x="1980864" y="579631"/>
            <a:ext cx="1366080" cy="369332"/>
          </a:xfrm>
          <a:prstGeom prst="rect">
            <a:avLst/>
          </a:prstGeom>
          <a:noFill/>
        </p:spPr>
        <p:txBody>
          <a:bodyPr wrap="square" rtlCol="0">
            <a:spAutoFit/>
          </a:bodyPr>
          <a:lstStyle/>
          <a:p>
            <a:pPr algn="ctr"/>
            <a:r>
              <a:rPr lang="en-IN" sz="1800" b="1" dirty="0"/>
              <a:t>Test No</a:t>
            </a:r>
          </a:p>
        </p:txBody>
      </p:sp>
      <p:sp>
        <p:nvSpPr>
          <p:cNvPr id="6" name="TextBox 5">
            <a:extLst>
              <a:ext uri="{FF2B5EF4-FFF2-40B4-BE49-F238E27FC236}">
                <a16:creationId xmlns:a16="http://schemas.microsoft.com/office/drawing/2014/main" id="{D6A46E45-48DF-9C99-7E6D-7B1AFEE150E8}"/>
              </a:ext>
            </a:extLst>
          </p:cNvPr>
          <p:cNvSpPr txBox="1"/>
          <p:nvPr/>
        </p:nvSpPr>
        <p:spPr>
          <a:xfrm>
            <a:off x="9449375" y="579631"/>
            <a:ext cx="441146" cy="369332"/>
          </a:xfrm>
          <a:prstGeom prst="rect">
            <a:avLst/>
          </a:prstGeom>
          <a:noFill/>
        </p:spPr>
        <p:txBody>
          <a:bodyPr wrap="none" rtlCol="0">
            <a:spAutoFit/>
          </a:bodyPr>
          <a:lstStyle/>
          <a:p>
            <a:r>
              <a:rPr lang="en-IN" sz="1800" b="1" dirty="0"/>
              <a:t>04</a:t>
            </a:r>
          </a:p>
        </p:txBody>
      </p:sp>
      <p:sp>
        <p:nvSpPr>
          <p:cNvPr id="8" name="TextBox 7">
            <a:extLst>
              <a:ext uri="{FF2B5EF4-FFF2-40B4-BE49-F238E27FC236}">
                <a16:creationId xmlns:a16="http://schemas.microsoft.com/office/drawing/2014/main" id="{DA667E05-A45D-0720-9D03-253A508648B3}"/>
              </a:ext>
            </a:extLst>
          </p:cNvPr>
          <p:cNvSpPr txBox="1"/>
          <p:nvPr/>
        </p:nvSpPr>
        <p:spPr>
          <a:xfrm>
            <a:off x="2199395" y="1574035"/>
            <a:ext cx="1415772" cy="369332"/>
          </a:xfrm>
          <a:prstGeom prst="rect">
            <a:avLst/>
          </a:prstGeom>
          <a:noFill/>
        </p:spPr>
        <p:txBody>
          <a:bodyPr wrap="none" rtlCol="0">
            <a:spAutoFit/>
          </a:bodyPr>
          <a:lstStyle/>
          <a:p>
            <a:pPr algn="ctr"/>
            <a:r>
              <a:rPr lang="en-IN" sz="1800" b="1" dirty="0"/>
              <a:t> Test Name</a:t>
            </a:r>
          </a:p>
        </p:txBody>
      </p:sp>
      <p:sp>
        <p:nvSpPr>
          <p:cNvPr id="9" name="TextBox 8">
            <a:extLst>
              <a:ext uri="{FF2B5EF4-FFF2-40B4-BE49-F238E27FC236}">
                <a16:creationId xmlns:a16="http://schemas.microsoft.com/office/drawing/2014/main" id="{55392B96-5498-95FB-45C2-ED71C654272A}"/>
              </a:ext>
            </a:extLst>
          </p:cNvPr>
          <p:cNvSpPr txBox="1"/>
          <p:nvPr/>
        </p:nvSpPr>
        <p:spPr>
          <a:xfrm>
            <a:off x="2199395" y="2530645"/>
            <a:ext cx="1697901" cy="369332"/>
          </a:xfrm>
          <a:prstGeom prst="rect">
            <a:avLst/>
          </a:prstGeom>
          <a:noFill/>
        </p:spPr>
        <p:txBody>
          <a:bodyPr wrap="none" rtlCol="0">
            <a:spAutoFit/>
          </a:bodyPr>
          <a:lstStyle/>
          <a:p>
            <a:r>
              <a:rPr lang="en-IN" sz="1800" b="1" dirty="0"/>
              <a:t>Test Scenario</a:t>
            </a:r>
          </a:p>
        </p:txBody>
      </p:sp>
      <p:sp>
        <p:nvSpPr>
          <p:cNvPr id="10" name="TextBox 9">
            <a:extLst>
              <a:ext uri="{FF2B5EF4-FFF2-40B4-BE49-F238E27FC236}">
                <a16:creationId xmlns:a16="http://schemas.microsoft.com/office/drawing/2014/main" id="{EE1649A9-591B-3638-F839-D64EF909300B}"/>
              </a:ext>
            </a:extLst>
          </p:cNvPr>
          <p:cNvSpPr txBox="1"/>
          <p:nvPr/>
        </p:nvSpPr>
        <p:spPr>
          <a:xfrm>
            <a:off x="2063407" y="3697915"/>
            <a:ext cx="2031325" cy="369332"/>
          </a:xfrm>
          <a:prstGeom prst="rect">
            <a:avLst/>
          </a:prstGeom>
          <a:noFill/>
        </p:spPr>
        <p:txBody>
          <a:bodyPr wrap="none" rtlCol="0">
            <a:spAutoFit/>
          </a:bodyPr>
          <a:lstStyle/>
          <a:p>
            <a:r>
              <a:rPr lang="en-IN" sz="1800" b="1" dirty="0"/>
              <a:t>Expected Output</a:t>
            </a:r>
            <a:endParaRPr lang="en-IN" sz="1800" dirty="0"/>
          </a:p>
        </p:txBody>
      </p:sp>
      <p:sp>
        <p:nvSpPr>
          <p:cNvPr id="12" name="TextBox 11">
            <a:extLst>
              <a:ext uri="{FF2B5EF4-FFF2-40B4-BE49-F238E27FC236}">
                <a16:creationId xmlns:a16="http://schemas.microsoft.com/office/drawing/2014/main" id="{B7DE36FB-4FF5-7152-E17B-2F0AB2BD82E9}"/>
              </a:ext>
            </a:extLst>
          </p:cNvPr>
          <p:cNvSpPr txBox="1"/>
          <p:nvPr/>
        </p:nvSpPr>
        <p:spPr>
          <a:xfrm>
            <a:off x="2253363" y="5594978"/>
            <a:ext cx="1710725" cy="369332"/>
          </a:xfrm>
          <a:prstGeom prst="rect">
            <a:avLst/>
          </a:prstGeom>
          <a:noFill/>
        </p:spPr>
        <p:txBody>
          <a:bodyPr wrap="none" rtlCol="0">
            <a:spAutoFit/>
          </a:bodyPr>
          <a:lstStyle/>
          <a:p>
            <a:r>
              <a:rPr lang="en-IN" sz="1800" b="1" dirty="0"/>
              <a:t>Actual Output</a:t>
            </a:r>
            <a:endParaRPr lang="en-IN" sz="1800" dirty="0"/>
          </a:p>
        </p:txBody>
      </p:sp>
      <p:sp>
        <p:nvSpPr>
          <p:cNvPr id="13" name="TextBox 12">
            <a:extLst>
              <a:ext uri="{FF2B5EF4-FFF2-40B4-BE49-F238E27FC236}">
                <a16:creationId xmlns:a16="http://schemas.microsoft.com/office/drawing/2014/main" id="{7ABEA1A5-EA4B-EA94-637F-154D3DEA06B4}"/>
              </a:ext>
            </a:extLst>
          </p:cNvPr>
          <p:cNvSpPr txBox="1"/>
          <p:nvPr/>
        </p:nvSpPr>
        <p:spPr>
          <a:xfrm>
            <a:off x="2499424" y="6714390"/>
            <a:ext cx="1159292" cy="369332"/>
          </a:xfrm>
          <a:prstGeom prst="rect">
            <a:avLst/>
          </a:prstGeom>
          <a:noFill/>
        </p:spPr>
        <p:txBody>
          <a:bodyPr wrap="none" rtlCol="0">
            <a:spAutoFit/>
          </a:bodyPr>
          <a:lstStyle/>
          <a:p>
            <a:r>
              <a:rPr lang="en-IN" sz="1800" b="1" dirty="0"/>
              <a:t>Remarks</a:t>
            </a:r>
          </a:p>
        </p:txBody>
      </p:sp>
      <p:sp>
        <p:nvSpPr>
          <p:cNvPr id="14" name="TextBox 13">
            <a:extLst>
              <a:ext uri="{FF2B5EF4-FFF2-40B4-BE49-F238E27FC236}">
                <a16:creationId xmlns:a16="http://schemas.microsoft.com/office/drawing/2014/main" id="{1BB00F02-5BA3-8445-90C3-1D853C0AF375}"/>
              </a:ext>
            </a:extLst>
          </p:cNvPr>
          <p:cNvSpPr txBox="1"/>
          <p:nvPr/>
        </p:nvSpPr>
        <p:spPr>
          <a:xfrm>
            <a:off x="7876316" y="1618457"/>
            <a:ext cx="5493812" cy="369332"/>
          </a:xfrm>
          <a:prstGeom prst="rect">
            <a:avLst/>
          </a:prstGeom>
          <a:noFill/>
        </p:spPr>
        <p:txBody>
          <a:bodyPr wrap="none" rtlCol="0">
            <a:spAutoFit/>
          </a:bodyPr>
          <a:lstStyle/>
          <a:p>
            <a:r>
              <a:rPr lang="en-US" sz="1800" dirty="0"/>
              <a:t>Vigorous MPU6050 Shake - High Severity Detection</a:t>
            </a:r>
            <a:endParaRPr lang="en-IN" sz="1800" dirty="0"/>
          </a:p>
        </p:txBody>
      </p:sp>
      <p:sp>
        <p:nvSpPr>
          <p:cNvPr id="15" name="TextBox 14">
            <a:extLst>
              <a:ext uri="{FF2B5EF4-FFF2-40B4-BE49-F238E27FC236}">
                <a16:creationId xmlns:a16="http://schemas.microsoft.com/office/drawing/2014/main" id="{4BC7C77D-383C-49C3-B81F-7ECBF5E555E5}"/>
              </a:ext>
            </a:extLst>
          </p:cNvPr>
          <p:cNvSpPr txBox="1"/>
          <p:nvPr/>
        </p:nvSpPr>
        <p:spPr>
          <a:xfrm>
            <a:off x="7876316" y="2240111"/>
            <a:ext cx="3824769" cy="923330"/>
          </a:xfrm>
          <a:prstGeom prst="rect">
            <a:avLst/>
          </a:prstGeom>
          <a:noFill/>
        </p:spPr>
        <p:txBody>
          <a:bodyPr wrap="square" rtlCol="0">
            <a:spAutoFit/>
          </a:bodyPr>
          <a:lstStyle/>
          <a:p>
            <a:r>
              <a:rPr lang="en-US" sz="1800" dirty="0"/>
              <a:t>Shake the MPU6050 sensor vigorously to simulate a severe accident event.</a:t>
            </a:r>
            <a:endParaRPr lang="en-IN" sz="1800" dirty="0"/>
          </a:p>
        </p:txBody>
      </p:sp>
      <p:sp>
        <p:nvSpPr>
          <p:cNvPr id="16" name="TextBox 15">
            <a:extLst>
              <a:ext uri="{FF2B5EF4-FFF2-40B4-BE49-F238E27FC236}">
                <a16:creationId xmlns:a16="http://schemas.microsoft.com/office/drawing/2014/main" id="{941FA1BC-6E71-7B1A-4477-C15764140D37}"/>
              </a:ext>
            </a:extLst>
          </p:cNvPr>
          <p:cNvSpPr txBox="1"/>
          <p:nvPr/>
        </p:nvSpPr>
        <p:spPr>
          <a:xfrm>
            <a:off x="7876316" y="3376136"/>
            <a:ext cx="3587262" cy="1477328"/>
          </a:xfrm>
          <a:prstGeom prst="rect">
            <a:avLst/>
          </a:prstGeom>
          <a:noFill/>
        </p:spPr>
        <p:txBody>
          <a:bodyPr wrap="square" rtlCol="0">
            <a:spAutoFit/>
          </a:bodyPr>
          <a:lstStyle/>
          <a:p>
            <a:r>
              <a:rPr lang="en-US" sz="1800" dirty="0"/>
              <a:t>System should classify the event as HIGH </a:t>
            </a:r>
            <a:r>
              <a:rPr lang="en-US" sz="1800" dirty="0" err="1"/>
              <a:t>severity.Motor</a:t>
            </a:r>
            <a:r>
              <a:rPr lang="en-US" sz="1800" dirty="0"/>
              <a:t> should stop and accident alert should be displayed on LCD and dashboard.</a:t>
            </a:r>
            <a:endParaRPr lang="en-IN" sz="1800" dirty="0"/>
          </a:p>
        </p:txBody>
      </p:sp>
      <p:sp>
        <p:nvSpPr>
          <p:cNvPr id="17" name="TextBox 16">
            <a:extLst>
              <a:ext uri="{FF2B5EF4-FFF2-40B4-BE49-F238E27FC236}">
                <a16:creationId xmlns:a16="http://schemas.microsoft.com/office/drawing/2014/main" id="{0ACCFA01-C1BA-4872-2084-B286EC71FA63}"/>
              </a:ext>
            </a:extLst>
          </p:cNvPr>
          <p:cNvSpPr txBox="1"/>
          <p:nvPr/>
        </p:nvSpPr>
        <p:spPr>
          <a:xfrm>
            <a:off x="7876316" y="5101750"/>
            <a:ext cx="4216789" cy="1200329"/>
          </a:xfrm>
          <a:prstGeom prst="rect">
            <a:avLst/>
          </a:prstGeom>
          <a:noFill/>
        </p:spPr>
        <p:txBody>
          <a:bodyPr wrap="square" rtlCol="0">
            <a:spAutoFit/>
          </a:bodyPr>
          <a:lstStyle/>
          <a:p>
            <a:r>
              <a:rPr lang="en-US" sz="1800" dirty="0"/>
              <a:t>High motion threshold was detected </a:t>
            </a:r>
            <a:r>
              <a:rPr lang="en-US" sz="1800" dirty="0" err="1"/>
              <a:t>successfully.Severity</a:t>
            </a:r>
            <a:r>
              <a:rPr lang="en-US" sz="1800" dirty="0"/>
              <a:t> was classified as </a:t>
            </a:r>
            <a:r>
              <a:rPr lang="en-US" sz="1800" dirty="0" err="1"/>
              <a:t>HIGH.Motor</a:t>
            </a:r>
            <a:r>
              <a:rPr lang="en-US" sz="1800" dirty="0"/>
              <a:t> stopped and alert indicators were activated correctly.</a:t>
            </a:r>
            <a:endParaRPr lang="en-IN" sz="1800" dirty="0"/>
          </a:p>
        </p:txBody>
      </p:sp>
      <p:sp>
        <p:nvSpPr>
          <p:cNvPr id="18" name="TextBox 17">
            <a:extLst>
              <a:ext uri="{FF2B5EF4-FFF2-40B4-BE49-F238E27FC236}">
                <a16:creationId xmlns:a16="http://schemas.microsoft.com/office/drawing/2014/main" id="{8343A31B-95B6-836B-2BFB-2D0D80635CAA}"/>
              </a:ext>
            </a:extLst>
          </p:cNvPr>
          <p:cNvSpPr txBox="1"/>
          <p:nvPr/>
        </p:nvSpPr>
        <p:spPr>
          <a:xfrm>
            <a:off x="8110809" y="6714390"/>
            <a:ext cx="3890809" cy="369332"/>
          </a:xfrm>
          <a:prstGeom prst="rect">
            <a:avLst/>
          </a:prstGeom>
          <a:noFill/>
        </p:spPr>
        <p:txBody>
          <a:bodyPr wrap="none" rtlCol="0">
            <a:spAutoFit/>
          </a:bodyPr>
          <a:lstStyle/>
          <a:p>
            <a:r>
              <a:rPr lang="en-IN" sz="1800" dirty="0"/>
              <a:t>Initially failed, corrected </a:t>
            </a:r>
            <a:r>
              <a:rPr lang="en-IN" sz="1800" dirty="0" err="1"/>
              <a:t>lmmediately</a:t>
            </a:r>
            <a:endParaRPr lang="en-IN" sz="1800" dirty="0"/>
          </a:p>
        </p:txBody>
      </p:sp>
    </p:spTree>
    <p:extLst>
      <p:ext uri="{BB962C8B-B14F-4D97-AF65-F5344CB8AC3E}">
        <p14:creationId xmlns:p14="http://schemas.microsoft.com/office/powerpoint/2010/main" val="34472173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ADFB7-6053-C2E6-9A44-AE674B2531D9}"/>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10CEDF1B-7433-585E-3212-F5762CB855B6}"/>
              </a:ext>
            </a:extLst>
          </p:cNvPr>
          <p:cNvGraphicFramePr>
            <a:graphicFrameLocks noGrp="1"/>
          </p:cNvGraphicFramePr>
          <p:nvPr>
            <p:extLst>
              <p:ext uri="{D42A27DB-BD31-4B8C-83A1-F6EECF244321}">
                <p14:modId xmlns:p14="http://schemas.microsoft.com/office/powerpoint/2010/main" val="1280078417"/>
              </p:ext>
            </p:extLst>
          </p:nvPr>
        </p:nvGraphicFramePr>
        <p:xfrm>
          <a:off x="1315356" y="179903"/>
          <a:ext cx="12454570" cy="7057931"/>
        </p:xfrm>
        <a:graphic>
          <a:graphicData uri="http://schemas.openxmlformats.org/drawingml/2006/table">
            <a:tbl>
              <a:tblPr firstRow="1" bandRow="1">
                <a:tableStyleId>{5C22544A-7EE6-4342-B048-85BDC9FD1C3A}</a:tableStyleId>
              </a:tblPr>
              <a:tblGrid>
                <a:gridCol w="4776215">
                  <a:extLst>
                    <a:ext uri="{9D8B030D-6E8A-4147-A177-3AD203B41FA5}">
                      <a16:colId xmlns:a16="http://schemas.microsoft.com/office/drawing/2014/main" val="2420775494"/>
                    </a:ext>
                  </a:extLst>
                </a:gridCol>
                <a:gridCol w="7678355">
                  <a:extLst>
                    <a:ext uri="{9D8B030D-6E8A-4147-A177-3AD203B41FA5}">
                      <a16:colId xmlns:a16="http://schemas.microsoft.com/office/drawing/2014/main" val="90391192"/>
                    </a:ext>
                  </a:extLst>
                </a:gridCol>
              </a:tblGrid>
              <a:tr h="1104493">
                <a:tc>
                  <a:txBody>
                    <a:bodyPr/>
                    <a:lstStyle/>
                    <a:p>
                      <a:pPr algn="just"/>
                      <a:endParaRPr lang="en-IN" b="1" dirty="0"/>
                    </a:p>
                  </a:txBody>
                  <a:tcPr/>
                </a:tc>
                <a:tc>
                  <a:txBody>
                    <a:bodyPr/>
                    <a:lstStyle/>
                    <a:p>
                      <a:pPr algn="just"/>
                      <a:endParaRPr lang="en-IN" b="1" dirty="0"/>
                    </a:p>
                  </a:txBody>
                  <a:tcPr/>
                </a:tc>
                <a:extLst>
                  <a:ext uri="{0D108BD9-81ED-4DB2-BD59-A6C34878D82A}">
                    <a16:rowId xmlns:a16="http://schemas.microsoft.com/office/drawing/2014/main" val="1543488890"/>
                  </a:ext>
                </a:extLst>
              </a:tr>
              <a:tr h="690424">
                <a:tc>
                  <a:txBody>
                    <a:bodyPr/>
                    <a:lstStyle/>
                    <a:p>
                      <a:pPr algn="just"/>
                      <a:r>
                        <a:rPr lang="en-IN" sz="2000" b="1" dirty="0"/>
                        <a:t>                    </a:t>
                      </a:r>
                    </a:p>
                  </a:txBody>
                  <a:tcPr/>
                </a:tc>
                <a:tc>
                  <a:txBody>
                    <a:bodyPr/>
                    <a:lstStyle/>
                    <a:p>
                      <a:pPr algn="just"/>
                      <a:endParaRPr lang="en-IN" b="1" dirty="0"/>
                    </a:p>
                  </a:txBody>
                  <a:tcPr/>
                </a:tc>
                <a:extLst>
                  <a:ext uri="{0D108BD9-81ED-4DB2-BD59-A6C34878D82A}">
                    <a16:rowId xmlns:a16="http://schemas.microsoft.com/office/drawing/2014/main" val="3311378231"/>
                  </a:ext>
                </a:extLst>
              </a:tr>
              <a:tr h="1112703">
                <a:tc>
                  <a:txBody>
                    <a:bodyPr/>
                    <a:lstStyle/>
                    <a:p>
                      <a:pPr algn="just"/>
                      <a:r>
                        <a:rPr lang="en-IN" sz="2000" b="1" dirty="0"/>
                        <a:t>                  </a:t>
                      </a:r>
                    </a:p>
                  </a:txBody>
                  <a:tcPr/>
                </a:tc>
                <a:tc>
                  <a:txBody>
                    <a:bodyPr/>
                    <a:lstStyle/>
                    <a:p>
                      <a:pPr algn="just"/>
                      <a:endParaRPr lang="en-IN" b="1" dirty="0"/>
                    </a:p>
                  </a:txBody>
                  <a:tcPr/>
                </a:tc>
                <a:extLst>
                  <a:ext uri="{0D108BD9-81ED-4DB2-BD59-A6C34878D82A}">
                    <a16:rowId xmlns:a16="http://schemas.microsoft.com/office/drawing/2014/main" val="3608251626"/>
                  </a:ext>
                </a:extLst>
              </a:tr>
              <a:tr h="1988472">
                <a:tc>
                  <a:txBody>
                    <a:bodyPr/>
                    <a:lstStyle/>
                    <a:p>
                      <a:pPr algn="just"/>
                      <a:r>
                        <a:rPr lang="en-IN" sz="2000" b="1" dirty="0"/>
                        <a:t>                </a:t>
                      </a:r>
                    </a:p>
                  </a:txBody>
                  <a:tcPr/>
                </a:tc>
                <a:tc>
                  <a:txBody>
                    <a:bodyPr/>
                    <a:lstStyle/>
                    <a:p>
                      <a:pPr algn="just"/>
                      <a:endParaRPr lang="en-IN" b="1" dirty="0"/>
                    </a:p>
                  </a:txBody>
                  <a:tcPr/>
                </a:tc>
                <a:extLst>
                  <a:ext uri="{0D108BD9-81ED-4DB2-BD59-A6C34878D82A}">
                    <a16:rowId xmlns:a16="http://schemas.microsoft.com/office/drawing/2014/main" val="3584109961"/>
                  </a:ext>
                </a:extLst>
              </a:tr>
              <a:tr h="1572247">
                <a:tc>
                  <a:txBody>
                    <a:bodyPr/>
                    <a:lstStyle/>
                    <a:p>
                      <a:pPr algn="just"/>
                      <a:r>
                        <a:rPr lang="en-IN" sz="2000" b="1" dirty="0"/>
                        <a:t>                 </a:t>
                      </a:r>
                    </a:p>
                  </a:txBody>
                  <a:tcPr/>
                </a:tc>
                <a:tc>
                  <a:txBody>
                    <a:bodyPr/>
                    <a:lstStyle/>
                    <a:p>
                      <a:pPr algn="just"/>
                      <a:endParaRPr lang="en-IN" b="1" dirty="0"/>
                    </a:p>
                  </a:txBody>
                  <a:tcPr/>
                </a:tc>
                <a:extLst>
                  <a:ext uri="{0D108BD9-81ED-4DB2-BD59-A6C34878D82A}">
                    <a16:rowId xmlns:a16="http://schemas.microsoft.com/office/drawing/2014/main" val="376483304"/>
                  </a:ext>
                </a:extLst>
              </a:tr>
              <a:tr h="589592">
                <a:tc>
                  <a:txBody>
                    <a:bodyPr/>
                    <a:lstStyle/>
                    <a:p>
                      <a:pPr algn="just"/>
                      <a:endParaRPr lang="en-IN" b="1" dirty="0"/>
                    </a:p>
                  </a:txBody>
                  <a:tcPr/>
                </a:tc>
                <a:tc>
                  <a:txBody>
                    <a:bodyPr/>
                    <a:lstStyle/>
                    <a:p>
                      <a:pPr algn="just"/>
                      <a:endParaRPr lang="en-IN" b="1" dirty="0"/>
                    </a:p>
                  </a:txBody>
                  <a:tcPr/>
                </a:tc>
                <a:extLst>
                  <a:ext uri="{0D108BD9-81ED-4DB2-BD59-A6C34878D82A}">
                    <a16:rowId xmlns:a16="http://schemas.microsoft.com/office/drawing/2014/main" val="2029611722"/>
                  </a:ext>
                </a:extLst>
              </a:tr>
            </a:tbl>
          </a:graphicData>
        </a:graphic>
      </p:graphicFrame>
      <p:sp>
        <p:nvSpPr>
          <p:cNvPr id="5" name="TextBox 4">
            <a:extLst>
              <a:ext uri="{FF2B5EF4-FFF2-40B4-BE49-F238E27FC236}">
                <a16:creationId xmlns:a16="http://schemas.microsoft.com/office/drawing/2014/main" id="{4E4AF09B-5666-53D2-87E1-89CC0EF034D8}"/>
              </a:ext>
            </a:extLst>
          </p:cNvPr>
          <p:cNvSpPr txBox="1"/>
          <p:nvPr/>
        </p:nvSpPr>
        <p:spPr>
          <a:xfrm>
            <a:off x="1980864" y="579631"/>
            <a:ext cx="1366080" cy="369332"/>
          </a:xfrm>
          <a:prstGeom prst="rect">
            <a:avLst/>
          </a:prstGeom>
          <a:noFill/>
        </p:spPr>
        <p:txBody>
          <a:bodyPr wrap="square" rtlCol="0">
            <a:spAutoFit/>
          </a:bodyPr>
          <a:lstStyle/>
          <a:p>
            <a:pPr algn="ctr"/>
            <a:r>
              <a:rPr lang="en-IN" sz="1800" b="1" dirty="0"/>
              <a:t>Test No</a:t>
            </a:r>
          </a:p>
        </p:txBody>
      </p:sp>
      <p:sp>
        <p:nvSpPr>
          <p:cNvPr id="6" name="TextBox 5">
            <a:extLst>
              <a:ext uri="{FF2B5EF4-FFF2-40B4-BE49-F238E27FC236}">
                <a16:creationId xmlns:a16="http://schemas.microsoft.com/office/drawing/2014/main" id="{AC76837E-10C1-6211-3AC6-ACE83F19E053}"/>
              </a:ext>
            </a:extLst>
          </p:cNvPr>
          <p:cNvSpPr txBox="1"/>
          <p:nvPr/>
        </p:nvSpPr>
        <p:spPr>
          <a:xfrm>
            <a:off x="9449375" y="579631"/>
            <a:ext cx="441146" cy="369332"/>
          </a:xfrm>
          <a:prstGeom prst="rect">
            <a:avLst/>
          </a:prstGeom>
          <a:noFill/>
        </p:spPr>
        <p:txBody>
          <a:bodyPr wrap="none" rtlCol="0">
            <a:spAutoFit/>
          </a:bodyPr>
          <a:lstStyle/>
          <a:p>
            <a:r>
              <a:rPr lang="en-IN" sz="1800" b="1" dirty="0"/>
              <a:t>05</a:t>
            </a:r>
          </a:p>
        </p:txBody>
      </p:sp>
      <p:sp>
        <p:nvSpPr>
          <p:cNvPr id="8" name="TextBox 7">
            <a:extLst>
              <a:ext uri="{FF2B5EF4-FFF2-40B4-BE49-F238E27FC236}">
                <a16:creationId xmlns:a16="http://schemas.microsoft.com/office/drawing/2014/main" id="{3F4A36D6-0DC1-2E72-1F0E-58727E953730}"/>
              </a:ext>
            </a:extLst>
          </p:cNvPr>
          <p:cNvSpPr txBox="1"/>
          <p:nvPr/>
        </p:nvSpPr>
        <p:spPr>
          <a:xfrm>
            <a:off x="2199395" y="1574035"/>
            <a:ext cx="1415772" cy="369332"/>
          </a:xfrm>
          <a:prstGeom prst="rect">
            <a:avLst/>
          </a:prstGeom>
          <a:noFill/>
        </p:spPr>
        <p:txBody>
          <a:bodyPr wrap="none" rtlCol="0">
            <a:spAutoFit/>
          </a:bodyPr>
          <a:lstStyle/>
          <a:p>
            <a:pPr algn="ctr"/>
            <a:r>
              <a:rPr lang="en-IN" sz="1800" b="1" dirty="0"/>
              <a:t> Test Name</a:t>
            </a:r>
          </a:p>
        </p:txBody>
      </p:sp>
      <p:sp>
        <p:nvSpPr>
          <p:cNvPr id="9" name="TextBox 8">
            <a:extLst>
              <a:ext uri="{FF2B5EF4-FFF2-40B4-BE49-F238E27FC236}">
                <a16:creationId xmlns:a16="http://schemas.microsoft.com/office/drawing/2014/main" id="{76F79D3C-7D5F-66B4-4BF9-0A4462C5F595}"/>
              </a:ext>
            </a:extLst>
          </p:cNvPr>
          <p:cNvSpPr txBox="1"/>
          <p:nvPr/>
        </p:nvSpPr>
        <p:spPr>
          <a:xfrm>
            <a:off x="2199395" y="2530645"/>
            <a:ext cx="1697901" cy="369332"/>
          </a:xfrm>
          <a:prstGeom prst="rect">
            <a:avLst/>
          </a:prstGeom>
          <a:noFill/>
        </p:spPr>
        <p:txBody>
          <a:bodyPr wrap="none" rtlCol="0">
            <a:spAutoFit/>
          </a:bodyPr>
          <a:lstStyle/>
          <a:p>
            <a:r>
              <a:rPr lang="en-IN" sz="1800" b="1" dirty="0"/>
              <a:t>Test Scenario</a:t>
            </a:r>
          </a:p>
        </p:txBody>
      </p:sp>
      <p:sp>
        <p:nvSpPr>
          <p:cNvPr id="10" name="TextBox 9">
            <a:extLst>
              <a:ext uri="{FF2B5EF4-FFF2-40B4-BE49-F238E27FC236}">
                <a16:creationId xmlns:a16="http://schemas.microsoft.com/office/drawing/2014/main" id="{83C82C54-FB7F-BA72-C260-DD206DF67C3D}"/>
              </a:ext>
            </a:extLst>
          </p:cNvPr>
          <p:cNvSpPr txBox="1"/>
          <p:nvPr/>
        </p:nvSpPr>
        <p:spPr>
          <a:xfrm>
            <a:off x="2063407" y="3697915"/>
            <a:ext cx="2031325" cy="369332"/>
          </a:xfrm>
          <a:prstGeom prst="rect">
            <a:avLst/>
          </a:prstGeom>
          <a:noFill/>
        </p:spPr>
        <p:txBody>
          <a:bodyPr wrap="none" rtlCol="0">
            <a:spAutoFit/>
          </a:bodyPr>
          <a:lstStyle/>
          <a:p>
            <a:r>
              <a:rPr lang="en-IN" sz="1800" b="1" dirty="0"/>
              <a:t>Expected Output</a:t>
            </a:r>
            <a:endParaRPr lang="en-IN" sz="1800" dirty="0"/>
          </a:p>
        </p:txBody>
      </p:sp>
      <p:sp>
        <p:nvSpPr>
          <p:cNvPr id="12" name="TextBox 11">
            <a:extLst>
              <a:ext uri="{FF2B5EF4-FFF2-40B4-BE49-F238E27FC236}">
                <a16:creationId xmlns:a16="http://schemas.microsoft.com/office/drawing/2014/main" id="{8E801485-8626-D7EF-874A-6B482F8E8687}"/>
              </a:ext>
            </a:extLst>
          </p:cNvPr>
          <p:cNvSpPr txBox="1"/>
          <p:nvPr/>
        </p:nvSpPr>
        <p:spPr>
          <a:xfrm>
            <a:off x="2253363" y="5594978"/>
            <a:ext cx="1710725" cy="369332"/>
          </a:xfrm>
          <a:prstGeom prst="rect">
            <a:avLst/>
          </a:prstGeom>
          <a:noFill/>
        </p:spPr>
        <p:txBody>
          <a:bodyPr wrap="none" rtlCol="0">
            <a:spAutoFit/>
          </a:bodyPr>
          <a:lstStyle/>
          <a:p>
            <a:r>
              <a:rPr lang="en-IN" sz="1800" b="1" dirty="0"/>
              <a:t>Actual Output</a:t>
            </a:r>
            <a:endParaRPr lang="en-IN" sz="1800" dirty="0"/>
          </a:p>
        </p:txBody>
      </p:sp>
      <p:sp>
        <p:nvSpPr>
          <p:cNvPr id="13" name="TextBox 12">
            <a:extLst>
              <a:ext uri="{FF2B5EF4-FFF2-40B4-BE49-F238E27FC236}">
                <a16:creationId xmlns:a16="http://schemas.microsoft.com/office/drawing/2014/main" id="{7D9D52C6-236C-2334-FD9F-332F28726F64}"/>
              </a:ext>
            </a:extLst>
          </p:cNvPr>
          <p:cNvSpPr txBox="1"/>
          <p:nvPr/>
        </p:nvSpPr>
        <p:spPr>
          <a:xfrm>
            <a:off x="2499424" y="6714390"/>
            <a:ext cx="1159292" cy="369332"/>
          </a:xfrm>
          <a:prstGeom prst="rect">
            <a:avLst/>
          </a:prstGeom>
          <a:noFill/>
        </p:spPr>
        <p:txBody>
          <a:bodyPr wrap="none" rtlCol="0">
            <a:spAutoFit/>
          </a:bodyPr>
          <a:lstStyle/>
          <a:p>
            <a:r>
              <a:rPr lang="en-IN" sz="1800" b="1" dirty="0"/>
              <a:t>Remarks</a:t>
            </a:r>
          </a:p>
        </p:txBody>
      </p:sp>
      <p:sp>
        <p:nvSpPr>
          <p:cNvPr id="14" name="TextBox 13">
            <a:extLst>
              <a:ext uri="{FF2B5EF4-FFF2-40B4-BE49-F238E27FC236}">
                <a16:creationId xmlns:a16="http://schemas.microsoft.com/office/drawing/2014/main" id="{BFE2B64D-5894-89F7-5FEF-4BB269132E0C}"/>
              </a:ext>
            </a:extLst>
          </p:cNvPr>
          <p:cNvSpPr txBox="1"/>
          <p:nvPr/>
        </p:nvSpPr>
        <p:spPr>
          <a:xfrm>
            <a:off x="7880546" y="1523258"/>
            <a:ext cx="3583032" cy="369332"/>
          </a:xfrm>
          <a:prstGeom prst="rect">
            <a:avLst/>
          </a:prstGeom>
          <a:noFill/>
        </p:spPr>
        <p:txBody>
          <a:bodyPr wrap="none" rtlCol="0">
            <a:spAutoFit/>
          </a:bodyPr>
          <a:lstStyle/>
          <a:p>
            <a:r>
              <a:rPr lang="en-US" sz="1800" dirty="0"/>
              <a:t>GPS / Telegram Failure Handling</a:t>
            </a:r>
            <a:endParaRPr lang="en-IN" sz="1800" dirty="0"/>
          </a:p>
        </p:txBody>
      </p:sp>
      <p:sp>
        <p:nvSpPr>
          <p:cNvPr id="15" name="TextBox 14">
            <a:extLst>
              <a:ext uri="{FF2B5EF4-FFF2-40B4-BE49-F238E27FC236}">
                <a16:creationId xmlns:a16="http://schemas.microsoft.com/office/drawing/2014/main" id="{118D24B4-2E55-0043-47A1-31812456070B}"/>
              </a:ext>
            </a:extLst>
          </p:cNvPr>
          <p:cNvSpPr txBox="1"/>
          <p:nvPr/>
        </p:nvSpPr>
        <p:spPr>
          <a:xfrm>
            <a:off x="7876316" y="2174941"/>
            <a:ext cx="3824769" cy="923330"/>
          </a:xfrm>
          <a:prstGeom prst="rect">
            <a:avLst/>
          </a:prstGeom>
          <a:noFill/>
        </p:spPr>
        <p:txBody>
          <a:bodyPr wrap="square" rtlCol="0">
            <a:spAutoFit/>
          </a:bodyPr>
          <a:lstStyle/>
          <a:p>
            <a:r>
              <a:rPr lang="en-US" sz="1800" dirty="0"/>
              <a:t>Run the system without GPS lock or disconnect the internet during alert generation.</a:t>
            </a:r>
            <a:endParaRPr lang="en-IN" sz="1800" dirty="0"/>
          </a:p>
        </p:txBody>
      </p:sp>
      <p:sp>
        <p:nvSpPr>
          <p:cNvPr id="16" name="TextBox 15">
            <a:extLst>
              <a:ext uri="{FF2B5EF4-FFF2-40B4-BE49-F238E27FC236}">
                <a16:creationId xmlns:a16="http://schemas.microsoft.com/office/drawing/2014/main" id="{18A6D9FB-AA05-4D6B-F8E6-2174D542718F}"/>
              </a:ext>
            </a:extLst>
          </p:cNvPr>
          <p:cNvSpPr txBox="1"/>
          <p:nvPr/>
        </p:nvSpPr>
        <p:spPr>
          <a:xfrm>
            <a:off x="7876316" y="3285423"/>
            <a:ext cx="3587262" cy="1754326"/>
          </a:xfrm>
          <a:prstGeom prst="rect">
            <a:avLst/>
          </a:prstGeom>
          <a:noFill/>
        </p:spPr>
        <p:txBody>
          <a:bodyPr wrap="square" rtlCol="0">
            <a:spAutoFit/>
          </a:bodyPr>
          <a:lstStyle/>
          <a:p>
            <a:r>
              <a:rPr lang="en-US" sz="1800" dirty="0"/>
              <a:t>System should continue local monitoring even if location or remote alert service is </a:t>
            </a:r>
            <a:r>
              <a:rPr lang="en-US" sz="1800" dirty="0" err="1"/>
              <a:t>unavailable.LCD</a:t>
            </a:r>
            <a:r>
              <a:rPr lang="en-US" sz="1800" dirty="0"/>
              <a:t> and buzzer should still </a:t>
            </a:r>
            <a:r>
              <a:rPr lang="en-US" sz="1800" dirty="0" err="1"/>
              <a:t>function.Application</a:t>
            </a:r>
            <a:r>
              <a:rPr lang="en-US" sz="1800" dirty="0"/>
              <a:t> should not crash.</a:t>
            </a:r>
            <a:endParaRPr lang="en-IN" sz="1800" dirty="0"/>
          </a:p>
        </p:txBody>
      </p:sp>
      <p:sp>
        <p:nvSpPr>
          <p:cNvPr id="17" name="TextBox 16">
            <a:extLst>
              <a:ext uri="{FF2B5EF4-FFF2-40B4-BE49-F238E27FC236}">
                <a16:creationId xmlns:a16="http://schemas.microsoft.com/office/drawing/2014/main" id="{B069571D-7650-D3D1-F71C-9E33FEEEB256}"/>
              </a:ext>
            </a:extLst>
          </p:cNvPr>
          <p:cNvSpPr txBox="1"/>
          <p:nvPr/>
        </p:nvSpPr>
        <p:spPr>
          <a:xfrm>
            <a:off x="7876316" y="5161732"/>
            <a:ext cx="4216789" cy="1477328"/>
          </a:xfrm>
          <a:prstGeom prst="rect">
            <a:avLst/>
          </a:prstGeom>
          <a:noFill/>
        </p:spPr>
        <p:txBody>
          <a:bodyPr wrap="square" rtlCol="0">
            <a:spAutoFit/>
          </a:bodyPr>
          <a:lstStyle/>
          <a:p>
            <a:r>
              <a:rPr lang="en-US" sz="1800" dirty="0"/>
              <a:t>GPS searching / remote alert failure condition was </a:t>
            </a:r>
            <a:r>
              <a:rPr lang="en-US" sz="1800" dirty="0" err="1"/>
              <a:t>observed.Local</a:t>
            </a:r>
            <a:r>
              <a:rPr lang="en-US" sz="1800" dirty="0"/>
              <a:t> accident monitoring continued </a:t>
            </a:r>
            <a:r>
              <a:rPr lang="en-US" sz="1800" dirty="0" err="1"/>
              <a:t>correctly.Program</a:t>
            </a:r>
            <a:r>
              <a:rPr lang="en-US" sz="1800" dirty="0"/>
              <a:t> remained stable and handled the failure without stopping.</a:t>
            </a:r>
            <a:endParaRPr lang="en-IN" sz="1800" dirty="0"/>
          </a:p>
        </p:txBody>
      </p:sp>
      <p:sp>
        <p:nvSpPr>
          <p:cNvPr id="18" name="TextBox 17">
            <a:extLst>
              <a:ext uri="{FF2B5EF4-FFF2-40B4-BE49-F238E27FC236}">
                <a16:creationId xmlns:a16="http://schemas.microsoft.com/office/drawing/2014/main" id="{A1024ADE-D3B4-49B3-BC11-AA995A2F9BED}"/>
              </a:ext>
            </a:extLst>
          </p:cNvPr>
          <p:cNvSpPr txBox="1"/>
          <p:nvPr/>
        </p:nvSpPr>
        <p:spPr>
          <a:xfrm>
            <a:off x="7876316" y="6788305"/>
            <a:ext cx="2710999" cy="369332"/>
          </a:xfrm>
          <a:prstGeom prst="rect">
            <a:avLst/>
          </a:prstGeom>
          <a:noFill/>
        </p:spPr>
        <p:txBody>
          <a:bodyPr wrap="none" rtlCol="0">
            <a:spAutoFit/>
          </a:bodyPr>
          <a:lstStyle/>
          <a:p>
            <a:r>
              <a:rPr lang="en-IN" sz="1800" dirty="0"/>
              <a:t>Failure handled correctly</a:t>
            </a:r>
          </a:p>
        </p:txBody>
      </p:sp>
    </p:spTree>
    <p:extLst>
      <p:ext uri="{BB962C8B-B14F-4D97-AF65-F5344CB8AC3E}">
        <p14:creationId xmlns:p14="http://schemas.microsoft.com/office/powerpoint/2010/main" val="42593413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159321D-A518-0C56-FE1F-4D739ABBCCDE}"/>
              </a:ext>
            </a:extLst>
          </p:cNvPr>
          <p:cNvSpPr txBox="1"/>
          <p:nvPr/>
        </p:nvSpPr>
        <p:spPr>
          <a:xfrm>
            <a:off x="4324120" y="282936"/>
            <a:ext cx="7943161" cy="523220"/>
          </a:xfrm>
          <a:prstGeom prst="rect">
            <a:avLst/>
          </a:prstGeom>
          <a:noFill/>
        </p:spPr>
        <p:txBody>
          <a:bodyPr wrap="square" rtlCol="0">
            <a:spAutoFit/>
          </a:bodyPr>
          <a:lstStyle/>
          <a:p>
            <a:r>
              <a:rPr lang="en-US" sz="2800" b="1" dirty="0">
                <a:latin typeface="Calibri" panose="020F0502020204030204" pitchFamily="34" charset="0"/>
                <a:ea typeface="Calibri" panose="020F0502020204030204" pitchFamily="34" charset="0"/>
                <a:cs typeface="Calibri" panose="020F0502020204030204" pitchFamily="34" charset="0"/>
              </a:rPr>
              <a:t>Images of “Failed test cases”</a:t>
            </a:r>
          </a:p>
        </p:txBody>
      </p:sp>
      <p:pic>
        <p:nvPicPr>
          <p:cNvPr id="5" name="Picture 4">
            <a:extLst>
              <a:ext uri="{FF2B5EF4-FFF2-40B4-BE49-F238E27FC236}">
                <a16:creationId xmlns:a16="http://schemas.microsoft.com/office/drawing/2014/main" id="{F6CC0824-4A70-17E2-17D2-0419B69CFA8C}"/>
              </a:ext>
            </a:extLst>
          </p:cNvPr>
          <p:cNvPicPr>
            <a:picLocks noChangeAspect="1"/>
          </p:cNvPicPr>
          <p:nvPr/>
        </p:nvPicPr>
        <p:blipFill>
          <a:blip r:embed="rId2"/>
          <a:srcRect/>
          <a:stretch/>
        </p:blipFill>
        <p:spPr>
          <a:xfrm rot="16200000">
            <a:off x="930667" y="843266"/>
            <a:ext cx="3747370" cy="4996494"/>
          </a:xfrm>
          <a:prstGeom prst="rect">
            <a:avLst/>
          </a:prstGeom>
        </p:spPr>
      </p:pic>
      <p:pic>
        <p:nvPicPr>
          <p:cNvPr id="7" name="Picture 6">
            <a:extLst>
              <a:ext uri="{FF2B5EF4-FFF2-40B4-BE49-F238E27FC236}">
                <a16:creationId xmlns:a16="http://schemas.microsoft.com/office/drawing/2014/main" id="{8C44F4DC-0453-91ED-4A55-EA8C1A58D2A6}"/>
              </a:ext>
            </a:extLst>
          </p:cNvPr>
          <p:cNvPicPr>
            <a:picLocks noChangeAspect="1"/>
          </p:cNvPicPr>
          <p:nvPr/>
        </p:nvPicPr>
        <p:blipFill>
          <a:blip r:embed="rId3"/>
          <a:stretch>
            <a:fillRect/>
          </a:stretch>
        </p:blipFill>
        <p:spPr>
          <a:xfrm>
            <a:off x="6207233" y="1315607"/>
            <a:ext cx="8117063" cy="4051809"/>
          </a:xfrm>
          <a:prstGeom prst="rect">
            <a:avLst/>
          </a:prstGeom>
        </p:spPr>
      </p:pic>
      <p:sp>
        <p:nvSpPr>
          <p:cNvPr id="8" name="TextBox 7">
            <a:extLst>
              <a:ext uri="{FF2B5EF4-FFF2-40B4-BE49-F238E27FC236}">
                <a16:creationId xmlns:a16="http://schemas.microsoft.com/office/drawing/2014/main" id="{F19FDE34-4E22-C0B8-90E3-2185A78FED43}"/>
              </a:ext>
            </a:extLst>
          </p:cNvPr>
          <p:cNvSpPr txBox="1"/>
          <p:nvPr/>
        </p:nvSpPr>
        <p:spPr>
          <a:xfrm>
            <a:off x="1264571" y="5367416"/>
            <a:ext cx="5332164" cy="400110"/>
          </a:xfrm>
          <a:prstGeom prst="rect">
            <a:avLst/>
          </a:prstGeom>
          <a:noFill/>
        </p:spPr>
        <p:txBody>
          <a:bodyPr wrap="square" rtlCol="0">
            <a:sp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Image of failure in the LED Display</a:t>
            </a:r>
          </a:p>
        </p:txBody>
      </p:sp>
      <p:sp>
        <p:nvSpPr>
          <p:cNvPr id="9" name="TextBox 8">
            <a:extLst>
              <a:ext uri="{FF2B5EF4-FFF2-40B4-BE49-F238E27FC236}">
                <a16:creationId xmlns:a16="http://schemas.microsoft.com/office/drawing/2014/main" id="{BA63ED75-4603-9B3F-D253-CA40E2301ABF}"/>
              </a:ext>
            </a:extLst>
          </p:cNvPr>
          <p:cNvSpPr txBox="1"/>
          <p:nvPr/>
        </p:nvSpPr>
        <p:spPr>
          <a:xfrm>
            <a:off x="7238082" y="5567471"/>
            <a:ext cx="6753340" cy="400110"/>
          </a:xfrm>
          <a:prstGeom prst="rect">
            <a:avLst/>
          </a:prstGeom>
          <a:noFill/>
        </p:spPr>
        <p:txBody>
          <a:bodyPr wrap="square" rtlCol="0">
            <a:sp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Image of the GPS Module, satellite connection unsuccessful</a:t>
            </a:r>
          </a:p>
        </p:txBody>
      </p:sp>
    </p:spTree>
    <p:extLst>
      <p:ext uri="{BB962C8B-B14F-4D97-AF65-F5344CB8AC3E}">
        <p14:creationId xmlns:p14="http://schemas.microsoft.com/office/powerpoint/2010/main" val="20534129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2AC2A9B-CB28-B220-69DF-57F4D12B43B8}"/>
              </a:ext>
            </a:extLst>
          </p:cNvPr>
          <p:cNvPicPr>
            <a:picLocks noChangeAspect="1"/>
          </p:cNvPicPr>
          <p:nvPr/>
        </p:nvPicPr>
        <p:blipFill>
          <a:blip r:embed="rId2"/>
          <a:stretch>
            <a:fillRect/>
          </a:stretch>
        </p:blipFill>
        <p:spPr>
          <a:xfrm>
            <a:off x="538451" y="352541"/>
            <a:ext cx="4321366" cy="5761821"/>
          </a:xfrm>
          <a:prstGeom prst="rect">
            <a:avLst/>
          </a:prstGeom>
        </p:spPr>
      </p:pic>
      <p:pic>
        <p:nvPicPr>
          <p:cNvPr id="5" name="Picture 4">
            <a:extLst>
              <a:ext uri="{FF2B5EF4-FFF2-40B4-BE49-F238E27FC236}">
                <a16:creationId xmlns:a16="http://schemas.microsoft.com/office/drawing/2014/main" id="{4DC3F7AE-A8B2-3DF8-0582-7DB3E4C629BB}"/>
              </a:ext>
            </a:extLst>
          </p:cNvPr>
          <p:cNvPicPr>
            <a:picLocks noChangeAspect="1"/>
          </p:cNvPicPr>
          <p:nvPr/>
        </p:nvPicPr>
        <p:blipFill>
          <a:blip r:embed="rId3"/>
          <a:srcRect/>
          <a:stretch/>
        </p:blipFill>
        <p:spPr>
          <a:xfrm>
            <a:off x="8118054" y="352540"/>
            <a:ext cx="4321366" cy="5761821"/>
          </a:xfrm>
          <a:prstGeom prst="rect">
            <a:avLst/>
          </a:prstGeom>
        </p:spPr>
      </p:pic>
      <p:sp>
        <p:nvSpPr>
          <p:cNvPr id="6" name="TextBox 5">
            <a:extLst>
              <a:ext uri="{FF2B5EF4-FFF2-40B4-BE49-F238E27FC236}">
                <a16:creationId xmlns:a16="http://schemas.microsoft.com/office/drawing/2014/main" id="{78F70C73-A11A-52F4-BEF0-406F3CEE278D}"/>
              </a:ext>
            </a:extLst>
          </p:cNvPr>
          <p:cNvSpPr txBox="1"/>
          <p:nvPr/>
        </p:nvSpPr>
        <p:spPr>
          <a:xfrm>
            <a:off x="574256" y="6312665"/>
            <a:ext cx="4321366" cy="707886"/>
          </a:xfrm>
          <a:prstGeom prst="rect">
            <a:avLst/>
          </a:prstGeom>
          <a:noFill/>
        </p:spPr>
        <p:txBody>
          <a:bodyPr wrap="square" rtlCol="0">
            <a:sp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Image showing “ Even the accident, GPS unable to detect the location</a:t>
            </a:r>
          </a:p>
        </p:txBody>
      </p:sp>
      <p:sp>
        <p:nvSpPr>
          <p:cNvPr id="7" name="TextBox 6">
            <a:extLst>
              <a:ext uri="{FF2B5EF4-FFF2-40B4-BE49-F238E27FC236}">
                <a16:creationId xmlns:a16="http://schemas.microsoft.com/office/drawing/2014/main" id="{ACEF2A0A-AC3E-08CF-AB2A-4C921402DE67}"/>
              </a:ext>
            </a:extLst>
          </p:cNvPr>
          <p:cNvSpPr txBox="1"/>
          <p:nvPr/>
        </p:nvSpPr>
        <p:spPr>
          <a:xfrm>
            <a:off x="7910110" y="6312665"/>
            <a:ext cx="5034709" cy="707886"/>
          </a:xfrm>
          <a:prstGeom prst="rect">
            <a:avLst/>
          </a:prstGeom>
          <a:noFill/>
        </p:spPr>
        <p:txBody>
          <a:bodyPr wrap="square" rtlCol="0">
            <a:sp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Image of Live Website displaying “ Normal condition when the accident happened”</a:t>
            </a:r>
          </a:p>
        </p:txBody>
      </p:sp>
    </p:spTree>
    <p:extLst>
      <p:ext uri="{BB962C8B-B14F-4D97-AF65-F5344CB8AC3E}">
        <p14:creationId xmlns:p14="http://schemas.microsoft.com/office/powerpoint/2010/main" val="20142320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A097088-DC93-96C0-6B09-8F3BB8C7DEFB}"/>
              </a:ext>
            </a:extLst>
          </p:cNvPr>
          <p:cNvSpPr txBox="1"/>
          <p:nvPr/>
        </p:nvSpPr>
        <p:spPr>
          <a:xfrm>
            <a:off x="4726236" y="462708"/>
            <a:ext cx="6808424" cy="523220"/>
          </a:xfrm>
          <a:prstGeom prst="rect">
            <a:avLst/>
          </a:prstGeom>
          <a:noFill/>
        </p:spPr>
        <p:txBody>
          <a:bodyPr wrap="square" rtlCol="0">
            <a:spAutoFit/>
          </a:bodyPr>
          <a:lstStyle/>
          <a:p>
            <a:r>
              <a:rPr lang="en-US" sz="2800" b="1" dirty="0">
                <a:latin typeface="Calibri" panose="020F0502020204030204" pitchFamily="34" charset="0"/>
                <a:ea typeface="Calibri" panose="020F0502020204030204" pitchFamily="34" charset="0"/>
                <a:cs typeface="Calibri" panose="020F0502020204030204" pitchFamily="34" charset="0"/>
              </a:rPr>
              <a:t>Images of Successful Setup</a:t>
            </a:r>
          </a:p>
        </p:txBody>
      </p:sp>
      <p:pic>
        <p:nvPicPr>
          <p:cNvPr id="4" name="Picture 3">
            <a:extLst>
              <a:ext uri="{FF2B5EF4-FFF2-40B4-BE49-F238E27FC236}">
                <a16:creationId xmlns:a16="http://schemas.microsoft.com/office/drawing/2014/main" id="{0D2EFECF-A51A-68D9-BD20-97B21F7368B6}"/>
              </a:ext>
            </a:extLst>
          </p:cNvPr>
          <p:cNvPicPr>
            <a:picLocks noChangeAspect="1"/>
          </p:cNvPicPr>
          <p:nvPr/>
        </p:nvPicPr>
        <p:blipFill>
          <a:blip r:embed="rId2"/>
          <a:srcRect t="65052"/>
          <a:stretch>
            <a:fillRect/>
          </a:stretch>
        </p:blipFill>
        <p:spPr>
          <a:xfrm>
            <a:off x="549465" y="1476260"/>
            <a:ext cx="5554484" cy="2533880"/>
          </a:xfrm>
          <a:prstGeom prst="rect">
            <a:avLst/>
          </a:prstGeom>
        </p:spPr>
      </p:pic>
      <p:pic>
        <p:nvPicPr>
          <p:cNvPr id="12" name="Picture 11">
            <a:extLst>
              <a:ext uri="{FF2B5EF4-FFF2-40B4-BE49-F238E27FC236}">
                <a16:creationId xmlns:a16="http://schemas.microsoft.com/office/drawing/2014/main" id="{0367C668-B010-7069-6461-A2556B12CEA6}"/>
              </a:ext>
            </a:extLst>
          </p:cNvPr>
          <p:cNvPicPr>
            <a:picLocks noChangeAspect="1"/>
          </p:cNvPicPr>
          <p:nvPr/>
        </p:nvPicPr>
        <p:blipFill>
          <a:blip r:embed="rId2"/>
          <a:stretch>
            <a:fillRect/>
          </a:stretch>
        </p:blipFill>
        <p:spPr>
          <a:xfrm>
            <a:off x="7944542" y="1264185"/>
            <a:ext cx="4570619" cy="5449991"/>
          </a:xfrm>
          <a:prstGeom prst="rect">
            <a:avLst/>
          </a:prstGeom>
        </p:spPr>
      </p:pic>
      <p:sp>
        <p:nvSpPr>
          <p:cNvPr id="13" name="TextBox 12">
            <a:extLst>
              <a:ext uri="{FF2B5EF4-FFF2-40B4-BE49-F238E27FC236}">
                <a16:creationId xmlns:a16="http://schemas.microsoft.com/office/drawing/2014/main" id="{35614814-4FDA-7888-59C8-F6B7E1D0E3E3}"/>
              </a:ext>
            </a:extLst>
          </p:cNvPr>
          <p:cNvSpPr txBox="1"/>
          <p:nvPr/>
        </p:nvSpPr>
        <p:spPr>
          <a:xfrm>
            <a:off x="549465" y="4256015"/>
            <a:ext cx="6136395" cy="400110"/>
          </a:xfrm>
          <a:prstGeom prst="rect">
            <a:avLst/>
          </a:prstGeom>
          <a:noFill/>
        </p:spPr>
        <p:txBody>
          <a:bodyPr wrap="square" rtlCol="0">
            <a:sp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Image of the corrected LED Display</a:t>
            </a:r>
          </a:p>
        </p:txBody>
      </p:sp>
      <p:sp>
        <p:nvSpPr>
          <p:cNvPr id="14" name="TextBox 13">
            <a:extLst>
              <a:ext uri="{FF2B5EF4-FFF2-40B4-BE49-F238E27FC236}">
                <a16:creationId xmlns:a16="http://schemas.microsoft.com/office/drawing/2014/main" id="{4B52B646-08A4-56D2-9C62-7621B67696D3}"/>
              </a:ext>
            </a:extLst>
          </p:cNvPr>
          <p:cNvSpPr txBox="1"/>
          <p:nvPr/>
        </p:nvSpPr>
        <p:spPr>
          <a:xfrm>
            <a:off x="8131138" y="6838544"/>
            <a:ext cx="4197426" cy="400110"/>
          </a:xfrm>
          <a:prstGeom prst="rect">
            <a:avLst/>
          </a:prstGeom>
          <a:noFill/>
        </p:spPr>
        <p:txBody>
          <a:bodyPr wrap="square" rtlCol="0">
            <a:sp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Image of the complete setup</a:t>
            </a:r>
          </a:p>
        </p:txBody>
      </p:sp>
    </p:spTree>
    <p:extLst>
      <p:ext uri="{BB962C8B-B14F-4D97-AF65-F5344CB8AC3E}">
        <p14:creationId xmlns:p14="http://schemas.microsoft.com/office/powerpoint/2010/main" val="68826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8D4AA26-5191-1C4B-F8F4-6C1B90E90115}"/>
              </a:ext>
            </a:extLst>
          </p:cNvPr>
          <p:cNvPicPr>
            <a:picLocks noChangeAspect="1"/>
          </p:cNvPicPr>
          <p:nvPr/>
        </p:nvPicPr>
        <p:blipFill>
          <a:blip r:embed="rId2"/>
          <a:srcRect/>
          <a:stretch/>
        </p:blipFill>
        <p:spPr>
          <a:xfrm>
            <a:off x="473037" y="532852"/>
            <a:ext cx="5575912" cy="4181934"/>
          </a:xfrm>
          <a:prstGeom prst="rect">
            <a:avLst/>
          </a:prstGeom>
        </p:spPr>
      </p:pic>
      <p:pic>
        <p:nvPicPr>
          <p:cNvPr id="6" name="Picture 5">
            <a:extLst>
              <a:ext uri="{FF2B5EF4-FFF2-40B4-BE49-F238E27FC236}">
                <a16:creationId xmlns:a16="http://schemas.microsoft.com/office/drawing/2014/main" id="{87D7427E-610C-CB0B-286C-61DD929D8BD4}"/>
              </a:ext>
            </a:extLst>
          </p:cNvPr>
          <p:cNvPicPr>
            <a:picLocks noChangeAspect="1"/>
          </p:cNvPicPr>
          <p:nvPr/>
        </p:nvPicPr>
        <p:blipFill>
          <a:blip r:embed="rId3"/>
          <a:stretch>
            <a:fillRect/>
          </a:stretch>
        </p:blipFill>
        <p:spPr>
          <a:xfrm>
            <a:off x="6555039" y="368115"/>
            <a:ext cx="3383556" cy="4511408"/>
          </a:xfrm>
          <a:prstGeom prst="rect">
            <a:avLst/>
          </a:prstGeom>
        </p:spPr>
      </p:pic>
      <p:pic>
        <p:nvPicPr>
          <p:cNvPr id="8" name="Picture 7">
            <a:extLst>
              <a:ext uri="{FF2B5EF4-FFF2-40B4-BE49-F238E27FC236}">
                <a16:creationId xmlns:a16="http://schemas.microsoft.com/office/drawing/2014/main" id="{562E0792-E6CC-A41A-9C2E-C5E00960C495}"/>
              </a:ext>
            </a:extLst>
          </p:cNvPr>
          <p:cNvPicPr>
            <a:picLocks noChangeAspect="1"/>
          </p:cNvPicPr>
          <p:nvPr/>
        </p:nvPicPr>
        <p:blipFill>
          <a:blip r:embed="rId4"/>
          <a:stretch>
            <a:fillRect/>
          </a:stretch>
        </p:blipFill>
        <p:spPr>
          <a:xfrm>
            <a:off x="10922535" y="368115"/>
            <a:ext cx="3383556" cy="4511408"/>
          </a:xfrm>
          <a:prstGeom prst="rect">
            <a:avLst/>
          </a:prstGeom>
        </p:spPr>
      </p:pic>
      <p:sp>
        <p:nvSpPr>
          <p:cNvPr id="3" name="TextBox 2">
            <a:extLst>
              <a:ext uri="{FF2B5EF4-FFF2-40B4-BE49-F238E27FC236}">
                <a16:creationId xmlns:a16="http://schemas.microsoft.com/office/drawing/2014/main" id="{88746D9A-4D1B-EA49-EDE9-A3B85436F2F0}"/>
              </a:ext>
            </a:extLst>
          </p:cNvPr>
          <p:cNvSpPr txBox="1"/>
          <p:nvPr/>
        </p:nvSpPr>
        <p:spPr>
          <a:xfrm>
            <a:off x="473037" y="5056742"/>
            <a:ext cx="5266751" cy="1569660"/>
          </a:xfrm>
          <a:prstGeom prst="rect">
            <a:avLst/>
          </a:prstGeom>
          <a:noFill/>
        </p:spPr>
        <p:txBody>
          <a:bodyPr wrap="square" rtlCol="0">
            <a:spAutoFit/>
          </a:bodyPr>
          <a:lstStyle/>
          <a:p>
            <a:r>
              <a:rPr lang="en-US" sz="2400" b="1" dirty="0">
                <a:latin typeface="Calibri" panose="020F0502020204030204" pitchFamily="34" charset="0"/>
                <a:ea typeface="Calibri" panose="020F0502020204030204" pitchFamily="34" charset="0"/>
                <a:cs typeface="Calibri" panose="020F0502020204030204" pitchFamily="34" charset="0"/>
              </a:rPr>
              <a:t>Images showing Severity (corrected):-</a:t>
            </a:r>
          </a:p>
          <a:p>
            <a:r>
              <a:rPr lang="en-US" sz="2400" b="1" dirty="0">
                <a:latin typeface="Calibri" panose="020F0502020204030204" pitchFamily="34" charset="0"/>
                <a:ea typeface="Calibri" panose="020F0502020204030204" pitchFamily="34" charset="0"/>
                <a:cs typeface="Calibri" panose="020F0502020204030204" pitchFamily="34" charset="0"/>
              </a:rPr>
              <a:t>1.Low</a:t>
            </a:r>
          </a:p>
          <a:p>
            <a:r>
              <a:rPr lang="en-US" sz="2400" b="1" dirty="0">
                <a:latin typeface="Calibri" panose="020F0502020204030204" pitchFamily="34" charset="0"/>
                <a:ea typeface="Calibri" panose="020F0502020204030204" pitchFamily="34" charset="0"/>
                <a:cs typeface="Calibri" panose="020F0502020204030204" pitchFamily="34" charset="0"/>
              </a:rPr>
              <a:t>2.Medium</a:t>
            </a:r>
          </a:p>
          <a:p>
            <a:r>
              <a:rPr lang="en-US" sz="2400" b="1" dirty="0">
                <a:latin typeface="Calibri" panose="020F0502020204030204" pitchFamily="34" charset="0"/>
                <a:ea typeface="Calibri" panose="020F0502020204030204" pitchFamily="34" charset="0"/>
                <a:cs typeface="Calibri" panose="020F0502020204030204" pitchFamily="34" charset="0"/>
              </a:rPr>
              <a:t>3.High</a:t>
            </a:r>
          </a:p>
        </p:txBody>
      </p:sp>
    </p:spTree>
    <p:extLst>
      <p:ext uri="{BB962C8B-B14F-4D97-AF65-F5344CB8AC3E}">
        <p14:creationId xmlns:p14="http://schemas.microsoft.com/office/powerpoint/2010/main" val="14718101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D502725-7219-9884-5588-965DAA42FEA8}"/>
              </a:ext>
            </a:extLst>
          </p:cNvPr>
          <p:cNvSpPr txBox="1"/>
          <p:nvPr/>
        </p:nvSpPr>
        <p:spPr>
          <a:xfrm>
            <a:off x="4164376" y="605927"/>
            <a:ext cx="6720289" cy="523220"/>
          </a:xfrm>
          <a:prstGeom prst="rect">
            <a:avLst/>
          </a:prstGeom>
          <a:noFill/>
        </p:spPr>
        <p:txBody>
          <a:bodyPr wrap="square" rtlCol="0">
            <a:spAutoFit/>
          </a:bodyPr>
          <a:lstStyle/>
          <a:p>
            <a:pPr algn="ctr"/>
            <a:r>
              <a:rPr lang="en-US" sz="2800" b="1" dirty="0">
                <a:latin typeface="Calibri" panose="020F0502020204030204" pitchFamily="34" charset="0"/>
                <a:ea typeface="Calibri" panose="020F0502020204030204" pitchFamily="34" charset="0"/>
                <a:cs typeface="Calibri" panose="020F0502020204030204" pitchFamily="34" charset="0"/>
              </a:rPr>
              <a:t>Results</a:t>
            </a:r>
          </a:p>
        </p:txBody>
      </p:sp>
      <p:pic>
        <p:nvPicPr>
          <p:cNvPr id="4" name="Picture 3">
            <a:extLst>
              <a:ext uri="{FF2B5EF4-FFF2-40B4-BE49-F238E27FC236}">
                <a16:creationId xmlns:a16="http://schemas.microsoft.com/office/drawing/2014/main" id="{AB4F140D-3C61-4695-79C7-7ADB9D907981}"/>
              </a:ext>
            </a:extLst>
          </p:cNvPr>
          <p:cNvPicPr>
            <a:picLocks noChangeAspect="1"/>
          </p:cNvPicPr>
          <p:nvPr/>
        </p:nvPicPr>
        <p:blipFill>
          <a:blip r:embed="rId2"/>
          <a:srcRect r="29880"/>
          <a:stretch>
            <a:fillRect/>
          </a:stretch>
        </p:blipFill>
        <p:spPr>
          <a:xfrm>
            <a:off x="148729" y="1268372"/>
            <a:ext cx="6031734" cy="4527873"/>
          </a:xfrm>
          <a:prstGeom prst="rect">
            <a:avLst/>
          </a:prstGeom>
        </p:spPr>
      </p:pic>
      <p:pic>
        <p:nvPicPr>
          <p:cNvPr id="6" name="Picture 5">
            <a:extLst>
              <a:ext uri="{FF2B5EF4-FFF2-40B4-BE49-F238E27FC236}">
                <a16:creationId xmlns:a16="http://schemas.microsoft.com/office/drawing/2014/main" id="{2AEA3A52-B45F-3016-B2B6-E8F92A3832FA}"/>
              </a:ext>
            </a:extLst>
          </p:cNvPr>
          <p:cNvPicPr>
            <a:picLocks noChangeAspect="1"/>
          </p:cNvPicPr>
          <p:nvPr/>
        </p:nvPicPr>
        <p:blipFill>
          <a:blip r:embed="rId3"/>
          <a:stretch>
            <a:fillRect/>
          </a:stretch>
        </p:blipFill>
        <p:spPr>
          <a:xfrm>
            <a:off x="6984694" y="1392485"/>
            <a:ext cx="7645706" cy="4279647"/>
          </a:xfrm>
          <a:prstGeom prst="rect">
            <a:avLst/>
          </a:prstGeom>
        </p:spPr>
      </p:pic>
      <p:sp>
        <p:nvSpPr>
          <p:cNvPr id="8" name="TextBox 7">
            <a:extLst>
              <a:ext uri="{FF2B5EF4-FFF2-40B4-BE49-F238E27FC236}">
                <a16:creationId xmlns:a16="http://schemas.microsoft.com/office/drawing/2014/main" id="{698E31EF-E926-8B83-C6C5-1AAF15116839}"/>
              </a:ext>
            </a:extLst>
          </p:cNvPr>
          <p:cNvSpPr txBox="1"/>
          <p:nvPr/>
        </p:nvSpPr>
        <p:spPr>
          <a:xfrm>
            <a:off x="936434" y="5935470"/>
            <a:ext cx="5244029" cy="369332"/>
          </a:xfrm>
          <a:prstGeom prst="rect">
            <a:avLst/>
          </a:prstGeom>
          <a:noFill/>
        </p:spPr>
        <p:txBody>
          <a:bodyPr wrap="square" rtlCol="0">
            <a:spAutoFit/>
          </a:bodyPr>
          <a:lstStyle/>
          <a:p>
            <a:r>
              <a:rPr lang="en-US" sz="1800" b="1" dirty="0">
                <a:latin typeface="Calibri" panose="020F0502020204030204" pitchFamily="34" charset="0"/>
                <a:ea typeface="Calibri" panose="020F0502020204030204" pitchFamily="34" charset="0"/>
                <a:cs typeface="Calibri" panose="020F0502020204030204" pitchFamily="34" charset="0"/>
              </a:rPr>
              <a:t>Image showing the “NORMAL” condition dashboard</a:t>
            </a:r>
          </a:p>
        </p:txBody>
      </p:sp>
      <p:sp>
        <p:nvSpPr>
          <p:cNvPr id="9" name="TextBox 8">
            <a:extLst>
              <a:ext uri="{FF2B5EF4-FFF2-40B4-BE49-F238E27FC236}">
                <a16:creationId xmlns:a16="http://schemas.microsoft.com/office/drawing/2014/main" id="{D54CF80D-CF7C-97EF-DB9A-00DE7E0719F0}"/>
              </a:ext>
            </a:extLst>
          </p:cNvPr>
          <p:cNvSpPr txBox="1"/>
          <p:nvPr/>
        </p:nvSpPr>
        <p:spPr>
          <a:xfrm>
            <a:off x="8273667" y="5935470"/>
            <a:ext cx="5706738" cy="369332"/>
          </a:xfrm>
          <a:prstGeom prst="rect">
            <a:avLst/>
          </a:prstGeom>
          <a:noFill/>
        </p:spPr>
        <p:txBody>
          <a:bodyPr wrap="square" rtlCol="0">
            <a:spAutoFit/>
          </a:bodyPr>
          <a:lstStyle/>
          <a:p>
            <a:r>
              <a:rPr lang="en-US" sz="1800" b="1" dirty="0">
                <a:latin typeface="Calibri" panose="020F0502020204030204" pitchFamily="34" charset="0"/>
                <a:ea typeface="Calibri" panose="020F0502020204030204" pitchFamily="34" charset="0"/>
                <a:cs typeface="Calibri" panose="020F0502020204030204" pitchFamily="34" charset="0"/>
              </a:rPr>
              <a:t>Image showing the “ACCIDENT “ condition dashboard</a:t>
            </a:r>
          </a:p>
        </p:txBody>
      </p:sp>
    </p:spTree>
    <p:extLst>
      <p:ext uri="{BB962C8B-B14F-4D97-AF65-F5344CB8AC3E}">
        <p14:creationId xmlns:p14="http://schemas.microsoft.com/office/powerpoint/2010/main" val="20337740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A2183E1-626E-28B4-3186-713DAEA29674}"/>
              </a:ext>
            </a:extLst>
          </p:cNvPr>
          <p:cNvPicPr>
            <a:picLocks noChangeAspect="1"/>
          </p:cNvPicPr>
          <p:nvPr/>
        </p:nvPicPr>
        <p:blipFill>
          <a:blip r:embed="rId2"/>
          <a:stretch>
            <a:fillRect/>
          </a:stretch>
        </p:blipFill>
        <p:spPr>
          <a:xfrm>
            <a:off x="0" y="787706"/>
            <a:ext cx="6951842" cy="4038009"/>
          </a:xfrm>
          <a:prstGeom prst="rect">
            <a:avLst/>
          </a:prstGeom>
        </p:spPr>
      </p:pic>
      <p:pic>
        <p:nvPicPr>
          <p:cNvPr id="5" name="Picture 4">
            <a:extLst>
              <a:ext uri="{FF2B5EF4-FFF2-40B4-BE49-F238E27FC236}">
                <a16:creationId xmlns:a16="http://schemas.microsoft.com/office/drawing/2014/main" id="{F56FB83E-CA99-5E1A-2046-9F3ADCA6E57A}"/>
              </a:ext>
            </a:extLst>
          </p:cNvPr>
          <p:cNvPicPr>
            <a:picLocks noChangeAspect="1"/>
          </p:cNvPicPr>
          <p:nvPr/>
        </p:nvPicPr>
        <p:blipFill>
          <a:blip r:embed="rId3"/>
          <a:stretch>
            <a:fillRect/>
          </a:stretch>
        </p:blipFill>
        <p:spPr>
          <a:xfrm>
            <a:off x="6907775" y="2932975"/>
            <a:ext cx="7722625" cy="4342394"/>
          </a:xfrm>
          <a:prstGeom prst="rect">
            <a:avLst/>
          </a:prstGeom>
        </p:spPr>
      </p:pic>
      <p:sp>
        <p:nvSpPr>
          <p:cNvPr id="6" name="TextBox 5">
            <a:extLst>
              <a:ext uri="{FF2B5EF4-FFF2-40B4-BE49-F238E27FC236}">
                <a16:creationId xmlns:a16="http://schemas.microsoft.com/office/drawing/2014/main" id="{9B9B891B-CC27-033A-6BCC-62E30038D5B6}"/>
              </a:ext>
            </a:extLst>
          </p:cNvPr>
          <p:cNvSpPr txBox="1"/>
          <p:nvPr/>
        </p:nvSpPr>
        <p:spPr>
          <a:xfrm>
            <a:off x="7458419" y="1306343"/>
            <a:ext cx="5728772" cy="369332"/>
          </a:xfrm>
          <a:prstGeom prst="rect">
            <a:avLst/>
          </a:prstGeom>
          <a:noFill/>
        </p:spPr>
        <p:txBody>
          <a:bodyPr wrap="square" rtlCol="0">
            <a:spAutoFit/>
          </a:bodyPr>
          <a:lstStyle/>
          <a:p>
            <a:r>
              <a:rPr lang="en-US" sz="1800" b="1" dirty="0">
                <a:latin typeface="Calibri" panose="020F0502020204030204" pitchFamily="34" charset="0"/>
                <a:ea typeface="Calibri" panose="020F0502020204030204" pitchFamily="34" charset="0"/>
                <a:cs typeface="Calibri" panose="020F0502020204030204" pitchFamily="34" charset="0"/>
              </a:rPr>
              <a:t>Image of “project dashboard webpage”</a:t>
            </a:r>
          </a:p>
        </p:txBody>
      </p:sp>
      <p:sp>
        <p:nvSpPr>
          <p:cNvPr id="7" name="TextBox 6">
            <a:extLst>
              <a:ext uri="{FF2B5EF4-FFF2-40B4-BE49-F238E27FC236}">
                <a16:creationId xmlns:a16="http://schemas.microsoft.com/office/drawing/2014/main" id="{1ED5F12D-C96A-6D8F-49F1-00D2D1E88467}"/>
              </a:ext>
            </a:extLst>
          </p:cNvPr>
          <p:cNvSpPr txBox="1"/>
          <p:nvPr/>
        </p:nvSpPr>
        <p:spPr>
          <a:xfrm>
            <a:off x="1266940" y="5905041"/>
            <a:ext cx="5166911" cy="369332"/>
          </a:xfrm>
          <a:prstGeom prst="rect">
            <a:avLst/>
          </a:prstGeom>
          <a:noFill/>
        </p:spPr>
        <p:txBody>
          <a:bodyPr wrap="square" rtlCol="0">
            <a:spAutoFit/>
          </a:bodyPr>
          <a:lstStyle/>
          <a:p>
            <a:r>
              <a:rPr lang="en-US" sz="1800" b="1" dirty="0">
                <a:latin typeface="Calibri" panose="020F0502020204030204" pitchFamily="34" charset="0"/>
                <a:ea typeface="Calibri" panose="020F0502020204030204" pitchFamily="34" charset="0"/>
                <a:cs typeface="Calibri" panose="020F0502020204030204" pitchFamily="34" charset="0"/>
              </a:rPr>
              <a:t>Image of “Project dashboard with Google map”</a:t>
            </a:r>
          </a:p>
        </p:txBody>
      </p:sp>
    </p:spTree>
    <p:extLst>
      <p:ext uri="{BB962C8B-B14F-4D97-AF65-F5344CB8AC3E}">
        <p14:creationId xmlns:p14="http://schemas.microsoft.com/office/powerpoint/2010/main" val="429365182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5"/>
          <p:cNvSpPr/>
          <p:nvPr/>
        </p:nvSpPr>
        <p:spPr>
          <a:xfrm>
            <a:off x="837724" y="293700"/>
            <a:ext cx="5632490" cy="704017"/>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2B3541"/>
              </a:buClr>
              <a:buSzPts val="4400"/>
              <a:buFont typeface="Times New Roman"/>
              <a:buNone/>
            </a:pPr>
            <a:r>
              <a:rPr lang="en-IN" sz="4400" dirty="0">
                <a:solidFill>
                  <a:srgbClr val="2B3541"/>
                </a:solidFill>
                <a:latin typeface="Times New Roman"/>
                <a:ea typeface="Times New Roman"/>
                <a:cs typeface="Times New Roman"/>
                <a:sym typeface="Times New Roman"/>
              </a:rPr>
              <a:t>Conclusion</a:t>
            </a:r>
            <a:endParaRPr sz="4400" dirty="0">
              <a:solidFill>
                <a:srgbClr val="2B3541"/>
              </a:solidFill>
              <a:latin typeface="Times New Roman"/>
              <a:ea typeface="Times New Roman"/>
              <a:cs typeface="Times New Roman"/>
              <a:sym typeface="Times New Roman"/>
            </a:endParaRPr>
          </a:p>
        </p:txBody>
      </p:sp>
      <p:sp>
        <p:nvSpPr>
          <p:cNvPr id="111" name="Google Shape;111;p5"/>
          <p:cNvSpPr/>
          <p:nvPr/>
        </p:nvSpPr>
        <p:spPr>
          <a:xfrm>
            <a:off x="514338" y="6534627"/>
            <a:ext cx="12954952" cy="478631"/>
          </a:xfrm>
          <a:prstGeom prst="rect">
            <a:avLst/>
          </a:prstGeom>
          <a:noFill/>
          <a:ln>
            <a:noFill/>
          </a:ln>
        </p:spPr>
        <p:txBody>
          <a:bodyPr spcFirstLastPara="1" wrap="square" lIns="0" tIns="0" rIns="0" bIns="0" anchor="t" anchorCtr="0">
            <a:noAutofit/>
          </a:bodyPr>
          <a:lstStyle/>
          <a:p>
            <a:pPr marL="0" marR="0" lvl="0" indent="0" algn="ctr" rtl="0">
              <a:lnSpc>
                <a:spcPct val="93750"/>
              </a:lnSpc>
              <a:spcBef>
                <a:spcPts val="0"/>
              </a:spcBef>
              <a:spcAft>
                <a:spcPts val="0"/>
              </a:spcAft>
              <a:buClr>
                <a:srgbClr val="2B3541"/>
              </a:buClr>
              <a:buSzPts val="4000"/>
              <a:buFont typeface="Times New Roman"/>
              <a:buNone/>
            </a:pPr>
            <a:endParaRPr sz="4000" dirty="0">
              <a:solidFill>
                <a:schemeClr val="dk1"/>
              </a:solidFill>
              <a:latin typeface="Times New Roman"/>
              <a:ea typeface="Times New Roman"/>
              <a:cs typeface="Times New Roman"/>
              <a:sym typeface="Times New Roman"/>
            </a:endParaRPr>
          </a:p>
        </p:txBody>
      </p:sp>
      <p:sp>
        <p:nvSpPr>
          <p:cNvPr id="112" name="Google Shape;112;p5"/>
          <p:cNvSpPr/>
          <p:nvPr/>
        </p:nvSpPr>
        <p:spPr>
          <a:xfrm>
            <a:off x="837724" y="7013258"/>
            <a:ext cx="12954952" cy="306229"/>
          </a:xfrm>
          <a:prstGeom prst="rect">
            <a:avLst/>
          </a:prstGeom>
          <a:noFill/>
          <a:ln>
            <a:noFill/>
          </a:ln>
        </p:spPr>
        <p:txBody>
          <a:bodyPr spcFirstLastPara="1" wrap="square" lIns="0" tIns="0" rIns="0" bIns="0" anchor="t" anchorCtr="0">
            <a:noAutofit/>
          </a:bodyPr>
          <a:lstStyle/>
          <a:p>
            <a:pPr marL="0" marR="0" lvl="0" indent="0" algn="ctr" rtl="0">
              <a:lnSpc>
                <a:spcPct val="160000"/>
              </a:lnSpc>
              <a:spcBef>
                <a:spcPts val="0"/>
              </a:spcBef>
              <a:spcAft>
                <a:spcPts val="0"/>
              </a:spcAft>
              <a:buClr>
                <a:schemeClr val="dk1"/>
              </a:buClr>
              <a:buSzPts val="1500"/>
              <a:buFont typeface="Calibri"/>
              <a:buNone/>
            </a:pPr>
            <a:endParaRPr sz="1500">
              <a:solidFill>
                <a:schemeClr val="dk1"/>
              </a:solidFill>
              <a:latin typeface="Calibri"/>
              <a:ea typeface="Calibri"/>
              <a:cs typeface="Calibri"/>
              <a:sym typeface="Calibri"/>
            </a:endParaRPr>
          </a:p>
        </p:txBody>
      </p:sp>
      <p:sp>
        <p:nvSpPr>
          <p:cNvPr id="113" name="Google Shape;113;p5"/>
          <p:cNvSpPr txBox="1"/>
          <p:nvPr/>
        </p:nvSpPr>
        <p:spPr>
          <a:xfrm>
            <a:off x="760606" y="1216342"/>
            <a:ext cx="11975100" cy="4401164"/>
          </a:xfrm>
          <a:prstGeom prst="rect">
            <a:avLst/>
          </a:prstGeom>
          <a:noFill/>
          <a:ln>
            <a:noFill/>
          </a:ln>
        </p:spPr>
        <p:txBody>
          <a:bodyPr spcFirstLastPara="1" wrap="square" lIns="91425" tIns="45700" rIns="91425" bIns="45700" anchor="t" anchorCtr="0">
            <a:spAutoFit/>
          </a:bodyPr>
          <a:lstStyle/>
          <a:p>
            <a:pPr lvl="0"/>
            <a:r>
              <a:rPr lang="en-US" sz="2800" dirty="0">
                <a:latin typeface="Calibri" panose="020F0502020204030204" pitchFamily="34" charset="0"/>
                <a:ea typeface="Calibri" panose="020F0502020204030204" pitchFamily="34" charset="0"/>
                <a:cs typeface="Calibri" panose="020F0502020204030204" pitchFamily="34" charset="0"/>
              </a:rPr>
              <a:t>The proposed Real-Time Accident Monitoring and Risk Prediction System combines ESP32-based IoT sensing (MPU6050, crash switch, panic button, GPS), weather-aware risk analysis, and LSTM-based sequence insight for early warning and accident </a:t>
            </a:r>
            <a:r>
              <a:rPr lang="en-US" sz="2800" dirty="0" err="1">
                <a:latin typeface="Calibri" panose="020F0502020204030204" pitchFamily="34" charset="0"/>
                <a:ea typeface="Calibri" panose="020F0502020204030204" pitchFamily="34" charset="0"/>
                <a:cs typeface="Calibri" panose="020F0502020204030204" pitchFamily="34" charset="0"/>
              </a:rPr>
              <a:t>detection.When</a:t>
            </a:r>
            <a:r>
              <a:rPr lang="en-US" sz="2800" dirty="0">
                <a:latin typeface="Calibri" panose="020F0502020204030204" pitchFamily="34" charset="0"/>
                <a:ea typeface="Calibri" panose="020F0502020204030204" pitchFamily="34" charset="0"/>
                <a:cs typeface="Calibri" panose="020F0502020204030204" pitchFamily="34" charset="0"/>
              </a:rPr>
              <a:t> risk or crash is detected, the system triggers buzzer/LCD alerts and sends Telegram emergency notifications with severity and Google Maps location. These alerts can be configured for emergency/government response contacts such as 100 and 108.Overall, this is a low-cost, real-time project that improves alert speed, situational awareness, and emergency response </a:t>
            </a:r>
            <a:r>
              <a:rPr lang="en-US" sz="2800" dirty="0" err="1">
                <a:latin typeface="Calibri" panose="020F0502020204030204" pitchFamily="34" charset="0"/>
                <a:ea typeface="Calibri" panose="020F0502020204030204" pitchFamily="34" charset="0"/>
                <a:cs typeface="Calibri" panose="020F0502020204030204" pitchFamily="34" charset="0"/>
              </a:rPr>
              <a:t>efficiency.With</a:t>
            </a:r>
            <a:r>
              <a:rPr lang="en-US" sz="2800" dirty="0">
                <a:latin typeface="Calibri" panose="020F0502020204030204" pitchFamily="34" charset="0"/>
                <a:ea typeface="Calibri" panose="020F0502020204030204" pitchFamily="34" charset="0"/>
                <a:cs typeface="Calibri" panose="020F0502020204030204" pitchFamily="34" charset="0"/>
              </a:rPr>
              <a:t> this model we can able to save a person’s life.</a:t>
            </a:r>
            <a:endParaRPr sz="28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F532921-5930-9407-C7B1-565075197A2B}"/>
              </a:ext>
            </a:extLst>
          </p:cNvPr>
          <p:cNvSpPr txBox="1"/>
          <p:nvPr/>
        </p:nvSpPr>
        <p:spPr>
          <a:xfrm>
            <a:off x="253388" y="363557"/>
            <a:ext cx="13991422" cy="6586418"/>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References:</a:t>
            </a:r>
          </a:p>
          <a:p>
            <a:pPr marL="342900" indent="-34290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Amir Bahador Parsa, Rishabh S. Chauhan, Homa Taghipour, Sybil </a:t>
            </a:r>
            <a:r>
              <a:rPr lang="en-US" sz="2400" dirty="0" err="1">
                <a:latin typeface="Calibri" panose="020F0502020204030204" pitchFamily="34" charset="0"/>
                <a:ea typeface="Calibri" panose="020F0502020204030204" pitchFamily="34" charset="0"/>
                <a:cs typeface="Calibri" panose="020F0502020204030204" pitchFamily="34" charset="0"/>
              </a:rPr>
              <a:t>Derrible</a:t>
            </a:r>
            <a:r>
              <a:rPr lang="en-US" sz="2400" dirty="0">
                <a:latin typeface="Calibri" panose="020F0502020204030204" pitchFamily="34" charset="0"/>
                <a:ea typeface="Calibri" panose="020F0502020204030204" pitchFamily="34" charset="0"/>
                <a:cs typeface="Calibri" panose="020F0502020204030204" pitchFamily="34" charset="0"/>
              </a:rPr>
              <a:t>, Abolfazl Mohammadian (2019).</a:t>
            </a:r>
            <a:br>
              <a:rPr lang="en-US" dirty="0">
                <a:latin typeface="Calibri" panose="020F0502020204030204" pitchFamily="34" charset="0"/>
                <a:ea typeface="Calibri" panose="020F0502020204030204" pitchFamily="34" charset="0"/>
                <a:cs typeface="Calibri" panose="020F0502020204030204" pitchFamily="34" charset="0"/>
              </a:rPr>
            </a:br>
            <a:r>
              <a:rPr lang="en-US" sz="1800" i="1" dirty="0">
                <a:latin typeface="Calibri" panose="020F0502020204030204" pitchFamily="34" charset="0"/>
                <a:ea typeface="Calibri" panose="020F0502020204030204" pitchFamily="34" charset="0"/>
                <a:cs typeface="Calibri" panose="020F0502020204030204" pitchFamily="34" charset="0"/>
              </a:rPr>
              <a:t>Applying Deep Learning to Detect Traffic Accidents in Real Time Using Spatiotemporal Sequential Data</a:t>
            </a:r>
            <a:r>
              <a:rPr lang="en-US" sz="1800" dirty="0">
                <a:latin typeface="Calibri" panose="020F0502020204030204" pitchFamily="34" charset="0"/>
                <a:ea typeface="Calibri" panose="020F0502020204030204" pitchFamily="34" charset="0"/>
                <a:cs typeface="Calibri" panose="020F0502020204030204" pitchFamily="34" charset="0"/>
              </a:rPr>
              <a:t> (uses LSTM/GRU).</a:t>
            </a:r>
            <a:br>
              <a:rPr lang="en-US" sz="1800" dirty="0">
                <a:latin typeface="Calibri" panose="020F0502020204030204" pitchFamily="34" charset="0"/>
                <a:ea typeface="Calibri" panose="020F0502020204030204" pitchFamily="34" charset="0"/>
                <a:cs typeface="Calibri" panose="020F0502020204030204" pitchFamily="34" charset="0"/>
              </a:rPr>
            </a:br>
            <a:endParaRPr lang="en-US" sz="1800"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Debaditya Roy, </a:t>
            </a:r>
            <a:r>
              <a:rPr lang="en-US" sz="2400" dirty="0" err="1">
                <a:latin typeface="Calibri" panose="020F0502020204030204" pitchFamily="34" charset="0"/>
                <a:ea typeface="Calibri" panose="020F0502020204030204" pitchFamily="34" charset="0"/>
                <a:cs typeface="Calibri" panose="020F0502020204030204" pitchFamily="34" charset="0"/>
              </a:rPr>
              <a:t>Tetsuhiro</a:t>
            </a:r>
            <a:r>
              <a:rPr lang="en-US" sz="2400" dirty="0">
                <a:latin typeface="Calibri" panose="020F0502020204030204" pitchFamily="34" charset="0"/>
                <a:ea typeface="Calibri" panose="020F0502020204030204" pitchFamily="34" charset="0"/>
                <a:cs typeface="Calibri" panose="020F0502020204030204" pitchFamily="34" charset="0"/>
              </a:rPr>
              <a:t> Ishizaka, Krishna Mohan C., Atsushi Fukuda (2019).</a:t>
            </a:r>
            <a:br>
              <a:rPr lang="en-US" dirty="0">
                <a:latin typeface="Calibri" panose="020F0502020204030204" pitchFamily="34" charset="0"/>
                <a:ea typeface="Calibri" panose="020F0502020204030204" pitchFamily="34" charset="0"/>
                <a:cs typeface="Calibri" panose="020F0502020204030204" pitchFamily="34" charset="0"/>
              </a:rPr>
            </a:br>
            <a:r>
              <a:rPr lang="en-US" sz="1800" i="1" dirty="0">
                <a:latin typeface="Calibri" panose="020F0502020204030204" pitchFamily="34" charset="0"/>
                <a:ea typeface="Calibri" panose="020F0502020204030204" pitchFamily="34" charset="0"/>
                <a:cs typeface="Calibri" panose="020F0502020204030204" pitchFamily="34" charset="0"/>
              </a:rPr>
              <a:t>Detection of Collision-Prone Vehicle Behavior at Intersections using Siamese Interaction LSTM (SILSTM).</a:t>
            </a:r>
            <a:br>
              <a:rPr lang="en-US" dirty="0">
                <a:latin typeface="Calibri" panose="020F0502020204030204" pitchFamily="34" charset="0"/>
                <a:ea typeface="Calibri" panose="020F0502020204030204" pitchFamily="34" charset="0"/>
                <a:cs typeface="Calibri" panose="020F0502020204030204" pitchFamily="34" charset="0"/>
              </a:rPr>
            </a:br>
            <a:endParaRPr lang="en-US"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M. N. Khan Khattak, </a:t>
            </a:r>
            <a:r>
              <a:rPr lang="en-US" sz="2400" dirty="0" err="1">
                <a:latin typeface="Calibri" panose="020F0502020204030204" pitchFamily="34" charset="0"/>
                <a:ea typeface="Calibri" panose="020F0502020204030204" pitchFamily="34" charset="0"/>
                <a:cs typeface="Calibri" panose="020F0502020204030204" pitchFamily="34" charset="0"/>
              </a:rPr>
              <a:t>Balawal</a:t>
            </a:r>
            <a:r>
              <a:rPr lang="en-US" sz="2400" dirty="0">
                <a:latin typeface="Calibri" panose="020F0502020204030204" pitchFamily="34" charset="0"/>
                <a:ea typeface="Calibri" panose="020F0502020204030204" pitchFamily="34" charset="0"/>
                <a:cs typeface="Calibri" panose="020F0502020204030204" pitchFamily="34" charset="0"/>
              </a:rPr>
              <a:t> Shabir, Asad Waqar Malik, Sher Ramzan Muhammad (2020).</a:t>
            </a:r>
            <a:br>
              <a:rPr lang="en-US" dirty="0">
                <a:latin typeface="Calibri" panose="020F0502020204030204" pitchFamily="34" charset="0"/>
                <a:ea typeface="Calibri" panose="020F0502020204030204" pitchFamily="34" charset="0"/>
                <a:cs typeface="Calibri" panose="020F0502020204030204" pitchFamily="34" charset="0"/>
              </a:rPr>
            </a:br>
            <a:r>
              <a:rPr lang="en-US" sz="1800" i="1" dirty="0">
                <a:latin typeface="Calibri" panose="020F0502020204030204" pitchFamily="34" charset="0"/>
                <a:ea typeface="Calibri" panose="020F0502020204030204" pitchFamily="34" charset="0"/>
                <a:cs typeface="Calibri" panose="020F0502020204030204" pitchFamily="34" charset="0"/>
              </a:rPr>
              <a:t>A Comprehensive Study on IoT Based Accident Detection Systems for Smart Vehicles.</a:t>
            </a:r>
            <a:r>
              <a:rPr lang="en-US" sz="1800" dirty="0">
                <a:latin typeface="Calibri" panose="020F0502020204030204" pitchFamily="34" charset="0"/>
                <a:ea typeface="Calibri" panose="020F0502020204030204" pitchFamily="34" charset="0"/>
                <a:cs typeface="Calibri" panose="020F0502020204030204" pitchFamily="34" charset="0"/>
              </a:rPr>
              <a:t> IEEE Access.</a:t>
            </a:r>
            <a:br>
              <a:rPr lang="en-US" sz="1800" dirty="0">
                <a:latin typeface="Calibri" panose="020F0502020204030204" pitchFamily="34" charset="0"/>
                <a:ea typeface="Calibri" panose="020F0502020204030204" pitchFamily="34" charset="0"/>
                <a:cs typeface="Calibri" panose="020F0502020204030204" pitchFamily="34" charset="0"/>
              </a:rPr>
            </a:br>
            <a:endParaRPr lang="en-US" sz="1800"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Pouya </a:t>
            </a:r>
            <a:r>
              <a:rPr lang="en-US" sz="2400" dirty="0" err="1">
                <a:latin typeface="Calibri" panose="020F0502020204030204" pitchFamily="34" charset="0"/>
                <a:ea typeface="Calibri" panose="020F0502020204030204" pitchFamily="34" charset="0"/>
                <a:cs typeface="Calibri" panose="020F0502020204030204" pitchFamily="34" charset="0"/>
              </a:rPr>
              <a:t>Mehrannia</a:t>
            </a:r>
            <a:r>
              <a:rPr lang="en-US" sz="2400" dirty="0">
                <a:latin typeface="Calibri" panose="020F0502020204030204" pitchFamily="34" charset="0"/>
                <a:ea typeface="Calibri" panose="020F0502020204030204" pitchFamily="34" charset="0"/>
                <a:cs typeface="Calibri" panose="020F0502020204030204" pitchFamily="34" charset="0"/>
              </a:rPr>
              <a:t>, Shayan </a:t>
            </a:r>
            <a:r>
              <a:rPr lang="en-US" sz="2400" dirty="0" err="1">
                <a:latin typeface="Calibri" panose="020F0502020204030204" pitchFamily="34" charset="0"/>
                <a:ea typeface="Calibri" panose="020F0502020204030204" pitchFamily="34" charset="0"/>
                <a:cs typeface="Calibri" panose="020F0502020204030204" pitchFamily="34" charset="0"/>
              </a:rPr>
              <a:t>Shirahmad</a:t>
            </a:r>
            <a:r>
              <a:rPr lang="en-US" sz="2400" dirty="0">
                <a:latin typeface="Calibri" panose="020F0502020204030204" pitchFamily="34" charset="0"/>
                <a:ea typeface="Calibri" panose="020F0502020204030204" pitchFamily="34" charset="0"/>
                <a:cs typeface="Calibri" panose="020F0502020204030204" pitchFamily="34" charset="0"/>
              </a:rPr>
              <a:t> Gale Bagi, Behzad Moshiri, Otman Adam Al-Basir (2021).</a:t>
            </a:r>
            <a:br>
              <a:rPr lang="en-US" sz="2400" dirty="0">
                <a:latin typeface="Calibri" panose="020F0502020204030204" pitchFamily="34" charset="0"/>
                <a:ea typeface="Calibri" panose="020F0502020204030204" pitchFamily="34" charset="0"/>
                <a:cs typeface="Calibri" panose="020F0502020204030204" pitchFamily="34" charset="0"/>
              </a:rPr>
            </a:br>
            <a:r>
              <a:rPr lang="en-US" sz="1800" i="1" dirty="0">
                <a:latin typeface="Calibri" panose="020F0502020204030204" pitchFamily="34" charset="0"/>
                <a:ea typeface="Calibri" panose="020F0502020204030204" pitchFamily="34" charset="0"/>
                <a:cs typeface="Calibri" panose="020F0502020204030204" pitchFamily="34" charset="0"/>
              </a:rPr>
              <a:t>Deep Representation of Imbalanced </a:t>
            </a:r>
            <a:r>
              <a:rPr lang="en-US" sz="1800" i="1" dirty="0" err="1">
                <a:latin typeface="Calibri" panose="020F0502020204030204" pitchFamily="34" charset="0"/>
                <a:ea typeface="Calibri" panose="020F0502020204030204" pitchFamily="34" charset="0"/>
                <a:cs typeface="Calibri" panose="020F0502020204030204" pitchFamily="34" charset="0"/>
              </a:rPr>
              <a:t>Spatio</a:t>
            </a:r>
            <a:r>
              <a:rPr lang="en-US" sz="1800" i="1" dirty="0">
                <a:latin typeface="Calibri" panose="020F0502020204030204" pitchFamily="34" charset="0"/>
                <a:ea typeface="Calibri" panose="020F0502020204030204" pitchFamily="34" charset="0"/>
                <a:cs typeface="Calibri" panose="020F0502020204030204" pitchFamily="34" charset="0"/>
              </a:rPr>
              <a:t>-temporal Traffic Flow Data for Traffic Accident Detection</a:t>
            </a:r>
            <a:r>
              <a:rPr lang="en-US" sz="1800" dirty="0">
                <a:latin typeface="Calibri" panose="020F0502020204030204" pitchFamily="34" charset="0"/>
                <a:ea typeface="Calibri" panose="020F0502020204030204" pitchFamily="34" charset="0"/>
                <a:cs typeface="Calibri" panose="020F0502020204030204" pitchFamily="34" charset="0"/>
              </a:rPr>
              <a:t> (LSTM).</a:t>
            </a:r>
          </a:p>
          <a:p>
            <a:pPr marL="342900" indent="-342900">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sz="2400" dirty="0" err="1">
                <a:latin typeface="Calibri" panose="020F0502020204030204" pitchFamily="34" charset="0"/>
                <a:ea typeface="Calibri" panose="020F0502020204030204" pitchFamily="34" charset="0"/>
                <a:cs typeface="Calibri" panose="020F0502020204030204" pitchFamily="34" charset="0"/>
              </a:rPr>
              <a:t>Luyang</a:t>
            </a:r>
            <a:r>
              <a:rPr lang="en-US" sz="2400" dirty="0">
                <a:latin typeface="Calibri" panose="020F0502020204030204" pitchFamily="34" charset="0"/>
                <a:ea typeface="Calibri" panose="020F0502020204030204" pitchFamily="34" charset="0"/>
                <a:cs typeface="Calibri" panose="020F0502020204030204" pitchFamily="34" charset="0"/>
              </a:rPr>
              <a:t> Liu et al. (2022).</a:t>
            </a:r>
            <a:br>
              <a:rPr lang="en-US" dirty="0">
                <a:latin typeface="Calibri" panose="020F0502020204030204" pitchFamily="34" charset="0"/>
                <a:ea typeface="Calibri" panose="020F0502020204030204" pitchFamily="34" charset="0"/>
                <a:cs typeface="Calibri" panose="020F0502020204030204" pitchFamily="34" charset="0"/>
              </a:rPr>
            </a:br>
            <a:r>
              <a:rPr lang="en-US" sz="1800" i="1" dirty="0">
                <a:latin typeface="Calibri" panose="020F0502020204030204" pitchFamily="34" charset="0"/>
                <a:ea typeface="Calibri" panose="020F0502020204030204" pitchFamily="34" charset="0"/>
                <a:cs typeface="Calibri" panose="020F0502020204030204" pitchFamily="34" charset="0"/>
              </a:rPr>
              <a:t>Smartphone-based Hard-braking Event Detection at Scale for Road Safety Services.</a:t>
            </a:r>
          </a:p>
          <a:p>
            <a:pPr marL="342900" indent="-342900">
              <a:buFont typeface="Arial" panose="020B0604020202020204" pitchFamily="34" charset="0"/>
              <a:buChar char="•"/>
            </a:pPr>
            <a:endParaRPr lang="en-US" sz="1800" i="1"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Amal H. </a:t>
            </a:r>
            <a:r>
              <a:rPr lang="en-US" sz="2400" dirty="0" err="1">
                <a:latin typeface="Calibri" panose="020F0502020204030204" pitchFamily="34" charset="0"/>
                <a:ea typeface="Calibri" panose="020F0502020204030204" pitchFamily="34" charset="0"/>
                <a:cs typeface="Calibri" panose="020F0502020204030204" pitchFamily="34" charset="0"/>
              </a:rPr>
              <a:t>Alkhaiwani</a:t>
            </a:r>
            <a:r>
              <a:rPr lang="en-US" sz="2400" dirty="0">
                <a:latin typeface="Calibri" panose="020F0502020204030204" pitchFamily="34" charset="0"/>
                <a:ea typeface="Calibri" panose="020F0502020204030204" pitchFamily="34" charset="0"/>
                <a:cs typeface="Calibri" panose="020F0502020204030204" pitchFamily="34" charset="0"/>
              </a:rPr>
              <a:t>, Badr S. </a:t>
            </a:r>
            <a:r>
              <a:rPr lang="en-US" sz="2400" dirty="0" err="1">
                <a:latin typeface="Calibri" panose="020F0502020204030204" pitchFamily="34" charset="0"/>
                <a:ea typeface="Calibri" panose="020F0502020204030204" pitchFamily="34" charset="0"/>
                <a:cs typeface="Calibri" panose="020F0502020204030204" pitchFamily="34" charset="0"/>
              </a:rPr>
              <a:t>Alsamani</a:t>
            </a:r>
            <a:r>
              <a:rPr lang="en-US" sz="2400" dirty="0">
                <a:latin typeface="Calibri" panose="020F0502020204030204" pitchFamily="34" charset="0"/>
                <a:ea typeface="Calibri" panose="020F0502020204030204" pitchFamily="34" charset="0"/>
                <a:cs typeface="Calibri" panose="020F0502020204030204" pitchFamily="34" charset="0"/>
              </a:rPr>
              <a:t> (2023).</a:t>
            </a:r>
            <a:br>
              <a:rPr lang="en-US" dirty="0">
                <a:latin typeface="Calibri" panose="020F0502020204030204" pitchFamily="34" charset="0"/>
                <a:ea typeface="Calibri" panose="020F0502020204030204" pitchFamily="34" charset="0"/>
                <a:cs typeface="Calibri" panose="020F0502020204030204" pitchFamily="34" charset="0"/>
              </a:rPr>
            </a:br>
            <a:r>
              <a:rPr lang="en-US" sz="1800" i="1" dirty="0">
                <a:latin typeface="Calibri" panose="020F0502020204030204" pitchFamily="34" charset="0"/>
                <a:ea typeface="Calibri" panose="020F0502020204030204" pitchFamily="34" charset="0"/>
                <a:cs typeface="Calibri" panose="020F0502020204030204" pitchFamily="34" charset="0"/>
              </a:rPr>
              <a:t>A Framework and IoT-Based Accident Detection System to Securely Report an Accident and the Driver’s Private Information.</a:t>
            </a:r>
            <a:r>
              <a:rPr lang="en-US" sz="1800" dirty="0">
                <a:latin typeface="Calibri" panose="020F0502020204030204" pitchFamily="34" charset="0"/>
                <a:ea typeface="Calibri" panose="020F0502020204030204" pitchFamily="34" charset="0"/>
                <a:cs typeface="Calibri" panose="020F0502020204030204" pitchFamily="34" charset="0"/>
              </a:rPr>
              <a:t> Sustainability.</a:t>
            </a:r>
            <a:br>
              <a:rPr lang="en-US" sz="1800" dirty="0">
                <a:latin typeface="Calibri" panose="020F0502020204030204" pitchFamily="34" charset="0"/>
                <a:ea typeface="Calibri" panose="020F0502020204030204" pitchFamily="34" charset="0"/>
                <a:cs typeface="Calibri" panose="020F0502020204030204" pitchFamily="34" charset="0"/>
              </a:rPr>
            </a:br>
            <a:endParaRPr lang="en-US" sz="1800"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Tae-</a:t>
            </a:r>
            <a:r>
              <a:rPr lang="en-US" sz="2400" dirty="0" err="1">
                <a:latin typeface="Calibri" panose="020F0502020204030204" pitchFamily="34" charset="0"/>
                <a:ea typeface="Calibri" panose="020F0502020204030204" pitchFamily="34" charset="0"/>
                <a:cs typeface="Calibri" panose="020F0502020204030204" pitchFamily="34" charset="0"/>
              </a:rPr>
              <a:t>wook</a:t>
            </a:r>
            <a:r>
              <a:rPr lang="en-US" sz="2400" dirty="0">
                <a:latin typeface="Calibri" panose="020F0502020204030204" pitchFamily="34" charset="0"/>
                <a:ea typeface="Calibri" panose="020F0502020204030204" pitchFamily="34" charset="0"/>
                <a:cs typeface="Calibri" panose="020F0502020204030204" pitchFamily="34" charset="0"/>
              </a:rPr>
              <a:t> Kim, Han-</a:t>
            </a:r>
            <a:r>
              <a:rPr lang="en-US" sz="2400" dirty="0" err="1">
                <a:latin typeface="Calibri" panose="020F0502020204030204" pitchFamily="34" charset="0"/>
                <a:ea typeface="Calibri" panose="020F0502020204030204" pitchFamily="34" charset="0"/>
                <a:cs typeface="Calibri" panose="020F0502020204030204" pitchFamily="34" charset="0"/>
              </a:rPr>
              <a:t>jin</a:t>
            </a:r>
            <a:r>
              <a:rPr lang="en-US" sz="2400" dirty="0">
                <a:latin typeface="Calibri" panose="020F0502020204030204" pitchFamily="34" charset="0"/>
                <a:ea typeface="Calibri" panose="020F0502020204030204" pitchFamily="34" charset="0"/>
                <a:cs typeface="Calibri" panose="020F0502020204030204" pitchFamily="34" charset="0"/>
              </a:rPr>
              <a:t> Lee, Hyeon-Jin Jung, Ji-Woong Yang, Ellen J. Hong (2024).</a:t>
            </a:r>
            <a:br>
              <a:rPr lang="en-US" dirty="0">
                <a:latin typeface="Calibri" panose="020F0502020204030204" pitchFamily="34" charset="0"/>
                <a:ea typeface="Calibri" panose="020F0502020204030204" pitchFamily="34" charset="0"/>
                <a:cs typeface="Calibri" panose="020F0502020204030204" pitchFamily="34" charset="0"/>
              </a:rPr>
            </a:br>
            <a:r>
              <a:rPr lang="en-US" sz="1800" i="1" dirty="0">
                <a:latin typeface="Calibri" panose="020F0502020204030204" pitchFamily="34" charset="0"/>
                <a:ea typeface="Calibri" panose="020F0502020204030204" pitchFamily="34" charset="0"/>
                <a:cs typeface="Calibri" panose="020F0502020204030204" pitchFamily="34" charset="0"/>
              </a:rPr>
              <a:t>SST-GCN: Sequential </a:t>
            </a:r>
            <a:r>
              <a:rPr lang="en-US" sz="1800" i="1" dirty="0" err="1">
                <a:latin typeface="Calibri" panose="020F0502020204030204" pitchFamily="34" charset="0"/>
                <a:ea typeface="Calibri" panose="020F0502020204030204" pitchFamily="34" charset="0"/>
                <a:cs typeface="Calibri" panose="020F0502020204030204" pitchFamily="34" charset="0"/>
              </a:rPr>
              <a:t>Spatio</a:t>
            </a:r>
            <a:r>
              <a:rPr lang="en-US" sz="1800" i="1" dirty="0">
                <a:latin typeface="Calibri" panose="020F0502020204030204" pitchFamily="34" charset="0"/>
                <a:ea typeface="Calibri" panose="020F0502020204030204" pitchFamily="34" charset="0"/>
                <a:cs typeface="Calibri" panose="020F0502020204030204" pitchFamily="34" charset="0"/>
              </a:rPr>
              <a:t>-Temporal Graph Convolutional Networks for Traffic Accident Risk Prediction</a:t>
            </a:r>
            <a:r>
              <a:rPr lang="en-US" sz="1800" dirty="0">
                <a:latin typeface="Calibri" panose="020F0502020204030204" pitchFamily="34" charset="0"/>
                <a:ea typeface="Calibri" panose="020F0502020204030204" pitchFamily="34" charset="0"/>
                <a:cs typeface="Calibri" panose="020F0502020204030204" pitchFamily="34" charset="0"/>
              </a:rPr>
              <a:t> (GCN+LSTM).</a:t>
            </a:r>
          </a:p>
        </p:txBody>
      </p:sp>
    </p:spTree>
    <p:extLst>
      <p:ext uri="{BB962C8B-B14F-4D97-AF65-F5344CB8AC3E}">
        <p14:creationId xmlns:p14="http://schemas.microsoft.com/office/powerpoint/2010/main" val="150073742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D38148E-B4EB-A39F-AAA6-7847C553C174}"/>
              </a:ext>
            </a:extLst>
          </p:cNvPr>
          <p:cNvSpPr txBox="1"/>
          <p:nvPr/>
        </p:nvSpPr>
        <p:spPr>
          <a:xfrm>
            <a:off x="771180" y="187286"/>
            <a:ext cx="10576193" cy="6555641"/>
          </a:xfrm>
          <a:prstGeom prst="rect">
            <a:avLst/>
          </a:prstGeom>
          <a:noFill/>
        </p:spPr>
        <p:txBody>
          <a:bodyPr wrap="square" rtlCol="0">
            <a:spAutoFit/>
          </a:bodyPr>
          <a:lstStyle/>
          <a:p>
            <a:pPr marL="285750" indent="-285750">
              <a:buFont typeface="Arial" panose="020B0604020202020204" pitchFamily="34" charset="0"/>
              <a:buChar char="•"/>
            </a:pPr>
            <a:endParaRPr lang="en-US" sz="2400"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Nandkumar </a:t>
            </a:r>
            <a:r>
              <a:rPr lang="en-US" sz="2400" dirty="0" err="1">
                <a:latin typeface="Calibri" panose="020F0502020204030204" pitchFamily="34" charset="0"/>
                <a:ea typeface="Calibri" panose="020F0502020204030204" pitchFamily="34" charset="0"/>
                <a:cs typeface="Calibri" panose="020F0502020204030204" pitchFamily="34" charset="0"/>
              </a:rPr>
              <a:t>Niture</a:t>
            </a:r>
            <a:r>
              <a:rPr lang="en-US" sz="2400" dirty="0">
                <a:latin typeface="Calibri" panose="020F0502020204030204" pitchFamily="34" charset="0"/>
                <a:ea typeface="Calibri" panose="020F0502020204030204" pitchFamily="34" charset="0"/>
                <a:cs typeface="Calibri" panose="020F0502020204030204" pitchFamily="34" charset="0"/>
              </a:rPr>
              <a:t>, Iheb Abdellatif (Published 2024; issue 2025).</a:t>
            </a:r>
            <a:br>
              <a:rPr lang="en-US" sz="4000" dirty="0">
                <a:latin typeface="Calibri" panose="020F0502020204030204" pitchFamily="34" charset="0"/>
                <a:ea typeface="Calibri" panose="020F0502020204030204" pitchFamily="34" charset="0"/>
                <a:cs typeface="Calibri" panose="020F0502020204030204" pitchFamily="34" charset="0"/>
              </a:rPr>
            </a:br>
            <a:r>
              <a:rPr lang="en-US" sz="1800" i="1" dirty="0">
                <a:latin typeface="Calibri" panose="020F0502020204030204" pitchFamily="34" charset="0"/>
                <a:ea typeface="Calibri" panose="020F0502020204030204" pitchFamily="34" charset="0"/>
                <a:cs typeface="Calibri" panose="020F0502020204030204" pitchFamily="34" charset="0"/>
              </a:rPr>
              <a:t>A systematic review of factors, data sources, and prediction techniques for earlier prediction of traffic collision using AI and ML.</a:t>
            </a:r>
          </a:p>
          <a:p>
            <a:pPr marL="342900" indent="-34290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Abimbola </a:t>
            </a:r>
            <a:r>
              <a:rPr lang="en-US" sz="2400" dirty="0" err="1">
                <a:latin typeface="Calibri" panose="020F0502020204030204" pitchFamily="34" charset="0"/>
                <a:ea typeface="Calibri" panose="020F0502020204030204" pitchFamily="34" charset="0"/>
                <a:cs typeface="Calibri" panose="020F0502020204030204" pitchFamily="34" charset="0"/>
              </a:rPr>
              <a:t>Ogungbire</a:t>
            </a:r>
            <a:r>
              <a:rPr lang="en-US" sz="2400" dirty="0">
                <a:latin typeface="Calibri" panose="020F0502020204030204" pitchFamily="34" charset="0"/>
                <a:ea typeface="Calibri" panose="020F0502020204030204" pitchFamily="34" charset="0"/>
                <a:cs typeface="Calibri" panose="020F0502020204030204" pitchFamily="34" charset="0"/>
              </a:rPr>
              <a:t>, Srinivas S. </a:t>
            </a:r>
            <a:r>
              <a:rPr lang="en-US" sz="2400" dirty="0" err="1">
                <a:latin typeface="Calibri" panose="020F0502020204030204" pitchFamily="34" charset="0"/>
                <a:ea typeface="Calibri" panose="020F0502020204030204" pitchFamily="34" charset="0"/>
                <a:cs typeface="Calibri" panose="020F0502020204030204" pitchFamily="34" charset="0"/>
              </a:rPr>
              <a:t>Pulugurtha</a:t>
            </a:r>
            <a:r>
              <a:rPr lang="en-US" sz="2400" dirty="0">
                <a:latin typeface="Calibri" panose="020F0502020204030204" pitchFamily="34" charset="0"/>
                <a:ea typeface="Calibri" panose="020F0502020204030204" pitchFamily="34" charset="0"/>
                <a:cs typeface="Calibri" panose="020F0502020204030204" pitchFamily="34" charset="0"/>
              </a:rPr>
              <a:t> (2025).</a:t>
            </a:r>
            <a:br>
              <a:rPr lang="en-US" sz="2400" dirty="0">
                <a:latin typeface="Calibri" panose="020F0502020204030204" pitchFamily="34" charset="0"/>
                <a:ea typeface="Calibri" panose="020F0502020204030204" pitchFamily="34" charset="0"/>
                <a:cs typeface="Calibri" panose="020F0502020204030204" pitchFamily="34" charset="0"/>
              </a:rPr>
            </a:br>
            <a:r>
              <a:rPr lang="en-US" sz="1800" i="1" dirty="0">
                <a:latin typeface="Calibri" panose="020F0502020204030204" pitchFamily="34" charset="0"/>
                <a:ea typeface="Calibri" panose="020F0502020204030204" pitchFamily="34" charset="0"/>
                <a:cs typeface="Calibri" panose="020F0502020204030204" pitchFamily="34" charset="0"/>
              </a:rPr>
              <a:t>Spatiotemporal Risk Mapping of Statewide Weather-related Traffic Crashes: A Machine Learning Approach.</a:t>
            </a:r>
            <a:br>
              <a:rPr lang="en-US" sz="1800" dirty="0">
                <a:latin typeface="Calibri" panose="020F0502020204030204" pitchFamily="34" charset="0"/>
                <a:ea typeface="Calibri" panose="020F0502020204030204" pitchFamily="34" charset="0"/>
                <a:cs typeface="Calibri" panose="020F0502020204030204" pitchFamily="34" charset="0"/>
              </a:rPr>
            </a:br>
            <a:endParaRPr lang="en-US" sz="1800"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Khaled </a:t>
            </a:r>
            <a:r>
              <a:rPr lang="en-US" sz="2400" dirty="0" err="1">
                <a:latin typeface="Calibri" panose="020F0502020204030204" pitchFamily="34" charset="0"/>
                <a:ea typeface="Calibri" panose="020F0502020204030204" pitchFamily="34" charset="0"/>
                <a:cs typeface="Calibri" panose="020F0502020204030204" pitchFamily="34" charset="0"/>
              </a:rPr>
              <a:t>Alnowaiser</a:t>
            </a:r>
            <a:r>
              <a:rPr lang="en-US" sz="2400" dirty="0">
                <a:latin typeface="Calibri" panose="020F0502020204030204" pitchFamily="34" charset="0"/>
                <a:ea typeface="Calibri" panose="020F0502020204030204" pitchFamily="34" charset="0"/>
                <a:cs typeface="Calibri" panose="020F0502020204030204" pitchFamily="34" charset="0"/>
              </a:rPr>
              <a:t> (2025).</a:t>
            </a:r>
            <a:br>
              <a:rPr lang="en-US" sz="2400" dirty="0">
                <a:latin typeface="Calibri" panose="020F0502020204030204" pitchFamily="34" charset="0"/>
                <a:ea typeface="Calibri" panose="020F0502020204030204" pitchFamily="34" charset="0"/>
                <a:cs typeface="Calibri" panose="020F0502020204030204" pitchFamily="34" charset="0"/>
              </a:rPr>
            </a:br>
            <a:r>
              <a:rPr lang="en-US" sz="1800" i="1" dirty="0">
                <a:latin typeface="Calibri" panose="020F0502020204030204" pitchFamily="34" charset="0"/>
                <a:ea typeface="Calibri" panose="020F0502020204030204" pitchFamily="34" charset="0"/>
                <a:cs typeface="Calibri" panose="020F0502020204030204" pitchFamily="34" charset="0"/>
              </a:rPr>
              <a:t>A Computational Intelligence GNN–LSTM Framework for Spatiotemporal Prediction of Traffic Accident Severity in Smart Cities Using SHAP XAI.</a:t>
            </a:r>
            <a:endParaRPr lang="en-US" sz="2400" i="1"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Minal Y. Barhate et al. (2025).</a:t>
            </a:r>
            <a:br>
              <a:rPr lang="en-US" sz="2400" dirty="0">
                <a:latin typeface="Calibri" panose="020F0502020204030204" pitchFamily="34" charset="0"/>
                <a:ea typeface="Calibri" panose="020F0502020204030204" pitchFamily="34" charset="0"/>
                <a:cs typeface="Calibri" panose="020F0502020204030204" pitchFamily="34" charset="0"/>
              </a:rPr>
            </a:br>
            <a:r>
              <a:rPr lang="en-US" sz="1800" i="1" dirty="0">
                <a:latin typeface="Calibri" panose="020F0502020204030204" pitchFamily="34" charset="0"/>
                <a:ea typeface="Calibri" panose="020F0502020204030204" pitchFamily="34" charset="0"/>
                <a:cs typeface="Calibri" panose="020F0502020204030204" pitchFamily="34" charset="0"/>
              </a:rPr>
              <a:t>IoT-Enabled Vehicle Accident Detection System Using ESP32 with GPS Tracking and Dual-Channel Emergency Alerts via GSM-SMS and Telegram Bot.</a:t>
            </a:r>
            <a:br>
              <a:rPr lang="en-US" sz="1800" i="1" dirty="0">
                <a:latin typeface="Calibri" panose="020F0502020204030204" pitchFamily="34" charset="0"/>
                <a:ea typeface="Calibri" panose="020F0502020204030204" pitchFamily="34" charset="0"/>
                <a:cs typeface="Calibri" panose="020F0502020204030204" pitchFamily="34" charset="0"/>
              </a:rPr>
            </a:br>
            <a:endParaRPr lang="en-US" sz="1800" i="1"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Khaled </a:t>
            </a:r>
            <a:r>
              <a:rPr lang="en-US" sz="2400" dirty="0" err="1">
                <a:latin typeface="Calibri" panose="020F0502020204030204" pitchFamily="34" charset="0"/>
                <a:ea typeface="Calibri" panose="020F0502020204030204" pitchFamily="34" charset="0"/>
                <a:cs typeface="Calibri" panose="020F0502020204030204" pitchFamily="34" charset="0"/>
              </a:rPr>
              <a:t>Alnowaiser</a:t>
            </a:r>
            <a:r>
              <a:rPr lang="en-US" sz="2400" dirty="0">
                <a:latin typeface="Calibri" panose="020F0502020204030204" pitchFamily="34" charset="0"/>
                <a:ea typeface="Calibri" panose="020F0502020204030204" pitchFamily="34" charset="0"/>
                <a:cs typeface="Calibri" panose="020F0502020204030204" pitchFamily="34" charset="0"/>
              </a:rPr>
              <a:t> (2025).</a:t>
            </a:r>
            <a:br>
              <a:rPr lang="en-US" dirty="0">
                <a:latin typeface="Calibri" panose="020F0502020204030204" pitchFamily="34" charset="0"/>
                <a:ea typeface="Calibri" panose="020F0502020204030204" pitchFamily="34" charset="0"/>
                <a:cs typeface="Calibri" panose="020F0502020204030204" pitchFamily="34" charset="0"/>
              </a:rPr>
            </a:br>
            <a:r>
              <a:rPr lang="en-US" sz="1800" i="1" dirty="0">
                <a:latin typeface="Calibri" panose="020F0502020204030204" pitchFamily="34" charset="0"/>
                <a:ea typeface="Calibri" panose="020F0502020204030204" pitchFamily="34" charset="0"/>
                <a:cs typeface="Calibri" panose="020F0502020204030204" pitchFamily="34" charset="0"/>
              </a:rPr>
              <a:t>A Computational Intelligence GNN–LSTM Framework for Spatiotemporal Prediction of Traffic Accident Severity in Smart Cities Using SHAP XAI.</a:t>
            </a:r>
          </a:p>
          <a:p>
            <a:pPr marL="285750" indent="-285750">
              <a:buFont typeface="Arial" panose="020B0604020202020204" pitchFamily="34" charset="0"/>
              <a:buChar char="•"/>
            </a:pPr>
            <a:endParaRPr lang="en-US" sz="1800" i="1"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Minal Y. Barhate et al. (2025).</a:t>
            </a:r>
            <a:br>
              <a:rPr lang="en-US" dirty="0">
                <a:latin typeface="Calibri" panose="020F0502020204030204" pitchFamily="34" charset="0"/>
                <a:ea typeface="Calibri" panose="020F0502020204030204" pitchFamily="34" charset="0"/>
                <a:cs typeface="Calibri" panose="020F0502020204030204" pitchFamily="34" charset="0"/>
              </a:rPr>
            </a:br>
            <a:r>
              <a:rPr lang="en-US" sz="1800" i="1" dirty="0">
                <a:latin typeface="Calibri" panose="020F0502020204030204" pitchFamily="34" charset="0"/>
                <a:ea typeface="Calibri" panose="020F0502020204030204" pitchFamily="34" charset="0"/>
                <a:cs typeface="Calibri" panose="020F0502020204030204" pitchFamily="34" charset="0"/>
              </a:rPr>
              <a:t>IoT-Enabled Vehicle Accident Detection System Using ESP32 with GPS Tracking and Dual-Channel Emergency Alerts via GSM-SMS and Telegram Bot.</a:t>
            </a:r>
            <a:endParaRPr lang="en-US" sz="1800" dirty="0"/>
          </a:p>
        </p:txBody>
      </p:sp>
    </p:spTree>
    <p:extLst>
      <p:ext uri="{BB962C8B-B14F-4D97-AF65-F5344CB8AC3E}">
        <p14:creationId xmlns:p14="http://schemas.microsoft.com/office/powerpoint/2010/main" val="308020646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897C20-7C76-CDA9-1A09-FC7038AF0FA8}"/>
              </a:ext>
            </a:extLst>
          </p:cNvPr>
          <p:cNvSpPr txBox="1"/>
          <p:nvPr/>
        </p:nvSpPr>
        <p:spPr>
          <a:xfrm>
            <a:off x="4247002" y="2668250"/>
            <a:ext cx="6136395" cy="1446550"/>
          </a:xfrm>
          <a:prstGeom prst="rect">
            <a:avLst/>
          </a:prstGeom>
          <a:noFill/>
        </p:spPr>
        <p:txBody>
          <a:bodyPr wrap="square" rtlCol="0">
            <a:spAutoFit/>
          </a:bodyPr>
          <a:lstStyle/>
          <a:p>
            <a:r>
              <a:rPr lang="en-US" sz="8800" b="1" dirty="0">
                <a:latin typeface="Calibri" panose="020F0502020204030204" pitchFamily="34" charset="0"/>
                <a:ea typeface="Calibri" panose="020F0502020204030204" pitchFamily="34" charset="0"/>
                <a:cs typeface="Calibri" panose="020F0502020204030204" pitchFamily="34" charset="0"/>
              </a:rPr>
              <a:t>Thank You</a:t>
            </a:r>
          </a:p>
        </p:txBody>
      </p:sp>
    </p:spTree>
    <p:extLst>
      <p:ext uri="{BB962C8B-B14F-4D97-AF65-F5344CB8AC3E}">
        <p14:creationId xmlns:p14="http://schemas.microsoft.com/office/powerpoint/2010/main" val="1856584526"/>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943</TotalTime>
  <Words>3200</Words>
  <Application>Microsoft Office PowerPoint</Application>
  <PresentationFormat>Custom</PresentationFormat>
  <Paragraphs>329</Paragraphs>
  <Slides>45</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45</vt:i4>
      </vt:variant>
    </vt:vector>
  </HeadingPairs>
  <TitlesOfParts>
    <vt:vector size="50" baseType="lpstr">
      <vt:lpstr>Calibri</vt:lpstr>
      <vt:lpstr>Arial</vt:lpstr>
      <vt:lpstr>Overlock</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Manjunath Beesabathuni</dc:creator>
  <cp:lastModifiedBy>Manjunath Beesabathuni</cp:lastModifiedBy>
  <cp:revision>13</cp:revision>
  <dcterms:created xsi:type="dcterms:W3CDTF">2025-08-23T14:27:59Z</dcterms:created>
  <dcterms:modified xsi:type="dcterms:W3CDTF">2026-04-15T05:17:05Z</dcterms:modified>
</cp:coreProperties>
</file>